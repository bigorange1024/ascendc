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</p:sldMasterIdLst>
  <p:notesMasterIdLst>
    <p:notesMasterId r:id="rId12"/>
  </p:notesMasterIdLst>
  <p:handoutMasterIdLst>
    <p:handoutMasterId r:id="rId13"/>
  </p:handoutMasterIdLst>
  <p:sldIdLst>
    <p:sldId id="256" r:id="rId4"/>
    <p:sldId id="751" r:id="rId5"/>
    <p:sldId id="750" r:id="rId6"/>
    <p:sldId id="753" r:id="rId7"/>
    <p:sldId id="749" r:id="rId8"/>
    <p:sldId id="748" r:id="rId9"/>
    <p:sldId id="752" r:id="rId10"/>
    <p:sldId id="665" r:id="rId11"/>
  </p:sldIdLst>
  <p:sldSz cx="9144000" cy="6858000" type="screen4x3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00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孟 依烁" initials="孟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B00000"/>
    <a:srgbClr val="0000FF"/>
    <a:srgbClr val="3333FF"/>
    <a:srgbClr val="B41615"/>
    <a:srgbClr val="CC6600"/>
    <a:srgbClr val="E4E5DF"/>
    <a:srgbClr val="B6B3A6"/>
    <a:srgbClr val="DFDE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53" autoAdjust="0"/>
    <p:restoredTop sz="86489" autoAdjust="0"/>
  </p:normalViewPr>
  <p:slideViewPr>
    <p:cSldViewPr snapToGrid="0" showGuides="1">
      <p:cViewPr varScale="1">
        <p:scale>
          <a:sx n="97" d="100"/>
          <a:sy n="97" d="100"/>
        </p:scale>
        <p:origin x="1384" y="60"/>
      </p:cViewPr>
      <p:guideLst>
        <p:guide orient="horz" pos="2151"/>
        <p:guide pos="30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160"/>
    </p:cViewPr>
  </p:sorter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F22A32-733D-4B54-88F2-D48777A9FE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117D61-315B-4A77-9ADA-F47D335C2ED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15449-B2E1-4AF4-96A2-2F6B8452A0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20AA0B-54F2-4BFB-8C08-38FB5E4AD3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55" y="209794"/>
            <a:ext cx="3288870" cy="88094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84" t="6495" r="23327" b="24978"/>
          <a:stretch>
            <a:fillRect/>
          </a:stretch>
        </p:blipFill>
        <p:spPr>
          <a:xfrm>
            <a:off x="5840283" y="3933700"/>
            <a:ext cx="3167743" cy="278298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84" t="6495" r="23327" b="24978"/>
          <a:stretch>
            <a:fillRect/>
          </a:stretch>
        </p:blipFill>
        <p:spPr>
          <a:xfrm>
            <a:off x="5840283" y="3933700"/>
            <a:ext cx="3167743" cy="278298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647" y="203344"/>
            <a:ext cx="2424348" cy="649379"/>
          </a:xfrm>
          <a:prstGeom prst="rect">
            <a:avLst/>
          </a:prstGeom>
        </p:spPr>
      </p:pic>
      <p:sp>
        <p:nvSpPr>
          <p:cNvPr id="6" name="Rectangle 3"/>
          <p:cNvSpPr/>
          <p:nvPr userDrawn="1"/>
        </p:nvSpPr>
        <p:spPr bwMode="auto">
          <a:xfrm>
            <a:off x="311150" y="413645"/>
            <a:ext cx="6019800" cy="178784"/>
          </a:xfrm>
          <a:prstGeom prst="rect">
            <a:avLst/>
          </a:prstGeom>
          <a:gradFill rotWithShape="0">
            <a:gsLst>
              <a:gs pos="0">
                <a:srgbClr val="D90000">
                  <a:alpha val="92000"/>
                </a:srgbClr>
              </a:gs>
              <a:gs pos="12000">
                <a:srgbClr val="C20000">
                  <a:alpha val="91640"/>
                </a:srgbClr>
              </a:gs>
              <a:gs pos="31000">
                <a:srgbClr val="B60000">
                  <a:alpha val="91070"/>
                </a:srgbClr>
              </a:gs>
              <a:gs pos="48000">
                <a:srgbClr val="A80000">
                  <a:alpha val="90560"/>
                </a:srgbClr>
              </a:gs>
              <a:gs pos="65999">
                <a:srgbClr val="B60000">
                  <a:alpha val="90020"/>
                </a:srgbClr>
              </a:gs>
              <a:gs pos="87000">
                <a:srgbClr val="C00000">
                  <a:alpha val="89390"/>
                </a:srgbClr>
              </a:gs>
              <a:gs pos="96999">
                <a:srgbClr val="D30000">
                  <a:alpha val="89090"/>
                </a:srgbClr>
              </a:gs>
              <a:gs pos="100000">
                <a:srgbClr val="D30000">
                  <a:alpha val="89000"/>
                </a:srgbClr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>
            <a:lvl1pPr algn="ctr"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1pPr>
            <a:lvl2pPr marL="742950" indent="-285750" algn="ctr"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2pPr>
            <a:lvl3pPr marL="1143000" indent="-228600" algn="ctr"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3pPr>
            <a:lvl4pPr marL="1600200" indent="-228600" algn="ctr"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4pPr>
            <a:lvl5pPr marL="2057400" indent="-228600" algn="ctr"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7807960" y="6248400"/>
            <a:ext cx="907415" cy="384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A0DB2DC-4C9A-4742-B13C-FB6460FD3503}" type="slidenum">
              <a:rPr lang="zh-CN" altLang="en-US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55" y="209794"/>
            <a:ext cx="2424348" cy="64937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41" t="6495" r="2080" b="-2127"/>
          <a:stretch>
            <a:fillRect/>
          </a:stretch>
        </p:blipFill>
        <p:spPr>
          <a:xfrm>
            <a:off x="308081" y="2529902"/>
            <a:ext cx="3000776" cy="3883775"/>
          </a:xfrm>
          <a:prstGeom prst="rect">
            <a:avLst/>
          </a:prstGeom>
        </p:spPr>
      </p:pic>
      <p:sp>
        <p:nvSpPr>
          <p:cNvPr id="6" name="Rectangle 3"/>
          <p:cNvSpPr/>
          <p:nvPr userDrawn="1"/>
        </p:nvSpPr>
        <p:spPr bwMode="auto">
          <a:xfrm>
            <a:off x="581608" y="1778805"/>
            <a:ext cx="8111632" cy="62874"/>
          </a:xfrm>
          <a:prstGeom prst="rect">
            <a:avLst/>
          </a:prstGeom>
          <a:gradFill rotWithShape="0">
            <a:gsLst>
              <a:gs pos="0">
                <a:srgbClr val="D90000">
                  <a:alpha val="92000"/>
                </a:srgbClr>
              </a:gs>
              <a:gs pos="12000">
                <a:srgbClr val="C20000">
                  <a:alpha val="91640"/>
                </a:srgbClr>
              </a:gs>
              <a:gs pos="31000">
                <a:srgbClr val="B60000">
                  <a:alpha val="91070"/>
                </a:srgbClr>
              </a:gs>
              <a:gs pos="48000">
                <a:srgbClr val="A80000">
                  <a:alpha val="90560"/>
                </a:srgbClr>
              </a:gs>
              <a:gs pos="65999">
                <a:srgbClr val="B60000">
                  <a:alpha val="90020"/>
                </a:srgbClr>
              </a:gs>
              <a:gs pos="87000">
                <a:srgbClr val="C00000">
                  <a:alpha val="89390"/>
                </a:srgbClr>
              </a:gs>
              <a:gs pos="96999">
                <a:srgbClr val="D30000">
                  <a:alpha val="89090"/>
                </a:srgbClr>
              </a:gs>
              <a:gs pos="100000">
                <a:srgbClr val="D30000">
                  <a:alpha val="89000"/>
                </a:srgbClr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>
            <a:lvl1pPr algn="ctr"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1pPr>
            <a:lvl2pPr marL="742950" indent="-285750" algn="ctr"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2pPr>
            <a:lvl3pPr marL="1143000" indent="-228600" algn="ctr"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3pPr>
            <a:lvl4pPr marL="1600200" indent="-228600" algn="ctr"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4pPr>
            <a:lvl5pPr marL="2057400" indent="-228600" algn="ctr"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55" y="209794"/>
            <a:ext cx="2424348" cy="64937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2" t="6495" r="26993" b="-2127"/>
          <a:stretch>
            <a:fillRect/>
          </a:stretch>
        </p:blipFill>
        <p:spPr>
          <a:xfrm>
            <a:off x="5164428" y="1371649"/>
            <a:ext cx="3825025" cy="4951875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7871259" y="148534"/>
            <a:ext cx="570610" cy="771897"/>
          </a:xfrm>
          <a:prstGeom prst="rect">
            <a:avLst/>
          </a:prstGeom>
          <a:gradFill flip="none" rotWithShape="1">
            <a:gsLst>
              <a:gs pos="87000">
                <a:srgbClr val="C40000">
                  <a:lumMod val="98000"/>
                </a:srgbClr>
              </a:gs>
              <a:gs pos="31000">
                <a:srgbClr val="C00000">
                  <a:lumMod val="95000"/>
                </a:srgbClr>
              </a:gs>
              <a:gs pos="0">
                <a:srgbClr val="C00000">
                  <a:lumMod val="92000"/>
                  <a:lumOff val="8000"/>
                  <a:alpha val="89000"/>
                </a:srgbClr>
              </a:gs>
              <a:gs pos="12000">
                <a:srgbClr val="C80000">
                  <a:lumMod val="97000"/>
                </a:srgbClr>
              </a:gs>
              <a:gs pos="48000">
                <a:srgbClr val="C00000">
                  <a:lumMod val="88000"/>
                </a:srgbClr>
              </a:gs>
              <a:gs pos="66000">
                <a:srgbClr val="C00000">
                  <a:lumMod val="95000"/>
                </a:srgbClr>
              </a:gs>
              <a:gs pos="97000">
                <a:srgbClr val="C00000">
                  <a:alpha val="92000"/>
                  <a:lumMod val="94000"/>
                  <a:lumOff val="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55" y="209794"/>
            <a:ext cx="2424348" cy="64937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84" t="6495" r="23327" b="24978"/>
          <a:stretch>
            <a:fillRect/>
          </a:stretch>
        </p:blipFill>
        <p:spPr>
          <a:xfrm>
            <a:off x="5840283" y="3933700"/>
            <a:ext cx="3167743" cy="2782983"/>
          </a:xfrm>
          <a:prstGeom prst="rect">
            <a:avLst/>
          </a:prstGeom>
        </p:spPr>
      </p:pic>
      <p:sp>
        <p:nvSpPr>
          <p:cNvPr id="6" name="五边形 1"/>
          <p:cNvSpPr/>
          <p:nvPr userDrawn="1"/>
        </p:nvSpPr>
        <p:spPr>
          <a:xfrm rot="5400000">
            <a:off x="7795160" y="204299"/>
            <a:ext cx="732900" cy="576848"/>
          </a:xfrm>
          <a:custGeom>
            <a:avLst/>
            <a:gdLst>
              <a:gd name="connsiteX0" fmla="*/ 0 w 910595"/>
              <a:gd name="connsiteY0" fmla="*/ 0 h 620485"/>
              <a:gd name="connsiteX1" fmla="*/ 706486 w 910595"/>
              <a:gd name="connsiteY1" fmla="*/ 0 h 620485"/>
              <a:gd name="connsiteX2" fmla="*/ 910595 w 910595"/>
              <a:gd name="connsiteY2" fmla="*/ 310243 h 620485"/>
              <a:gd name="connsiteX3" fmla="*/ 706486 w 910595"/>
              <a:gd name="connsiteY3" fmla="*/ 620485 h 620485"/>
              <a:gd name="connsiteX4" fmla="*/ 0 w 910595"/>
              <a:gd name="connsiteY4" fmla="*/ 620485 h 620485"/>
              <a:gd name="connsiteX5" fmla="*/ 0 w 910595"/>
              <a:gd name="connsiteY5" fmla="*/ 0 h 620485"/>
              <a:gd name="connsiteX0-1" fmla="*/ 0 w 706486"/>
              <a:gd name="connsiteY0-2" fmla="*/ 0 h 620485"/>
              <a:gd name="connsiteX1-3" fmla="*/ 706486 w 706486"/>
              <a:gd name="connsiteY1-4" fmla="*/ 0 h 620485"/>
              <a:gd name="connsiteX2-5" fmla="*/ 535038 w 706486"/>
              <a:gd name="connsiteY2-6" fmla="*/ 302079 h 620485"/>
              <a:gd name="connsiteX3-7" fmla="*/ 706486 w 706486"/>
              <a:gd name="connsiteY3-8" fmla="*/ 620485 h 620485"/>
              <a:gd name="connsiteX4-9" fmla="*/ 0 w 706486"/>
              <a:gd name="connsiteY4-10" fmla="*/ 620485 h 620485"/>
              <a:gd name="connsiteX5-11" fmla="*/ 0 w 706486"/>
              <a:gd name="connsiteY5-12" fmla="*/ 0 h 62048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706486" h="620485">
                <a:moveTo>
                  <a:pt x="0" y="0"/>
                </a:moveTo>
                <a:lnTo>
                  <a:pt x="706486" y="0"/>
                </a:lnTo>
                <a:lnTo>
                  <a:pt x="535038" y="302079"/>
                </a:lnTo>
                <a:lnTo>
                  <a:pt x="706486" y="620485"/>
                </a:lnTo>
                <a:lnTo>
                  <a:pt x="0" y="62048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7000">
                <a:srgbClr val="C40000">
                  <a:lumMod val="98000"/>
                </a:srgbClr>
              </a:gs>
              <a:gs pos="31000">
                <a:srgbClr val="C00000">
                  <a:lumMod val="95000"/>
                </a:srgbClr>
              </a:gs>
              <a:gs pos="0">
                <a:srgbClr val="C00000">
                  <a:lumMod val="92000"/>
                  <a:lumOff val="8000"/>
                  <a:alpha val="89000"/>
                </a:srgbClr>
              </a:gs>
              <a:gs pos="12000">
                <a:srgbClr val="C80000">
                  <a:lumMod val="97000"/>
                </a:srgbClr>
              </a:gs>
              <a:gs pos="48000">
                <a:srgbClr val="C00000">
                  <a:lumMod val="88000"/>
                </a:srgbClr>
              </a:gs>
              <a:gs pos="66000">
                <a:srgbClr val="C00000">
                  <a:lumMod val="95000"/>
                </a:srgbClr>
              </a:gs>
              <a:gs pos="97000">
                <a:srgbClr val="C00000">
                  <a:alpha val="92000"/>
                  <a:lumMod val="94000"/>
                  <a:lumOff val="6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293914" y="1763485"/>
            <a:ext cx="8683202" cy="1657351"/>
          </a:xfrm>
          <a:prstGeom prst="rect">
            <a:avLst/>
          </a:prstGeom>
          <a:gradFill flip="none" rotWithShape="1">
            <a:gsLst>
              <a:gs pos="11500">
                <a:srgbClr val="C00000">
                  <a:lumMod val="97000"/>
                </a:srgbClr>
              </a:gs>
              <a:gs pos="0">
                <a:srgbClr val="C00000">
                  <a:lumMod val="92000"/>
                  <a:lumOff val="8000"/>
                  <a:alpha val="89000"/>
                </a:srgbClr>
              </a:gs>
              <a:gs pos="23000">
                <a:srgbClr val="C00000">
                  <a:lumMod val="91000"/>
                </a:srgbClr>
              </a:gs>
              <a:gs pos="81000">
                <a:srgbClr val="C00000">
                  <a:lumMod val="97000"/>
                </a:srgbClr>
              </a:gs>
              <a:gs pos="97000">
                <a:srgbClr val="C00000">
                  <a:alpha val="92000"/>
                  <a:lumMod val="94000"/>
                  <a:lumOff val="6000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55" y="209794"/>
            <a:ext cx="3288870" cy="88094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84" t="6495" r="23327" b="24978"/>
          <a:stretch>
            <a:fillRect/>
          </a:stretch>
        </p:blipFill>
        <p:spPr>
          <a:xfrm>
            <a:off x="5840283" y="3933700"/>
            <a:ext cx="3167743" cy="2782983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7944485" y="6210935"/>
            <a:ext cx="683895" cy="384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A0DB2DC-4C9A-4742-B13C-FB6460FD3503}" type="slidenum">
              <a:rPr lang="zh-CN" altLang="en-US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84" t="6495" r="23327" b="24978"/>
          <a:stretch>
            <a:fillRect/>
          </a:stretch>
        </p:blipFill>
        <p:spPr>
          <a:xfrm>
            <a:off x="5840283" y="3933700"/>
            <a:ext cx="3167743" cy="278298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647" y="203344"/>
            <a:ext cx="2424348" cy="649379"/>
          </a:xfrm>
          <a:prstGeom prst="rect">
            <a:avLst/>
          </a:prstGeom>
        </p:spPr>
      </p:pic>
      <p:sp>
        <p:nvSpPr>
          <p:cNvPr id="6" name="Rectangle 3"/>
          <p:cNvSpPr/>
          <p:nvPr userDrawn="1"/>
        </p:nvSpPr>
        <p:spPr bwMode="auto">
          <a:xfrm>
            <a:off x="311150" y="413645"/>
            <a:ext cx="6019800" cy="178784"/>
          </a:xfrm>
          <a:prstGeom prst="rect">
            <a:avLst/>
          </a:prstGeom>
          <a:gradFill rotWithShape="0">
            <a:gsLst>
              <a:gs pos="0">
                <a:srgbClr val="D90000">
                  <a:alpha val="92000"/>
                </a:srgbClr>
              </a:gs>
              <a:gs pos="12000">
                <a:srgbClr val="C20000">
                  <a:alpha val="91640"/>
                </a:srgbClr>
              </a:gs>
              <a:gs pos="31000">
                <a:srgbClr val="B60000">
                  <a:alpha val="91070"/>
                </a:srgbClr>
              </a:gs>
              <a:gs pos="48000">
                <a:srgbClr val="A80000">
                  <a:alpha val="90560"/>
                </a:srgbClr>
              </a:gs>
              <a:gs pos="65999">
                <a:srgbClr val="B60000">
                  <a:alpha val="90020"/>
                </a:srgbClr>
              </a:gs>
              <a:gs pos="87000">
                <a:srgbClr val="C00000">
                  <a:alpha val="89390"/>
                </a:srgbClr>
              </a:gs>
              <a:gs pos="96999">
                <a:srgbClr val="D30000">
                  <a:alpha val="89090"/>
                </a:srgbClr>
              </a:gs>
              <a:gs pos="100000">
                <a:srgbClr val="D30000">
                  <a:alpha val="89000"/>
                </a:srgbClr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>
            <a:lvl1pPr algn="ctr"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1pPr>
            <a:lvl2pPr marL="742950" indent="-285750" algn="ctr"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2pPr>
            <a:lvl3pPr marL="1143000" indent="-228600" algn="ctr"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3pPr>
            <a:lvl4pPr marL="1600200" indent="-228600" algn="ctr"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4pPr>
            <a:lvl5pPr marL="2057400" indent="-228600" algn="ctr"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55" y="209794"/>
            <a:ext cx="2424348" cy="64937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41" t="6495" r="2080" b="-2127"/>
          <a:stretch>
            <a:fillRect/>
          </a:stretch>
        </p:blipFill>
        <p:spPr>
          <a:xfrm>
            <a:off x="308081" y="2529902"/>
            <a:ext cx="3000776" cy="3883775"/>
          </a:xfrm>
          <a:prstGeom prst="rect">
            <a:avLst/>
          </a:prstGeom>
        </p:spPr>
      </p:pic>
      <p:sp>
        <p:nvSpPr>
          <p:cNvPr id="6" name="Rectangle 3"/>
          <p:cNvSpPr/>
          <p:nvPr userDrawn="1"/>
        </p:nvSpPr>
        <p:spPr bwMode="auto">
          <a:xfrm>
            <a:off x="581608" y="1778805"/>
            <a:ext cx="8111632" cy="62874"/>
          </a:xfrm>
          <a:prstGeom prst="rect">
            <a:avLst/>
          </a:prstGeom>
          <a:gradFill rotWithShape="0">
            <a:gsLst>
              <a:gs pos="0">
                <a:srgbClr val="D90000">
                  <a:alpha val="92000"/>
                </a:srgbClr>
              </a:gs>
              <a:gs pos="12000">
                <a:srgbClr val="C20000">
                  <a:alpha val="91640"/>
                </a:srgbClr>
              </a:gs>
              <a:gs pos="31000">
                <a:srgbClr val="B60000">
                  <a:alpha val="91070"/>
                </a:srgbClr>
              </a:gs>
              <a:gs pos="48000">
                <a:srgbClr val="A80000">
                  <a:alpha val="90560"/>
                </a:srgbClr>
              </a:gs>
              <a:gs pos="65999">
                <a:srgbClr val="B60000">
                  <a:alpha val="90020"/>
                </a:srgbClr>
              </a:gs>
              <a:gs pos="87000">
                <a:srgbClr val="C00000">
                  <a:alpha val="89390"/>
                </a:srgbClr>
              </a:gs>
              <a:gs pos="96999">
                <a:srgbClr val="D30000">
                  <a:alpha val="89090"/>
                </a:srgbClr>
              </a:gs>
              <a:gs pos="100000">
                <a:srgbClr val="D30000">
                  <a:alpha val="89000"/>
                </a:srgbClr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>
            <a:lvl1pPr algn="ctr"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1pPr>
            <a:lvl2pPr marL="742950" indent="-285750" algn="ctr"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2pPr>
            <a:lvl3pPr marL="1143000" indent="-228600" algn="ctr"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3pPr>
            <a:lvl4pPr marL="1600200" indent="-228600" algn="ctr"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4pPr>
            <a:lvl5pPr marL="2057400" indent="-228600" algn="ctr"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39760" y="6243320"/>
            <a:ext cx="316865" cy="3848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fld id="{9A0DB2DC-4C9A-4742-B13C-FB6460FD3503}" type="slidenum">
              <a:rPr lang="zh-CN" altLang="en-US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55" y="209794"/>
            <a:ext cx="2424348" cy="64937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84" t="6495" r="23327" b="24978"/>
          <a:stretch>
            <a:fillRect/>
          </a:stretch>
        </p:blipFill>
        <p:spPr>
          <a:xfrm>
            <a:off x="5840283" y="3933700"/>
            <a:ext cx="3167743" cy="2782983"/>
          </a:xfrm>
          <a:prstGeom prst="rect">
            <a:avLst/>
          </a:prstGeom>
        </p:spPr>
      </p:pic>
      <p:sp>
        <p:nvSpPr>
          <p:cNvPr id="6" name="五边形 1"/>
          <p:cNvSpPr/>
          <p:nvPr userDrawn="1"/>
        </p:nvSpPr>
        <p:spPr>
          <a:xfrm rot="5400000">
            <a:off x="7795160" y="204299"/>
            <a:ext cx="732900" cy="576848"/>
          </a:xfrm>
          <a:custGeom>
            <a:avLst/>
            <a:gdLst>
              <a:gd name="connsiteX0" fmla="*/ 0 w 910595"/>
              <a:gd name="connsiteY0" fmla="*/ 0 h 620485"/>
              <a:gd name="connsiteX1" fmla="*/ 706486 w 910595"/>
              <a:gd name="connsiteY1" fmla="*/ 0 h 620485"/>
              <a:gd name="connsiteX2" fmla="*/ 910595 w 910595"/>
              <a:gd name="connsiteY2" fmla="*/ 310243 h 620485"/>
              <a:gd name="connsiteX3" fmla="*/ 706486 w 910595"/>
              <a:gd name="connsiteY3" fmla="*/ 620485 h 620485"/>
              <a:gd name="connsiteX4" fmla="*/ 0 w 910595"/>
              <a:gd name="connsiteY4" fmla="*/ 620485 h 620485"/>
              <a:gd name="connsiteX5" fmla="*/ 0 w 910595"/>
              <a:gd name="connsiteY5" fmla="*/ 0 h 620485"/>
              <a:gd name="connsiteX0-1" fmla="*/ 0 w 706486"/>
              <a:gd name="connsiteY0-2" fmla="*/ 0 h 620485"/>
              <a:gd name="connsiteX1-3" fmla="*/ 706486 w 706486"/>
              <a:gd name="connsiteY1-4" fmla="*/ 0 h 620485"/>
              <a:gd name="connsiteX2-5" fmla="*/ 535038 w 706486"/>
              <a:gd name="connsiteY2-6" fmla="*/ 302079 h 620485"/>
              <a:gd name="connsiteX3-7" fmla="*/ 706486 w 706486"/>
              <a:gd name="connsiteY3-8" fmla="*/ 620485 h 620485"/>
              <a:gd name="connsiteX4-9" fmla="*/ 0 w 706486"/>
              <a:gd name="connsiteY4-10" fmla="*/ 620485 h 620485"/>
              <a:gd name="connsiteX5-11" fmla="*/ 0 w 706486"/>
              <a:gd name="connsiteY5-12" fmla="*/ 0 h 62048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706486" h="620485">
                <a:moveTo>
                  <a:pt x="0" y="0"/>
                </a:moveTo>
                <a:lnTo>
                  <a:pt x="706486" y="0"/>
                </a:lnTo>
                <a:lnTo>
                  <a:pt x="535038" y="302079"/>
                </a:lnTo>
                <a:lnTo>
                  <a:pt x="706486" y="620485"/>
                </a:lnTo>
                <a:lnTo>
                  <a:pt x="0" y="62048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7000">
                <a:srgbClr val="C40000">
                  <a:lumMod val="98000"/>
                </a:srgbClr>
              </a:gs>
              <a:gs pos="31000">
                <a:srgbClr val="C00000">
                  <a:lumMod val="95000"/>
                </a:srgbClr>
              </a:gs>
              <a:gs pos="0">
                <a:srgbClr val="C00000">
                  <a:lumMod val="92000"/>
                  <a:lumOff val="8000"/>
                  <a:alpha val="89000"/>
                </a:srgbClr>
              </a:gs>
              <a:gs pos="12000">
                <a:srgbClr val="C80000">
                  <a:lumMod val="97000"/>
                </a:srgbClr>
              </a:gs>
              <a:gs pos="48000">
                <a:srgbClr val="C00000">
                  <a:lumMod val="88000"/>
                </a:srgbClr>
              </a:gs>
              <a:gs pos="66000">
                <a:srgbClr val="C00000">
                  <a:lumMod val="95000"/>
                </a:srgbClr>
              </a:gs>
              <a:gs pos="97000">
                <a:srgbClr val="C00000">
                  <a:alpha val="92000"/>
                  <a:lumMod val="94000"/>
                  <a:lumOff val="6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6556375" y="351155"/>
            <a:ext cx="1316990" cy="384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背景介绍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133080" y="6332220"/>
            <a:ext cx="316865" cy="3848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fld id="{9A0DB2DC-4C9A-4742-B13C-FB6460FD3503}" type="slidenum">
              <a:rPr lang="zh-CN" altLang="en-US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55" y="209794"/>
            <a:ext cx="2424348" cy="64937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84" t="6495" r="23327" b="24978"/>
          <a:stretch>
            <a:fillRect/>
          </a:stretch>
        </p:blipFill>
        <p:spPr>
          <a:xfrm>
            <a:off x="5840283" y="3933700"/>
            <a:ext cx="3167743" cy="2782983"/>
          </a:xfrm>
          <a:prstGeom prst="rect">
            <a:avLst/>
          </a:prstGeom>
        </p:spPr>
      </p:pic>
      <p:sp>
        <p:nvSpPr>
          <p:cNvPr id="6" name="五边形 1"/>
          <p:cNvSpPr/>
          <p:nvPr userDrawn="1"/>
        </p:nvSpPr>
        <p:spPr>
          <a:xfrm rot="5400000">
            <a:off x="7795160" y="204299"/>
            <a:ext cx="732900" cy="576848"/>
          </a:xfrm>
          <a:custGeom>
            <a:avLst/>
            <a:gdLst>
              <a:gd name="connsiteX0" fmla="*/ 0 w 910595"/>
              <a:gd name="connsiteY0" fmla="*/ 0 h 620485"/>
              <a:gd name="connsiteX1" fmla="*/ 706486 w 910595"/>
              <a:gd name="connsiteY1" fmla="*/ 0 h 620485"/>
              <a:gd name="connsiteX2" fmla="*/ 910595 w 910595"/>
              <a:gd name="connsiteY2" fmla="*/ 310243 h 620485"/>
              <a:gd name="connsiteX3" fmla="*/ 706486 w 910595"/>
              <a:gd name="connsiteY3" fmla="*/ 620485 h 620485"/>
              <a:gd name="connsiteX4" fmla="*/ 0 w 910595"/>
              <a:gd name="connsiteY4" fmla="*/ 620485 h 620485"/>
              <a:gd name="connsiteX5" fmla="*/ 0 w 910595"/>
              <a:gd name="connsiteY5" fmla="*/ 0 h 620485"/>
              <a:gd name="connsiteX0-1" fmla="*/ 0 w 706486"/>
              <a:gd name="connsiteY0-2" fmla="*/ 0 h 620485"/>
              <a:gd name="connsiteX1-3" fmla="*/ 706486 w 706486"/>
              <a:gd name="connsiteY1-4" fmla="*/ 0 h 620485"/>
              <a:gd name="connsiteX2-5" fmla="*/ 535038 w 706486"/>
              <a:gd name="connsiteY2-6" fmla="*/ 302079 h 620485"/>
              <a:gd name="connsiteX3-7" fmla="*/ 706486 w 706486"/>
              <a:gd name="connsiteY3-8" fmla="*/ 620485 h 620485"/>
              <a:gd name="connsiteX4-9" fmla="*/ 0 w 706486"/>
              <a:gd name="connsiteY4-10" fmla="*/ 620485 h 620485"/>
              <a:gd name="connsiteX5-11" fmla="*/ 0 w 706486"/>
              <a:gd name="connsiteY5-12" fmla="*/ 0 h 62048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706486" h="620485">
                <a:moveTo>
                  <a:pt x="0" y="0"/>
                </a:moveTo>
                <a:lnTo>
                  <a:pt x="706486" y="0"/>
                </a:lnTo>
                <a:lnTo>
                  <a:pt x="535038" y="302079"/>
                </a:lnTo>
                <a:lnTo>
                  <a:pt x="706486" y="620485"/>
                </a:lnTo>
                <a:lnTo>
                  <a:pt x="0" y="62048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7000">
                <a:srgbClr val="C40000">
                  <a:lumMod val="98000"/>
                </a:srgbClr>
              </a:gs>
              <a:gs pos="31000">
                <a:srgbClr val="C00000">
                  <a:lumMod val="95000"/>
                </a:srgbClr>
              </a:gs>
              <a:gs pos="0">
                <a:srgbClr val="C00000">
                  <a:lumMod val="92000"/>
                  <a:lumOff val="8000"/>
                  <a:alpha val="89000"/>
                </a:srgbClr>
              </a:gs>
              <a:gs pos="12000">
                <a:srgbClr val="C80000">
                  <a:lumMod val="97000"/>
                </a:srgbClr>
              </a:gs>
              <a:gs pos="48000">
                <a:srgbClr val="C00000">
                  <a:lumMod val="88000"/>
                </a:srgbClr>
              </a:gs>
              <a:gs pos="66000">
                <a:srgbClr val="C00000">
                  <a:lumMod val="95000"/>
                </a:srgbClr>
              </a:gs>
              <a:gs pos="97000">
                <a:srgbClr val="C00000">
                  <a:alpha val="92000"/>
                  <a:lumMod val="94000"/>
                  <a:lumOff val="6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6556375" y="351155"/>
            <a:ext cx="1316990" cy="384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背景介绍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133080" y="6332220"/>
            <a:ext cx="316865" cy="3848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fld id="{9A0DB2DC-4C9A-4742-B13C-FB6460FD3503}" type="slidenum">
              <a:rPr lang="zh-CN" altLang="en-US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55" y="209794"/>
            <a:ext cx="2424348" cy="64937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2" t="6495" r="26993" b="-2127"/>
          <a:stretch>
            <a:fillRect/>
          </a:stretch>
        </p:blipFill>
        <p:spPr>
          <a:xfrm>
            <a:off x="5164428" y="1371649"/>
            <a:ext cx="3825025" cy="4951875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7871259" y="148534"/>
            <a:ext cx="570610" cy="771897"/>
          </a:xfrm>
          <a:prstGeom prst="rect">
            <a:avLst/>
          </a:prstGeom>
          <a:gradFill flip="none" rotWithShape="1">
            <a:gsLst>
              <a:gs pos="87000">
                <a:srgbClr val="C40000">
                  <a:lumMod val="98000"/>
                </a:srgbClr>
              </a:gs>
              <a:gs pos="31000">
                <a:srgbClr val="C00000">
                  <a:lumMod val="95000"/>
                </a:srgbClr>
              </a:gs>
              <a:gs pos="0">
                <a:srgbClr val="C00000">
                  <a:lumMod val="92000"/>
                  <a:lumOff val="8000"/>
                  <a:alpha val="89000"/>
                </a:srgbClr>
              </a:gs>
              <a:gs pos="12000">
                <a:srgbClr val="C80000">
                  <a:lumMod val="97000"/>
                </a:srgbClr>
              </a:gs>
              <a:gs pos="48000">
                <a:srgbClr val="C00000">
                  <a:lumMod val="88000"/>
                </a:srgbClr>
              </a:gs>
              <a:gs pos="66000">
                <a:srgbClr val="C00000">
                  <a:lumMod val="95000"/>
                </a:srgbClr>
              </a:gs>
              <a:gs pos="97000">
                <a:srgbClr val="C00000">
                  <a:alpha val="92000"/>
                  <a:lumMod val="94000"/>
                  <a:lumOff val="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55" y="209794"/>
            <a:ext cx="2424348" cy="64937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84" t="6495" r="23327" b="24978"/>
          <a:stretch>
            <a:fillRect/>
          </a:stretch>
        </p:blipFill>
        <p:spPr>
          <a:xfrm>
            <a:off x="5840283" y="3933700"/>
            <a:ext cx="3167743" cy="2782983"/>
          </a:xfrm>
          <a:prstGeom prst="rect">
            <a:avLst/>
          </a:prstGeom>
        </p:spPr>
      </p:pic>
      <p:sp>
        <p:nvSpPr>
          <p:cNvPr id="6" name="五边形 1"/>
          <p:cNvSpPr/>
          <p:nvPr userDrawn="1"/>
        </p:nvSpPr>
        <p:spPr>
          <a:xfrm rot="5400000">
            <a:off x="7795160" y="204299"/>
            <a:ext cx="732900" cy="576848"/>
          </a:xfrm>
          <a:custGeom>
            <a:avLst/>
            <a:gdLst>
              <a:gd name="connsiteX0" fmla="*/ 0 w 910595"/>
              <a:gd name="connsiteY0" fmla="*/ 0 h 620485"/>
              <a:gd name="connsiteX1" fmla="*/ 706486 w 910595"/>
              <a:gd name="connsiteY1" fmla="*/ 0 h 620485"/>
              <a:gd name="connsiteX2" fmla="*/ 910595 w 910595"/>
              <a:gd name="connsiteY2" fmla="*/ 310243 h 620485"/>
              <a:gd name="connsiteX3" fmla="*/ 706486 w 910595"/>
              <a:gd name="connsiteY3" fmla="*/ 620485 h 620485"/>
              <a:gd name="connsiteX4" fmla="*/ 0 w 910595"/>
              <a:gd name="connsiteY4" fmla="*/ 620485 h 620485"/>
              <a:gd name="connsiteX5" fmla="*/ 0 w 910595"/>
              <a:gd name="connsiteY5" fmla="*/ 0 h 620485"/>
              <a:gd name="connsiteX0-1" fmla="*/ 0 w 706486"/>
              <a:gd name="connsiteY0-2" fmla="*/ 0 h 620485"/>
              <a:gd name="connsiteX1-3" fmla="*/ 706486 w 706486"/>
              <a:gd name="connsiteY1-4" fmla="*/ 0 h 620485"/>
              <a:gd name="connsiteX2-5" fmla="*/ 535038 w 706486"/>
              <a:gd name="connsiteY2-6" fmla="*/ 302079 h 620485"/>
              <a:gd name="connsiteX3-7" fmla="*/ 706486 w 706486"/>
              <a:gd name="connsiteY3-8" fmla="*/ 620485 h 620485"/>
              <a:gd name="connsiteX4-9" fmla="*/ 0 w 706486"/>
              <a:gd name="connsiteY4-10" fmla="*/ 620485 h 620485"/>
              <a:gd name="connsiteX5-11" fmla="*/ 0 w 706486"/>
              <a:gd name="connsiteY5-12" fmla="*/ 0 h 62048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706486" h="620485">
                <a:moveTo>
                  <a:pt x="0" y="0"/>
                </a:moveTo>
                <a:lnTo>
                  <a:pt x="706486" y="0"/>
                </a:lnTo>
                <a:lnTo>
                  <a:pt x="535038" y="302079"/>
                </a:lnTo>
                <a:lnTo>
                  <a:pt x="706486" y="620485"/>
                </a:lnTo>
                <a:lnTo>
                  <a:pt x="0" y="62048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7000">
                <a:srgbClr val="C40000">
                  <a:lumMod val="98000"/>
                </a:srgbClr>
              </a:gs>
              <a:gs pos="31000">
                <a:srgbClr val="C00000">
                  <a:lumMod val="95000"/>
                </a:srgbClr>
              </a:gs>
              <a:gs pos="0">
                <a:srgbClr val="C00000">
                  <a:lumMod val="92000"/>
                  <a:lumOff val="8000"/>
                  <a:alpha val="89000"/>
                </a:srgbClr>
              </a:gs>
              <a:gs pos="12000">
                <a:srgbClr val="C80000">
                  <a:lumMod val="97000"/>
                </a:srgbClr>
              </a:gs>
              <a:gs pos="48000">
                <a:srgbClr val="C00000">
                  <a:lumMod val="88000"/>
                </a:srgbClr>
              </a:gs>
              <a:gs pos="66000">
                <a:srgbClr val="C00000">
                  <a:lumMod val="95000"/>
                </a:srgbClr>
              </a:gs>
              <a:gs pos="97000">
                <a:srgbClr val="C00000">
                  <a:alpha val="92000"/>
                  <a:lumMod val="94000"/>
                  <a:lumOff val="6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6556375" y="351155"/>
            <a:ext cx="1316990" cy="384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背景介绍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133080" y="6332220"/>
            <a:ext cx="316865" cy="3848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fld id="{9A0DB2DC-4C9A-4742-B13C-FB6460FD3503}" type="slidenum">
              <a:rPr lang="zh-CN" altLang="en-US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55" y="209794"/>
            <a:ext cx="2424348" cy="64937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84" t="6495" r="23327" b="24978"/>
          <a:stretch>
            <a:fillRect/>
          </a:stretch>
        </p:blipFill>
        <p:spPr>
          <a:xfrm>
            <a:off x="5840283" y="3933700"/>
            <a:ext cx="3167743" cy="2782983"/>
          </a:xfrm>
          <a:prstGeom prst="rect">
            <a:avLst/>
          </a:prstGeom>
        </p:spPr>
      </p:pic>
      <p:sp>
        <p:nvSpPr>
          <p:cNvPr id="6" name="五边形 1"/>
          <p:cNvSpPr/>
          <p:nvPr userDrawn="1"/>
        </p:nvSpPr>
        <p:spPr>
          <a:xfrm rot="5400000">
            <a:off x="7795160" y="204299"/>
            <a:ext cx="732900" cy="576848"/>
          </a:xfrm>
          <a:custGeom>
            <a:avLst/>
            <a:gdLst>
              <a:gd name="connsiteX0" fmla="*/ 0 w 910595"/>
              <a:gd name="connsiteY0" fmla="*/ 0 h 620485"/>
              <a:gd name="connsiteX1" fmla="*/ 706486 w 910595"/>
              <a:gd name="connsiteY1" fmla="*/ 0 h 620485"/>
              <a:gd name="connsiteX2" fmla="*/ 910595 w 910595"/>
              <a:gd name="connsiteY2" fmla="*/ 310243 h 620485"/>
              <a:gd name="connsiteX3" fmla="*/ 706486 w 910595"/>
              <a:gd name="connsiteY3" fmla="*/ 620485 h 620485"/>
              <a:gd name="connsiteX4" fmla="*/ 0 w 910595"/>
              <a:gd name="connsiteY4" fmla="*/ 620485 h 620485"/>
              <a:gd name="connsiteX5" fmla="*/ 0 w 910595"/>
              <a:gd name="connsiteY5" fmla="*/ 0 h 620485"/>
              <a:gd name="connsiteX0-1" fmla="*/ 0 w 706486"/>
              <a:gd name="connsiteY0-2" fmla="*/ 0 h 620485"/>
              <a:gd name="connsiteX1-3" fmla="*/ 706486 w 706486"/>
              <a:gd name="connsiteY1-4" fmla="*/ 0 h 620485"/>
              <a:gd name="connsiteX2-5" fmla="*/ 535038 w 706486"/>
              <a:gd name="connsiteY2-6" fmla="*/ 302079 h 620485"/>
              <a:gd name="connsiteX3-7" fmla="*/ 706486 w 706486"/>
              <a:gd name="connsiteY3-8" fmla="*/ 620485 h 620485"/>
              <a:gd name="connsiteX4-9" fmla="*/ 0 w 706486"/>
              <a:gd name="connsiteY4-10" fmla="*/ 620485 h 620485"/>
              <a:gd name="connsiteX5-11" fmla="*/ 0 w 706486"/>
              <a:gd name="connsiteY5-12" fmla="*/ 0 h 62048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706486" h="620485">
                <a:moveTo>
                  <a:pt x="0" y="0"/>
                </a:moveTo>
                <a:lnTo>
                  <a:pt x="706486" y="0"/>
                </a:lnTo>
                <a:lnTo>
                  <a:pt x="535038" y="302079"/>
                </a:lnTo>
                <a:lnTo>
                  <a:pt x="706486" y="620485"/>
                </a:lnTo>
                <a:lnTo>
                  <a:pt x="0" y="62048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7000">
                <a:srgbClr val="C40000">
                  <a:lumMod val="98000"/>
                </a:srgbClr>
              </a:gs>
              <a:gs pos="31000">
                <a:srgbClr val="C00000">
                  <a:lumMod val="95000"/>
                </a:srgbClr>
              </a:gs>
              <a:gs pos="0">
                <a:srgbClr val="C00000">
                  <a:lumMod val="92000"/>
                  <a:lumOff val="8000"/>
                  <a:alpha val="89000"/>
                </a:srgbClr>
              </a:gs>
              <a:gs pos="12000">
                <a:srgbClr val="C80000">
                  <a:lumMod val="97000"/>
                </a:srgbClr>
              </a:gs>
              <a:gs pos="48000">
                <a:srgbClr val="C00000">
                  <a:lumMod val="88000"/>
                </a:srgbClr>
              </a:gs>
              <a:gs pos="66000">
                <a:srgbClr val="C00000">
                  <a:lumMod val="95000"/>
                </a:srgbClr>
              </a:gs>
              <a:gs pos="97000">
                <a:srgbClr val="C00000">
                  <a:alpha val="92000"/>
                  <a:lumMod val="94000"/>
                  <a:lumOff val="6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5415280" y="351155"/>
            <a:ext cx="2458085" cy="384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光特性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PCB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测试板设计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133080" y="6332220"/>
            <a:ext cx="316865" cy="3848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fld id="{9A0DB2DC-4C9A-4742-B13C-FB6460FD3503}" type="slidenum">
              <a:rPr lang="zh-CN" altLang="en-US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55" y="209794"/>
            <a:ext cx="2424348" cy="64937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84" t="6495" r="23327" b="24978"/>
          <a:stretch>
            <a:fillRect/>
          </a:stretch>
        </p:blipFill>
        <p:spPr>
          <a:xfrm>
            <a:off x="5840283" y="3933700"/>
            <a:ext cx="3167743" cy="2782983"/>
          </a:xfrm>
          <a:prstGeom prst="rect">
            <a:avLst/>
          </a:prstGeom>
        </p:spPr>
      </p:pic>
      <p:sp>
        <p:nvSpPr>
          <p:cNvPr id="6" name="五边形 1"/>
          <p:cNvSpPr/>
          <p:nvPr userDrawn="1"/>
        </p:nvSpPr>
        <p:spPr>
          <a:xfrm rot="5400000">
            <a:off x="7795160" y="204299"/>
            <a:ext cx="732900" cy="576848"/>
          </a:xfrm>
          <a:custGeom>
            <a:avLst/>
            <a:gdLst>
              <a:gd name="connsiteX0" fmla="*/ 0 w 910595"/>
              <a:gd name="connsiteY0" fmla="*/ 0 h 620485"/>
              <a:gd name="connsiteX1" fmla="*/ 706486 w 910595"/>
              <a:gd name="connsiteY1" fmla="*/ 0 h 620485"/>
              <a:gd name="connsiteX2" fmla="*/ 910595 w 910595"/>
              <a:gd name="connsiteY2" fmla="*/ 310243 h 620485"/>
              <a:gd name="connsiteX3" fmla="*/ 706486 w 910595"/>
              <a:gd name="connsiteY3" fmla="*/ 620485 h 620485"/>
              <a:gd name="connsiteX4" fmla="*/ 0 w 910595"/>
              <a:gd name="connsiteY4" fmla="*/ 620485 h 620485"/>
              <a:gd name="connsiteX5" fmla="*/ 0 w 910595"/>
              <a:gd name="connsiteY5" fmla="*/ 0 h 620485"/>
              <a:gd name="connsiteX0-1" fmla="*/ 0 w 706486"/>
              <a:gd name="connsiteY0-2" fmla="*/ 0 h 620485"/>
              <a:gd name="connsiteX1-3" fmla="*/ 706486 w 706486"/>
              <a:gd name="connsiteY1-4" fmla="*/ 0 h 620485"/>
              <a:gd name="connsiteX2-5" fmla="*/ 535038 w 706486"/>
              <a:gd name="connsiteY2-6" fmla="*/ 302079 h 620485"/>
              <a:gd name="connsiteX3-7" fmla="*/ 706486 w 706486"/>
              <a:gd name="connsiteY3-8" fmla="*/ 620485 h 620485"/>
              <a:gd name="connsiteX4-9" fmla="*/ 0 w 706486"/>
              <a:gd name="connsiteY4-10" fmla="*/ 620485 h 620485"/>
              <a:gd name="connsiteX5-11" fmla="*/ 0 w 706486"/>
              <a:gd name="connsiteY5-12" fmla="*/ 0 h 62048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706486" h="620485">
                <a:moveTo>
                  <a:pt x="0" y="0"/>
                </a:moveTo>
                <a:lnTo>
                  <a:pt x="706486" y="0"/>
                </a:lnTo>
                <a:lnTo>
                  <a:pt x="535038" y="302079"/>
                </a:lnTo>
                <a:lnTo>
                  <a:pt x="706486" y="620485"/>
                </a:lnTo>
                <a:lnTo>
                  <a:pt x="0" y="62048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7000">
                <a:srgbClr val="C40000">
                  <a:lumMod val="98000"/>
                </a:srgbClr>
              </a:gs>
              <a:gs pos="31000">
                <a:srgbClr val="C00000">
                  <a:lumMod val="95000"/>
                </a:srgbClr>
              </a:gs>
              <a:gs pos="0">
                <a:srgbClr val="C00000">
                  <a:lumMod val="92000"/>
                  <a:lumOff val="8000"/>
                  <a:alpha val="89000"/>
                </a:srgbClr>
              </a:gs>
              <a:gs pos="12000">
                <a:srgbClr val="C80000">
                  <a:lumMod val="97000"/>
                </a:srgbClr>
              </a:gs>
              <a:gs pos="48000">
                <a:srgbClr val="C00000">
                  <a:lumMod val="88000"/>
                </a:srgbClr>
              </a:gs>
              <a:gs pos="66000">
                <a:srgbClr val="C00000">
                  <a:lumMod val="95000"/>
                </a:srgbClr>
              </a:gs>
              <a:gs pos="97000">
                <a:srgbClr val="C00000">
                  <a:alpha val="92000"/>
                  <a:lumMod val="94000"/>
                  <a:lumOff val="6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5232400" y="351155"/>
            <a:ext cx="2640965" cy="384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电特性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PCB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测试板设计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133080" y="6332220"/>
            <a:ext cx="316865" cy="3848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fld id="{9A0DB2DC-4C9A-4742-B13C-FB6460FD3503}" type="slidenum">
              <a:rPr lang="zh-CN" altLang="en-US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4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10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0714" y="1977623"/>
            <a:ext cx="8007985" cy="11068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sz="4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算子性能测量和</a:t>
            </a:r>
            <a:r>
              <a:rPr lang="en-US" altLang="zh-CN" sz="4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Cube</a:t>
            </a:r>
            <a:r>
              <a:rPr lang="zh-CN" altLang="en-US" sz="4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算子调研</a:t>
            </a:r>
            <a:endParaRPr lang="zh-CN" altLang="en-US" sz="4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782573" y="4351020"/>
          <a:ext cx="3578853" cy="1566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78853"/>
              </a:tblGrid>
              <a:tr h="4326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Arial" panose="020B0604020202020204" pitchFamily="34" charset="0"/>
                        </a:rPr>
                        <a:t>汇报：陈相印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91444" marR="91444" marT="0"/>
                </a:tc>
              </a:tr>
              <a:tr h="4326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Arial" panose="020B0604020202020204" pitchFamily="34" charset="0"/>
                        </a:rPr>
                        <a:t>项目</a:t>
                      </a: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Arial" panose="020B0604020202020204" pitchFamily="34" charset="0"/>
                        </a:rPr>
                        <a:t>PI</a:t>
                      </a: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Arial" panose="020B0604020202020204" pitchFamily="34" charset="0"/>
                        </a:rPr>
                        <a:t>：杨晨</a:t>
                      </a:r>
                      <a:endParaRPr lang="zh-CN" altLang="en-US" sz="2000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91444" marR="91444" marT="0"/>
                </a:tc>
              </a:tr>
              <a:tr h="3413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Arial" panose="020B0604020202020204" pitchFamily="34" charset="0"/>
                        </a:rPr>
                        <a:t>时间：</a:t>
                      </a:r>
                      <a:r>
                        <a:rPr lang="en-US" altLang="zh-CN" sz="2000" b="1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Arial" panose="020B0604020202020204" pitchFamily="34" charset="0"/>
                        </a:rPr>
                        <a:t>2025.10.17</a:t>
                      </a:r>
                      <a:endParaRPr lang="zh-CN" altLang="en-US" sz="2000" b="1" kern="12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91444" marR="91444" marT="0"/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000" b="1" kern="12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91444" marR="91444" marT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297"/>
    </mc:Choice>
    <mc:Fallback>
      <p:transition spd="slow" advTm="72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18160" y="785495"/>
            <a:ext cx="86620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算法一：笛卡尔积</a:t>
            </a:r>
            <a:endParaRPr lang="zh-CN" sz="28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518160" y="1631315"/>
                <a:ext cx="9243060" cy="286131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altLang="zh-CN"/>
                  <a:t> int32 </a:t>
                </a:r>
                <a:r>
                  <a:rPr lang="zh-CN" altLang="en-US"/>
                  <a:t>可以拆成</a:t>
                </a:r>
                <a:r>
                  <a:rPr lang="en-US" altLang="zh-CN"/>
                  <a:t> 4</a:t>
                </a:r>
                <a:r>
                  <a:rPr lang="zh-CN" altLang="en-US"/>
                  <a:t>个</a:t>
                </a:r>
                <a:r>
                  <a:rPr lang="en-US" altLang="zh-CN"/>
                  <a:t> int8,</a:t>
                </a:r>
                <a:r>
                  <a:rPr lang="zh-CN" altLang="en-US"/>
                  <a:t>分别代表</a:t>
                </a:r>
                <a:r>
                  <a:rPr lang="en-US" altLang="zh-CN"/>
                  <a:t>[6:0] [13:7] [20:14] [27:21]</a:t>
                </a:r>
                <a:endParaRPr lang="en-US" altLang="zh-CN"/>
              </a:p>
              <a:p>
                <a:r>
                  <a:rPr lang="en-US" altLang="zh-CN"/>
                  <a:t>Kyber </a:t>
                </a:r>
                <a:r>
                  <a:rPr lang="zh-CN" altLang="en-US"/>
                  <a:t>输入</a:t>
                </a:r>
                <a:r>
                  <a:rPr lang="en-US" altLang="zh-CN"/>
                  <a:t>&lt;3329</a:t>
                </a:r>
                <a:r>
                  <a:rPr lang="zh-CN" altLang="en-US"/>
                  <a:t>，因此可以简化为两个</a:t>
                </a:r>
                <a:r>
                  <a:rPr lang="en-US" altLang="zh-CN"/>
                  <a:t> int8, </a:t>
                </a:r>
                <a:r>
                  <a:rPr lang="zh-CN" altLang="en-US"/>
                  <a:t>代表</a:t>
                </a:r>
                <a:r>
                  <a:rPr lang="en-US" altLang="zh-CN">
                    <a:sym typeface="+mn-ea"/>
                  </a:rPr>
                  <a:t>[6:0] [13:7]</a:t>
                </a:r>
                <a:endParaRPr lang="en-US" altLang="zh-CN">
                  <a:sym typeface="+mn-ea"/>
                </a:endParaRPr>
              </a:p>
              <a:p>
                <a:endParaRPr lang="zh-CN" altLang="en-US"/>
              </a:p>
              <a:p>
                <a:r>
                  <a:rPr lang="zh-CN" altLang="en-US"/>
                  <a:t>定义切片函数</a:t>
                </a:r>
                <a:r>
                  <a:rPr lang="en-US" altLang="zh-CN"/>
                  <a:t> f(S) = [S1,S2], S1</a:t>
                </a:r>
                <a:r>
                  <a:rPr lang="zh-CN" altLang="en-US"/>
                  <a:t>代表低位，</a:t>
                </a:r>
                <a:r>
                  <a:rPr lang="en-US" altLang="zh-CN"/>
                  <a:t>S2</a:t>
                </a:r>
                <a:r>
                  <a:rPr lang="zh-CN" altLang="en-US"/>
                  <a:t>代表高位</a:t>
                </a:r>
                <a:endParaRPr lang="zh-CN" altLang="en-US"/>
              </a:p>
              <a:p>
                <a:r>
                  <a:rPr lang="en-US" altLang="zh-CN"/>
                  <a:t>A @ B , f(A)=[A1,A2]</a:t>
                </a:r>
                <a:r>
                  <a:rPr lang="zh-CN" altLang="en-US"/>
                  <a:t>，</a:t>
                </a:r>
                <a:r>
                  <a:rPr lang="en-US" altLang="zh-CN"/>
                  <a:t>f(B)=[B1,B2]</a:t>
                </a:r>
                <a:endParaRPr lang="en-US" altLang="zh-CN"/>
              </a:p>
              <a:p>
                <a:endParaRPr lang="en-US" altLang="zh-CN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𝐀</m:t>
                                  </m:r>
                                </m:e>
                                <m:sub>
                                  <m:r>
                                    <a:rPr lang="en-US"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𝐀</m:t>
                                  </m:r>
                                </m:e>
                                <m:sub>
                                  <m:r>
                                    <a:rPr lang="en-US"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@</m:t>
                    </m:r>
                    <m:sSub>
                      <m:sSubPr>
                        <m:ctrlPr>
                          <a:rPr b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𝐁</m:t>
                        </m:r>
                      </m:e>
                      <m:sub>
                        <m:r>
                          <a:rPr lang="en-US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𝐂</m:t>
                                  </m:r>
                                </m:e>
                                <m:sub>
                                  <m:r>
                                    <a:rPr lang="en-US"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𝟏</m:t>
                                  </m:r>
                                  <m:r>
                                    <a:rPr lang="en-US"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𝐂</m:t>
                                  </m:r>
                                </m:e>
                                <m:sub>
                                  <m:r>
                                    <a:rPr lang="en-US"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𝟏</m:t>
                                  </m:r>
                                  <m:r>
                                    <a:rPr lang="en-US"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𝐀</m:t>
                                  </m:r>
                                </m:e>
                                <m:sub>
                                  <m:r>
                                    <a:rPr lang="en-US"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𝐀</m:t>
                                  </m:r>
                                </m:e>
                                <m:sub>
                                  <m:r>
                                    <a:rPr lang="en-US"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@</m:t>
                    </m:r>
                    <m:sSub>
                      <m:sSubPr>
                        <m:ctrlPr>
                          <a:rPr b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𝐁</m:t>
                        </m:r>
                      </m:e>
                      <m:sub>
                        <m:r>
                          <a:rPr lang="en-US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𝐂</m:t>
                                  </m:r>
                                </m:e>
                                <m:sub>
                                  <m:r>
                                    <a:rPr lang="en-US"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𝟐</m:t>
                                  </m:r>
                                  <m:r>
                                    <a:rPr lang="en-US"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𝐂</m:t>
                                  </m:r>
                                </m:e>
                                <m:sub>
                                  <m:r>
                                    <a:rPr lang="en-US"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𝟐</m:t>
                                  </m:r>
                                  <m:r>
                                    <a:rPr lang="en-US"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b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zh-CN"/>
              </a:p>
              <a:p>
                <a:endParaRPr lang="en-US" altLang="zh-CN"/>
              </a:p>
              <a:p>
                <a:r>
                  <a:rPr lang="zh-CN" altLang="en-US"/>
                  <a:t>则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charset="0"/>
                        <a:cs typeface="Cambria Math" panose="02040503050406030204" charset="0"/>
                      </a:rPr>
                      <m:t>𝐀</m:t>
                    </m:r>
                    <m:r>
                      <a:rPr lang="en-US" b="1">
                        <a:latin typeface="Cambria Math" panose="02040503050406030204" charset="0"/>
                        <a:cs typeface="Cambria Math" panose="02040503050406030204" charset="0"/>
                      </a:rPr>
                      <m:t>@</m:t>
                    </m:r>
                    <m:r>
                      <a:rPr lang="en-US" b="1">
                        <a:latin typeface="Cambria Math" panose="02040503050406030204" charset="0"/>
                        <a:cs typeface="Cambria Math" panose="02040503050406030204" charset="0"/>
                      </a:rPr>
                      <m:t>𝐁</m:t>
                    </m:r>
                    <m:r>
                      <a:rPr lang="en-US" b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b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𝐂</m:t>
                        </m:r>
                      </m:e>
                      <m:sub>
                        <m:r>
                          <a:rPr lang="en-US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  <m:r>
                          <a:rPr lang="en-US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sub>
                    </m:sSub>
                    <m:r>
                      <a:rPr lang="en-US" b="1">
                        <a:latin typeface="Cambria Math" panose="02040503050406030204" charset="0"/>
                        <a:cs typeface="Cambria Math" panose="02040503050406030204" charset="0"/>
                      </a:rPr>
                      <m:t>+(</m:t>
                    </m:r>
                    <m:sSub>
                      <m:sSubPr>
                        <m:ctrlPr>
                          <a:rPr b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𝐂</m:t>
                        </m:r>
                      </m:e>
                      <m:sub>
                        <m:r>
                          <a:rPr lang="en-US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  <m:r>
                          <a:rPr lang="en-US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𝟐</m:t>
                        </m:r>
                      </m:sub>
                    </m:sSub>
                    <m:r>
                      <a:rPr lang="en-US" b="1">
                        <a:latin typeface="Cambria Math" panose="02040503050406030204" charset="0"/>
                        <a:cs typeface="Cambria Math" panose="02040503050406030204" charset="0"/>
                      </a:rPr>
                      <m:t>&lt;&lt;</m:t>
                    </m:r>
                    <m:r>
                      <a:rPr lang="en-US" b="1">
                        <a:latin typeface="Cambria Math" panose="02040503050406030204" charset="0"/>
                        <a:cs typeface="Cambria Math" panose="02040503050406030204" charset="0"/>
                      </a:rPr>
                      <m:t>𝟕</m:t>
                    </m:r>
                    <m:r>
                      <a:rPr lang="en-US" b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en-US" b="1">
                        <a:latin typeface="Cambria Math" panose="02040503050406030204" charset="0"/>
                        <a:cs typeface="Cambria Math" panose="02040503050406030204" charset="0"/>
                      </a:rPr>
                      <m:t>+(</m:t>
                    </m:r>
                    <m:sSub>
                      <m:sSubPr>
                        <m:ctrlPr>
                          <a:rPr b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𝐂</m:t>
                        </m:r>
                      </m:e>
                      <m:sub>
                        <m:r>
                          <a:rPr lang="en-US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𝟐</m:t>
                        </m:r>
                        <m:r>
                          <a:rPr lang="en-US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sub>
                    </m:sSub>
                    <m:r>
                      <a:rPr lang="en-US" b="1">
                        <a:latin typeface="Cambria Math" panose="02040503050406030204" charset="0"/>
                        <a:cs typeface="Cambria Math" panose="02040503050406030204" charset="0"/>
                      </a:rPr>
                      <m:t>&lt;&lt;</m:t>
                    </m:r>
                    <m:r>
                      <a:rPr lang="en-US" b="1">
                        <a:latin typeface="Cambria Math" panose="02040503050406030204" charset="0"/>
                        <a:cs typeface="Cambria Math" panose="02040503050406030204" charset="0"/>
                      </a:rPr>
                      <m:t>𝟕</m:t>
                    </m:r>
                    <m:r>
                      <a:rPr lang="en-US" b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en-US" b="1">
                        <a:latin typeface="Cambria Math" panose="02040503050406030204" charset="0"/>
                        <a:cs typeface="Cambria Math" panose="02040503050406030204" charset="0"/>
                      </a:rPr>
                      <m:t>+(</m:t>
                    </m:r>
                    <m:sSub>
                      <m:sSubPr>
                        <m:ctrlPr>
                          <a:rPr b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𝐂</m:t>
                        </m:r>
                      </m:e>
                      <m:sub>
                        <m:r>
                          <a:rPr lang="en-US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𝟐</m:t>
                        </m:r>
                        <m:r>
                          <a:rPr lang="en-US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𝟐</m:t>
                        </m:r>
                      </m:sub>
                    </m:sSub>
                    <m:r>
                      <a:rPr lang="en-US" b="1">
                        <a:latin typeface="Cambria Math" panose="02040503050406030204" charset="0"/>
                        <a:cs typeface="Cambria Math" panose="02040503050406030204" charset="0"/>
                      </a:rPr>
                      <m:t>&lt;&lt;</m:t>
                    </m:r>
                    <m:r>
                      <a:rPr lang="en-US" b="1">
                        <a:latin typeface="Cambria Math" panose="02040503050406030204" charset="0"/>
                        <a:cs typeface="Cambria Math" panose="02040503050406030204" charset="0"/>
                      </a:rPr>
                      <m:t>𝟏</m:t>
                    </m:r>
                    <m:r>
                      <a:rPr lang="en-US" b="1">
                        <a:latin typeface="Cambria Math" panose="02040503050406030204" charset="0"/>
                        <a:cs typeface="Cambria Math" panose="02040503050406030204" charset="0"/>
                      </a:rPr>
                      <m:t>𝟒</m:t>
                    </m:r>
                    <m:r>
                      <a:rPr lang="en-US" b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" y="1631315"/>
                <a:ext cx="9243060" cy="286131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接连接符 18"/>
          <p:cNvCxnSpPr/>
          <p:nvPr/>
        </p:nvCxnSpPr>
        <p:spPr>
          <a:xfrm>
            <a:off x="518160" y="1340897"/>
            <a:ext cx="364144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9" name="直接连接符 18"/>
          <p:cNvCxnSpPr/>
          <p:nvPr/>
        </p:nvCxnSpPr>
        <p:spPr>
          <a:xfrm>
            <a:off x="518160" y="1340897"/>
            <a:ext cx="364144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18160" y="785495"/>
            <a:ext cx="86620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算法二：</a:t>
            </a:r>
            <a:r>
              <a:rPr lang="en-US" altLang="zh-CN" sz="2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Cooley-Turkey </a:t>
            </a:r>
            <a:r>
              <a:rPr lang="zh-CN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矩阵形式</a:t>
            </a:r>
            <a:endParaRPr lang="zh-CN" altLang="en-US" sz="28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518160" y="1631315"/>
                <a:ext cx="4572000" cy="364744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zh-CN" altLang="en-US"/>
                  <a:t>如</a:t>
                </a:r>
                <a:r>
                  <a:rPr lang="en-US" altLang="zh-CN"/>
                  <a:t> scripts/ntt_sim_kyber.py</a:t>
                </a:r>
                <a:endParaRPr lang="en-US" altLang="zh-CN"/>
              </a:p>
              <a:p>
                <a:r>
                  <a:rPr lang="en-US" altLang="zh-CN"/>
                  <a:t>    </a:t>
                </a:r>
                <a:r>
                  <a:rPr lang="zh-CN" altLang="en-US"/>
                  <a:t>将蝶形运算转换为列变换矩阵，算出</a:t>
                </a:r>
                <a:r>
                  <a:rPr lang="en-US" altLang="zh-CN"/>
                  <a:t> M</a:t>
                </a:r>
                <a:endParaRPr lang="en-US" altLang="zh-CN"/>
              </a:p>
              <a:p>
                <a:r>
                  <a:rPr lang="en-US" altLang="zh-CN"/>
                  <a:t>    Cooley-Turkey </a:t>
                </a:r>
                <a:r>
                  <a:rPr lang="zh-CN" altLang="en-US"/>
                  <a:t>等价于</a:t>
                </a:r>
                <a:r>
                  <a:rPr lang="en-US" altLang="zh-CN"/>
                  <a:t> F = f @ M</a:t>
                </a:r>
                <a:endParaRPr lang="en-US" altLang="zh-CN"/>
              </a:p>
              <a:p>
                <a:endParaRPr lang="en-US" altLang="zh-CN"/>
              </a:p>
              <a:p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每一层的蝶形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运算等效为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F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f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 @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𝜂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𝜂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/>
              </a:p>
              <a:p>
                <a:r>
                  <a:rPr lang="zh-CN" altLang="en-US"/>
                  <a:t>注：这里用</a:t>
                </a:r>
                <a:r>
                  <a:rPr lang="en-US" altLang="zh-CN"/>
                  <a:t>2x2</a:t>
                </a:r>
                <a:r>
                  <a:rPr lang="zh-CN" altLang="en-US"/>
                  <a:t>矩阵代表两个对应的元素，实际矩阵为</a:t>
                </a:r>
                <a:r>
                  <a:rPr lang="en-US" altLang="zh-CN"/>
                  <a:t>nxn</a:t>
                </a:r>
                <a:r>
                  <a:rPr lang="zh-CN" altLang="en-US"/>
                  <a:t>大小。</a:t>
                </a:r>
                <a:endParaRPr lang="zh-CN" altLang="en-US"/>
              </a:p>
              <a:p>
                <a:endParaRPr lang="zh-CN" altLang="en-US"/>
              </a:p>
              <a:p>
                <a:r>
                  <a:rPr lang="zh-CN" altLang="en-US"/>
                  <a:t>等效矩阵</a:t>
                </a:r>
                <a:r>
                  <a:rPr lang="en-US" altLang="zh-CN"/>
                  <a:t>M=M0 @ M1 @ ... @ M7</a:t>
                </a:r>
                <a:endParaRPr lang="en-US" altLang="zh-CN"/>
              </a:p>
              <a:p>
                <a:endParaRPr lang="en-US" altLang="zh-CN"/>
              </a:p>
              <a:p>
                <a:r>
                  <a:rPr lang="zh-CN" altLang="en-US"/>
                  <a:t>注意到模的性质，矩阵可以取模：</a:t>
                </a:r>
                <a:endParaRPr lang="zh-CN" altLang="en-US"/>
              </a:p>
              <a:p>
                <a:r>
                  <a:rPr lang="en-US" altLang="zh-CN"/>
                  <a:t>M := M % q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∈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ℤ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×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" y="1631315"/>
                <a:ext cx="4572000" cy="364744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835" y="1397635"/>
            <a:ext cx="4142105" cy="446468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756275" y="4440555"/>
            <a:ext cx="2629535" cy="60515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-86995" y="1203325"/>
            <a:ext cx="11271250" cy="5943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32435" y="-60960"/>
            <a:ext cx="86620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算法三：有限状态机同步</a:t>
            </a:r>
            <a:endParaRPr lang="zh-CN" sz="28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166870"/>
            <a:ext cx="6243320" cy="25533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635"/>
            <a:ext cx="4997450" cy="20072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730" y="1203325"/>
            <a:ext cx="5118735" cy="4158615"/>
          </a:xfrm>
          <a:prstGeom prst="rect">
            <a:avLst/>
          </a:prstGeom>
        </p:spPr>
      </p:pic>
      <p:cxnSp>
        <p:nvCxnSpPr>
          <p:cNvPr id="7" name="曲线连接符 6"/>
          <p:cNvCxnSpPr/>
          <p:nvPr/>
        </p:nvCxnSpPr>
        <p:spPr>
          <a:xfrm rot="10800000">
            <a:off x="1113790" y="1873250"/>
            <a:ext cx="3126740" cy="1462405"/>
          </a:xfrm>
          <a:prstGeom prst="curvedConnector3">
            <a:avLst>
              <a:gd name="adj1" fmla="val 7859"/>
            </a:avLst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曲线连接符 7"/>
          <p:cNvCxnSpPr/>
          <p:nvPr/>
        </p:nvCxnSpPr>
        <p:spPr>
          <a:xfrm>
            <a:off x="345440" y="3263900"/>
            <a:ext cx="3547745" cy="676910"/>
          </a:xfrm>
          <a:prstGeom prst="curvedConnector3">
            <a:avLst>
              <a:gd name="adj1" fmla="val 680"/>
            </a:avLst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66065" y="569595"/>
            <a:ext cx="85585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使用</a:t>
            </a:r>
            <a:r>
              <a:rPr lang="en-US" altLang="zh-CN"/>
              <a:t> WAIT-SET </a:t>
            </a:r>
            <a:r>
              <a:rPr lang="zh-CN" altLang="en-US"/>
              <a:t>信号进行</a:t>
            </a:r>
            <a:r>
              <a:rPr lang="en-US" altLang="zh-CN"/>
              <a:t>AIC</a:t>
            </a:r>
            <a:r>
              <a:rPr lang="zh-CN" altLang="en-US"/>
              <a:t>和</a:t>
            </a:r>
            <a:r>
              <a:rPr lang="en-US" altLang="zh-CN"/>
              <a:t>AIV</a:t>
            </a:r>
            <a:r>
              <a:rPr lang="zh-CN" altLang="en-US"/>
              <a:t>之间的同步，</a:t>
            </a:r>
            <a:endParaRPr lang="zh-CN" altLang="en-US"/>
          </a:p>
          <a:p>
            <a:r>
              <a:rPr lang="zh-CN" altLang="en-US"/>
              <a:t>数据地址固定，使用</a:t>
            </a:r>
            <a:r>
              <a:rPr lang="en-US" altLang="zh-CN"/>
              <a:t>GM</a:t>
            </a:r>
            <a:r>
              <a:rPr lang="zh-CN" altLang="en-US"/>
              <a:t>进行数据交换（同个</a:t>
            </a:r>
            <a:r>
              <a:rPr lang="en-US" altLang="zh-CN"/>
              <a:t>AI Core</a:t>
            </a:r>
            <a:r>
              <a:rPr lang="zh-CN" altLang="en-US"/>
              <a:t>的</a:t>
            </a:r>
            <a:r>
              <a:rPr lang="en-US" altLang="zh-CN"/>
              <a:t>GM</a:t>
            </a:r>
            <a:r>
              <a:rPr lang="zh-CN" altLang="en-US"/>
              <a:t>有</a:t>
            </a:r>
            <a:r>
              <a:rPr lang="en-US" altLang="zh-CN"/>
              <a:t>L2 Cache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18160" y="785495"/>
            <a:ext cx="86620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Kyber </a:t>
            </a:r>
            <a:r>
              <a:rPr lang="zh-CN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的混合算子设计</a:t>
            </a:r>
            <a:endParaRPr lang="zh-CN" altLang="en-US" sz="28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518160" y="1340897"/>
            <a:ext cx="364144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3189605" y="2191385"/>
            <a:ext cx="2542540" cy="822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Mmad </a:t>
            </a:r>
            <a:endParaRPr lang="en-US" altLang="zh-CN" b="1"/>
          </a:p>
          <a:p>
            <a:pPr algn="ctr"/>
            <a:r>
              <a:rPr lang="zh-CN" altLang="en-US">
                <a:sym typeface="+mn-ea"/>
              </a:rPr>
              <a:t>笛卡儿乘</a:t>
            </a:r>
            <a:r>
              <a:rPr lang="en-US" altLang="zh-CN"/>
              <a:t>S@M0, S@M1</a:t>
            </a:r>
            <a:endParaRPr lang="en-US" altLang="zh-CN"/>
          </a:p>
          <a:p>
            <a:pPr algn="ctr"/>
            <a:r>
              <a:rPr lang="en-US" altLang="zh-CN" sz="1200"/>
              <a:t>int8 @ int8 -&gt; int32</a:t>
            </a:r>
            <a:endParaRPr lang="en-US" altLang="zh-CN" sz="1200"/>
          </a:p>
        </p:txBody>
      </p:sp>
      <p:sp>
        <p:nvSpPr>
          <p:cNvPr id="3" name="文本框 2"/>
          <p:cNvSpPr txBox="1"/>
          <p:nvPr/>
        </p:nvSpPr>
        <p:spPr>
          <a:xfrm>
            <a:off x="165735" y="2191385"/>
            <a:ext cx="1318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AIC[0]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84455" y="3985895"/>
            <a:ext cx="13182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AIV[0,0]</a:t>
            </a:r>
            <a:endParaRPr lang="en-US" altLang="zh-CN"/>
          </a:p>
          <a:p>
            <a:r>
              <a:rPr lang="en-US" altLang="zh-CN"/>
              <a:t>AIV[0,1]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1965960" y="3909695"/>
            <a:ext cx="1466215" cy="822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Split</a:t>
            </a:r>
            <a:endParaRPr lang="en-US" altLang="zh-CN" b="1"/>
          </a:p>
          <a:p>
            <a:pPr algn="ctr"/>
            <a:r>
              <a:rPr lang="en-US" altLang="zh-CN" sz="1200"/>
              <a:t>int32 -&gt; [int8, int8]</a:t>
            </a:r>
            <a:endParaRPr lang="en-US" altLang="zh-CN" sz="1200"/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2814320" y="3106420"/>
            <a:ext cx="461645" cy="7524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4237990" y="3065780"/>
            <a:ext cx="724535" cy="8305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412615" y="3897630"/>
            <a:ext cx="1381760" cy="822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Merge</a:t>
            </a:r>
            <a:endParaRPr lang="en-US" altLang="zh-CN" b="1"/>
          </a:p>
          <a:p>
            <a:pPr algn="ctr"/>
            <a:r>
              <a:rPr lang="en-US" altLang="zh-CN" sz="1000"/>
              <a:t>int32</a:t>
            </a:r>
            <a:r>
              <a:rPr lang="zh-CN" altLang="en-US" sz="1000"/>
              <a:t>移位累加</a:t>
            </a:r>
            <a:r>
              <a:rPr lang="en-US" altLang="zh-CN" sz="1000"/>
              <a:t>-&gt;int32</a:t>
            </a:r>
            <a:endParaRPr lang="en-US" altLang="zh-CN" sz="1000"/>
          </a:p>
        </p:txBody>
      </p:sp>
      <p:sp>
        <p:nvSpPr>
          <p:cNvPr id="10" name="矩形 9"/>
          <p:cNvSpPr/>
          <p:nvPr/>
        </p:nvSpPr>
        <p:spPr>
          <a:xfrm>
            <a:off x="7162165" y="3909695"/>
            <a:ext cx="1136650" cy="822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Barrett Reduce</a:t>
            </a:r>
            <a:endParaRPr lang="en-US" altLang="zh-CN" b="1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5793740" y="4290060"/>
            <a:ext cx="128651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2332990" y="3248660"/>
                <a:ext cx="1993265" cy="4679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400"/>
                  <a:t>S=[</a:t>
                </a:r>
                <a:r>
                  <a:rPr lang="en-US" altLang="zh-CN" sz="1400">
                    <a:sym typeface="+mn-ea"/>
                  </a:rPr>
                  <a:t>S0, S1]</a:t>
                </a:r>
                <a:r>
                  <a:rPr lang="en-US" altLang="zh-CN" sz="1400"/>
                  <a:t>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∈</m:t>
                    </m:r>
                    <m:sSup>
                      <m:sSupPr>
                        <m:ctrl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ℤ</m:t>
                        </m:r>
                      </m:e>
                      <m:sup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×</m:t>
                        </m:r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1400"/>
                  <a:t> </a:t>
                </a:r>
                <a:r>
                  <a:rPr lang="en-US" altLang="zh-CN" sz="1400"/>
                  <a:t>2*7bits=14bits MAX</a:t>
                </a:r>
                <a:endParaRPr lang="en-US" altLang="zh-CN" sz="1400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990" y="3248660"/>
                <a:ext cx="1993265" cy="467995"/>
              </a:xfrm>
              <a:prstGeom prst="rect">
                <a:avLst/>
              </a:prstGeom>
              <a:blipFill rotWithShape="1">
                <a:blip r:embed="rId1"/>
                <a:stretch>
                  <a:fillRect b="-2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箭头连接符 14"/>
          <p:cNvCxnSpPr/>
          <p:nvPr/>
        </p:nvCxnSpPr>
        <p:spPr>
          <a:xfrm flipV="1">
            <a:off x="965200" y="4333875"/>
            <a:ext cx="949325" cy="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927735" y="3985895"/>
                <a:ext cx="103822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src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∈ </m:t>
                    </m:r>
                    <m:sSup>
                      <m:sSupPr>
                        <m:ctrl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ℤ</m:t>
                        </m:r>
                      </m:e>
                      <m:sup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35" y="3985895"/>
                <a:ext cx="1038225" cy="30670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接箭头连接符 16"/>
          <p:cNvCxnSpPr/>
          <p:nvPr/>
        </p:nvCxnSpPr>
        <p:spPr>
          <a:xfrm>
            <a:off x="1046480" y="2516505"/>
            <a:ext cx="2036445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1152525" y="2044065"/>
                <a:ext cx="2279650" cy="4679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400"/>
                  <a:t>M0, M1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∈ </m:t>
                    </m:r>
                    <m:sSup>
                      <m:sSupPr>
                        <m:ctrl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ℤ</m:t>
                        </m:r>
                      </m:e>
                      <m:sup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×</m:t>
                        </m:r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 sz="1400"/>
                  <a:t>2*7bits=14bits MAX</a:t>
                </a:r>
                <a:endParaRPr lang="en-US" altLang="zh-CN" sz="1400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525" y="2044065"/>
                <a:ext cx="2279650" cy="467995"/>
              </a:xfrm>
              <a:prstGeom prst="rect">
                <a:avLst/>
              </a:prstGeom>
              <a:blipFill rotWithShape="1">
                <a:blip r:embed="rId3"/>
                <a:stretch>
                  <a:fillRect b="-9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4412615" y="3311525"/>
                <a:ext cx="1993265" cy="4679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400"/>
                  <a:t>A0, A1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charset="0"/>
                        <a:cs typeface="Cambria Math" panose="02040503050406030204" charset="0"/>
                      </a:rPr>
                      <m:t>∈ </m:t>
                    </m:r>
                    <m:sSup>
                      <m:sSupPr>
                        <m:ctrl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ℤ</m:t>
                        </m:r>
                      </m:e>
                      <m:sup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×</m:t>
                        </m:r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615" y="3311525"/>
                <a:ext cx="1993265" cy="46799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01725"/>
            <a:ext cx="9144000" cy="51542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827020" y="2640965"/>
            <a:ext cx="1286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AIV Split</a:t>
            </a:r>
            <a:endParaRPr lang="en-US" altLang="zh-CN" b="1"/>
          </a:p>
        </p:txBody>
      </p:sp>
      <p:sp>
        <p:nvSpPr>
          <p:cNvPr id="5" name="文本框 4"/>
          <p:cNvSpPr txBox="1"/>
          <p:nvPr/>
        </p:nvSpPr>
        <p:spPr>
          <a:xfrm>
            <a:off x="5407025" y="1591310"/>
            <a:ext cx="1286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AIC Mmad</a:t>
            </a:r>
            <a:endParaRPr lang="en-US" altLang="zh-CN" b="1"/>
          </a:p>
        </p:txBody>
      </p:sp>
      <p:sp>
        <p:nvSpPr>
          <p:cNvPr id="6" name="文本框 5"/>
          <p:cNvSpPr txBox="1"/>
          <p:nvPr/>
        </p:nvSpPr>
        <p:spPr>
          <a:xfrm>
            <a:off x="7535545" y="2703195"/>
            <a:ext cx="18738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AIV Merge &amp; Reduction</a:t>
            </a:r>
            <a:endParaRPr lang="en-US" altLang="zh-CN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18160" y="785495"/>
            <a:ext cx="86620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结果分析</a:t>
            </a:r>
            <a:endParaRPr lang="zh-CN" sz="28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518160" y="1340897"/>
            <a:ext cx="364144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18160" y="1631315"/>
            <a:ext cx="878713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/>
              <a:t>算子执行时间为</a:t>
            </a:r>
            <a:r>
              <a:rPr lang="en-US" altLang="zh-CN"/>
              <a:t> 5.85us</a:t>
            </a:r>
            <a:r>
              <a:rPr lang="zh-CN" altLang="en-US"/>
              <a:t>，</a:t>
            </a:r>
            <a:r>
              <a:rPr lang="en-US" altLang="zh-CN"/>
              <a:t>9450 cycles</a:t>
            </a:r>
            <a:endParaRPr lang="en-US" altLang="zh-CN"/>
          </a:p>
          <a:p>
            <a:r>
              <a:rPr lang="en-US" altLang="zh-CN"/>
              <a:t>FasterNTT</a:t>
            </a:r>
            <a:r>
              <a:rPr lang="zh-CN" altLang="en-US"/>
              <a:t>执行时间为</a:t>
            </a:r>
            <a:r>
              <a:rPr lang="en-US" altLang="zh-CN"/>
              <a:t>6.27 us (2.0GHz,AVX2)</a:t>
            </a:r>
            <a:r>
              <a:rPr lang="zh-CN" altLang="en-US"/>
              <a:t>，</a:t>
            </a:r>
            <a:r>
              <a:rPr lang="en-US" altLang="zh-CN"/>
              <a:t>12540 cycles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但是考虑到</a:t>
            </a:r>
            <a:r>
              <a:rPr lang="en-US" altLang="zh-CN"/>
              <a:t> Cube </a:t>
            </a:r>
            <a:r>
              <a:rPr lang="zh-CN" altLang="en-US"/>
              <a:t>计算单元的特殊性，</a:t>
            </a:r>
            <a:r>
              <a:rPr lang="en-US" altLang="zh-CN"/>
              <a:t>int</a:t>
            </a:r>
            <a:r>
              <a:rPr lang="zh-CN" altLang="en-US"/>
              <a:t>计算位宽是</a:t>
            </a:r>
            <a:r>
              <a:rPr lang="en-US" altLang="zh-CN"/>
              <a:t>[16,32,16]</a:t>
            </a:r>
            <a:endParaRPr lang="en-US" altLang="zh-CN"/>
          </a:p>
          <a:p>
            <a:r>
              <a:rPr lang="zh-CN" altLang="en-US"/>
              <a:t>而实际使用位宽是</a:t>
            </a:r>
            <a:r>
              <a:rPr lang="en-US" altLang="zh-CN"/>
              <a:t> [4,256,256] </a:t>
            </a:r>
            <a:r>
              <a:rPr lang="zh-CN" altLang="en-US"/>
              <a:t>等效于</a:t>
            </a:r>
            <a:r>
              <a:rPr lang="en-US" altLang="zh-CN"/>
              <a:t> [16,256,256]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因此，同时处理</a:t>
            </a:r>
            <a:r>
              <a:rPr lang="en-US" altLang="zh-CN"/>
              <a:t>4</a:t>
            </a:r>
            <a:r>
              <a:rPr lang="zh-CN" altLang="en-US"/>
              <a:t>个</a:t>
            </a:r>
            <a:r>
              <a:rPr lang="en-US" altLang="zh-CN"/>
              <a:t>Kyber NTT,</a:t>
            </a:r>
            <a:r>
              <a:rPr lang="zh-CN" altLang="en-US"/>
              <a:t>并不会显著增加矩阵计算的时间开销。</a:t>
            </a:r>
            <a:endParaRPr lang="zh-CN" altLang="en-US"/>
          </a:p>
          <a:p>
            <a:r>
              <a:rPr lang="zh-CN" altLang="en-US"/>
              <a:t>再者，在</a:t>
            </a:r>
            <a:r>
              <a:rPr lang="en-US" altLang="zh-CN"/>
              <a:t>Batch</a:t>
            </a:r>
            <a:r>
              <a:rPr lang="zh-CN" altLang="en-US"/>
              <a:t>情景中，可以引入双</a:t>
            </a:r>
            <a:r>
              <a:rPr lang="en-US" altLang="zh-CN"/>
              <a:t>Buffer</a:t>
            </a:r>
            <a:r>
              <a:rPr lang="zh-CN" altLang="en-US"/>
              <a:t>和任务流水线机制，进一步降低时间复杂度。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8007" y="2463571"/>
            <a:ext cx="8007985" cy="98834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谢谢！</a:t>
            </a:r>
            <a:endParaRPr kumimoji="0" lang="en-US" altLang="zh-CN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297"/>
    </mc:Choice>
    <mc:Fallback>
      <p:transition spd="slow" advTm="7297"/>
    </mc:Fallback>
  </mc:AlternateContent>
</p:sld>
</file>

<file path=ppt/tags/tag1.xml><?xml version="1.0" encoding="utf-8"?>
<p:tagLst xmlns:p="http://schemas.openxmlformats.org/presentationml/2006/main">
  <p:tag name="COMMONDATA" val="eyJoZGlkIjoiNzc4MjU5ODhiNjdhMjUzODQzZDRiYjJjYTlkMDMyMmMifQ==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交大红版</Template>
  <TotalTime>0</TotalTime>
  <Words>1207</Words>
  <Application>WPS 演示</Application>
  <PresentationFormat>全屏显示(4:3)</PresentationFormat>
  <Paragraphs>86</Paragraphs>
  <Slides>8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Gill Sans</vt:lpstr>
      <vt:lpstr>Complex</vt:lpstr>
      <vt:lpstr>Heiti SC Light</vt:lpstr>
      <vt:lpstr>微软雅黑</vt:lpstr>
      <vt:lpstr>Hack</vt:lpstr>
      <vt:lpstr>Cambria Math</vt:lpstr>
      <vt:lpstr>Arial Unicode MS</vt:lpstr>
      <vt:lpstr>Calibri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王齐</dc:creator>
  <cp:lastModifiedBy>chen</cp:lastModifiedBy>
  <cp:revision>3772</cp:revision>
  <dcterms:created xsi:type="dcterms:W3CDTF">2026-02-11T02:47:43Z</dcterms:created>
  <dcterms:modified xsi:type="dcterms:W3CDTF">2026-02-11T02:47:43Z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2052-12.1.2.24722</vt:lpwstr>
  </property>
  <property fmtid="{D5CDD505-2E9C-101B-9397-08002B2CF9AE}" pid="3" name="ICV">
    <vt:lpwstr>BB1413FDC4D3CBC3CFED8B691D6A665E_43</vt:lpwstr>
  </property>
</Properties>
</file>