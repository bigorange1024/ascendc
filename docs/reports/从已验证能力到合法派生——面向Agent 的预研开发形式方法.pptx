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2" r:id="rId3"/>
    <p:sldId id="283" r:id="rId4"/>
    <p:sldId id="284" r:id="rId5"/>
    <p:sldId id="285" r:id="rId6"/>
    <p:sldId id="291" r:id="rId7"/>
    <p:sldId id="257" r:id="rId8"/>
    <p:sldId id="258" r:id="rId9"/>
    <p:sldId id="259" r:id="rId10"/>
    <p:sldId id="260" r:id="rId11"/>
    <p:sldId id="261" r:id="rId12"/>
    <p:sldId id="286" r:id="rId13"/>
    <p:sldId id="262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2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AA777-627D-4382-B496-66D25FF8B2CD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3E9F5-64D3-4D24-B9A2-8B2F5D92F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79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9F38D-37CD-4A39-B4A0-230B38D087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78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18392"/>
            <a:ext cx="10424160" cy="5293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32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从已验证能力到合法派生</a:t>
            </a:r>
            <a:endParaRPr sz="3200" b="1" dirty="0">
              <a:solidFill>
                <a:srgbClr val="16324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42416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22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面向</a:t>
            </a:r>
            <a:r>
              <a:rPr lang="en-US" altLang="zh-CN" sz="22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22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的预研开发形式方法</a:t>
            </a:r>
            <a:endParaRPr sz="2200" b="1" dirty="0">
              <a:solidFill>
                <a:srgbClr val="1F4E7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699700"/>
            <a:ext cx="10424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相关</a:t>
            </a:r>
            <a:r>
              <a:rPr lang="zh-CN" altLang="en-US"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</a:t>
            </a:r>
            <a:r>
              <a:rPr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zh-CN" altLang="en-US"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</a:t>
            </a:r>
            <a:r>
              <a:rPr sz="12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AscendC</a:t>
            </a:r>
            <a:r>
              <a:rPr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实现</a:t>
            </a:r>
            <a:r>
              <a:rPr lang="en-US" altLang="zh-CN"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PQC</a:t>
            </a:r>
            <a:r>
              <a:rPr lang="zh-CN" altLang="en-US"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标准算法</a:t>
            </a:r>
            <a:r>
              <a:rPr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ML-KEM</a:t>
            </a:r>
            <a:r>
              <a:rPr lang="zh-CN" altLang="en-US" sz="12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；方法论面向一般的实现类预研，不绑定某一具体算法</a:t>
            </a:r>
            <a:endParaRPr sz="12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5840" y="3063240"/>
            <a:ext cx="5486400" cy="32004"/>
          </a:xfrm>
          <a:prstGeom prst="rect">
            <a:avLst/>
          </a:prstGeom>
          <a:solidFill>
            <a:srgbClr val="D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65973"/>
            <a:ext cx="1132027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dirty="0" err="1">
                <a:solidFill>
                  <a:srgbClr val="16324F"/>
                </a:solidFill>
                <a:latin typeface="Microsoft YaHei"/>
              </a:rPr>
              <a:t>背景介绍：AscendC</a:t>
            </a:r>
            <a:r>
              <a:rPr sz="2000" b="1" dirty="0">
                <a:solidFill>
                  <a:srgbClr val="16324F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16324F"/>
                </a:solidFill>
                <a:latin typeface="Microsoft YaHei"/>
              </a:rPr>
              <a:t>端到端</a:t>
            </a:r>
            <a:r>
              <a:rPr sz="2000" b="1" dirty="0">
                <a:solidFill>
                  <a:srgbClr val="16324F"/>
                </a:solidFill>
                <a:latin typeface="Microsoft YaHei"/>
              </a:rPr>
              <a:t> PQC </a:t>
            </a:r>
            <a:r>
              <a:rPr sz="2000" b="1" dirty="0" err="1">
                <a:solidFill>
                  <a:srgbClr val="16324F"/>
                </a:solidFill>
                <a:latin typeface="Microsoft YaHei"/>
              </a:rPr>
              <a:t>实现</a:t>
            </a:r>
            <a:endParaRPr sz="20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512064"/>
            <a:ext cx="1132027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C6B7A"/>
                </a:solidFill>
                <a:latin typeface="Microsoft YaHei"/>
              </a:rPr>
              <a:t>基于已有 AscendC 原语，在 NPU 上完成单核、单用例的完整 PQC 算法。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7315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1/4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914400"/>
            <a:ext cx="1132027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987552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</a:rPr>
              <a:t>工程内容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107899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用 AscendC 实现一套完整的后量子密码（PQC）算法，并在 NPU 上端到端跑通。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828800"/>
            <a:ext cx="1132027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</a:rPr>
              <a:t>工程背景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107899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已具备 AscendC 实现的 NTT、SHA3 等算子；拟在此基础上完成单核、单用例的完整 PQC 算法。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743200"/>
            <a:ext cx="1132027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</a:rPr>
              <a:t>工程目标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7899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代码正确可运行；性能尽量优化。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794760"/>
            <a:ext cx="5623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858768"/>
            <a:ext cx="5303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6324F"/>
                </a:solidFill>
                <a:latin typeface="Microsoft YaHei"/>
              </a:rPr>
              <a:t>初始条件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" y="4187952"/>
          <a:ext cx="52120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要素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语言与平台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AscendC；部署目标为 NPU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既有算子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NTT、SHA3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算法范围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完整 PQC（本场实例：ML-KEM）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端到端实现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尚缺；需在既有算子上集成完成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355080" y="379476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858768"/>
            <a:ext cx="5120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</a:rPr>
              <a:t>实施计划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92240" y="4187952"/>
          <a:ext cx="5074920" cy="18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工作内容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Microsoft YaHei"/>
                        </a:rPr>
                        <a:t>阶段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基于既有 NTT、SHA3 等算子，完成 PKE.KeyGen 的设备端实现与对拍验收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Microsoft YaHei"/>
                        </a:rPr>
                        <a:t>阶段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完成 PKE.Encrypt / Decrypt，形成可对拍的 PKE 全链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Microsoft YaHei"/>
                        </a:rPr>
                        <a:t>阶段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基于已验收的 PKE.KeyGen，完成 KEM.KeyGen 的设备端实现与晋级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E79"/>
                          </a:solidFill>
                          <a:latin typeface="Microsoft YaHei"/>
                        </a:rPr>
                        <a:t>阶段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完成 KEM.Encaps / Decaps 的开放实现，并评估质量、形态与性能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65973"/>
            <a:ext cx="1132027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dirty="0" err="1">
                <a:solidFill>
                  <a:srgbClr val="16324F"/>
                </a:solidFill>
                <a:latin typeface="Microsoft YaHei"/>
              </a:rPr>
              <a:t>项目前期：从平台层到</a:t>
            </a:r>
            <a:r>
              <a:rPr sz="2000" b="1" dirty="0">
                <a:solidFill>
                  <a:srgbClr val="16324F"/>
                </a:solidFill>
                <a:latin typeface="Microsoft YaHei"/>
              </a:rPr>
              <a:t> PKE </a:t>
            </a:r>
            <a:r>
              <a:rPr sz="2000" b="1" dirty="0" err="1">
                <a:solidFill>
                  <a:srgbClr val="16324F"/>
                </a:solidFill>
                <a:latin typeface="Microsoft YaHei"/>
              </a:rPr>
              <a:t>全链</a:t>
            </a:r>
            <a:endParaRPr sz="20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7315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2/4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729201"/>
            <a:ext cx="56235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784065"/>
            <a:ext cx="5394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Microsoft YaHei"/>
              </a:rPr>
              <a:t>分层实现路径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6673"/>
            <a:ext cx="10515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F4E79"/>
                </a:solidFill>
                <a:latin typeface="Microsoft YaHei"/>
              </a:rPr>
              <a:t>P0 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1076673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016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8488" y="1094961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DataCopy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076673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016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81528" y="1094961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TPipe/TQue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076673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016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094961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MMAD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1460721"/>
            <a:ext cx="0" cy="201168"/>
          </a:xfrm>
          <a:prstGeom prst="line">
            <a:avLst/>
          </a:prstGeom>
          <a:ln w="27940">
            <a:solidFill>
              <a:srgbClr val="2E74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" y="1735041"/>
            <a:ext cx="10515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P1 算子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1735041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016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18488" y="1753329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NTT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735041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016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81528" y="1753329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SHA3/SHAKE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1735041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016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1753329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内积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03320" y="2119089"/>
            <a:ext cx="0" cy="201168"/>
          </a:xfrm>
          <a:prstGeom prst="line">
            <a:avLst/>
          </a:prstGeom>
          <a:ln w="27940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2393409"/>
            <a:ext cx="10515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D9601A"/>
                </a:solidFill>
                <a:latin typeface="Microsoft YaHei"/>
              </a:rPr>
              <a:t>关键操作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2393409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016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18488" y="2411697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Sampling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2393409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016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81528" y="2411697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代数运算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2393409"/>
            <a:ext cx="1353312" cy="3657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016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2411697"/>
            <a:ext cx="13167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24F"/>
                </a:solidFill>
                <a:latin typeface="Microsoft YaHei"/>
              </a:rPr>
              <a:t>编/解码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03320" y="2777457"/>
            <a:ext cx="0" cy="201168"/>
          </a:xfrm>
          <a:prstGeom prst="line">
            <a:avLst/>
          </a:prstGeom>
          <a:ln w="27940">
            <a:solidFill>
              <a:srgbClr val="D960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" y="3051777"/>
            <a:ext cx="1051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F4E79"/>
                </a:solidFill>
                <a:latin typeface="Microsoft YaHei"/>
              </a:rPr>
              <a:t>P2 集成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00200" y="3051777"/>
            <a:ext cx="4279392" cy="3840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00200" y="3051777"/>
            <a:ext cx="4279392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</a:rPr>
              <a:t>stable PKE.KeyGen · ≈542393 tick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3563841"/>
            <a:ext cx="53949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324F"/>
                </a:solidFill>
                <a:latin typeface="Microsoft YaHei"/>
              </a:rPr>
              <a:t>流程说明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平台 → 算子 → Sampling / 代数运算 / 编解码 → 集成 KeyGen；层间箭头仅示意升级，不作细粒度依赖声明。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KeyGen 经维护者指导收口，可交付，作为后续 KEM 直接上游。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729201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784065"/>
            <a:ext cx="52120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4F"/>
                </a:solidFill>
                <a:latin typeface="Microsoft YaHei"/>
              </a:rPr>
              <a:t>PKE.Encrypt / Decrypt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1113249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1158969"/>
            <a:ext cx="5029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</a:rPr>
              <a:t>实现目标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在已验收的 stable PKE.KeyGen 上，完成 Alg.14/15 的设备端 Encrypt / Decrypt，并纳入可对拍、可晋级的交付形态。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2073369"/>
            <a:ext cx="5212080" cy="10515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2119089"/>
            <a:ext cx="502920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9601A"/>
                </a:solidFill>
                <a:latin typeface="Microsoft YaHei"/>
              </a:rPr>
              <a:t>补充实验与投入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复用 KeyGen 阶段的 notes、探针结构与验收流程，无需再从零摸平台。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额外投入：liboqs 分阶段字节对拍等交叉验证；用时明显短于 KeyGen 建设期（建设期为数月量级，本段为短跨度收尾）。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216369"/>
            <a:ext cx="5212080" cy="132588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262089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完成效果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与 liboqs 分阶段字节对拍均通过。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7D4F"/>
                </a:solidFill>
                <a:latin typeface="Microsoft YaHei"/>
              </a:rPr>
              <a:t>Encrypt ≈ 627590 tick；Decrypt ≈ 283290 tick。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形态可交付、可晋级，非仅 correctness 标本。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4937760"/>
            <a:ext cx="1132027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4983480"/>
            <a:ext cx="110642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</a:rPr>
              <a:t>PKE 完成后的资产与知识库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566928" y="5285232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已覆盖能力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平台层 · 算子层 · 关键操作（Sampling / 代数运算 / 编解码）· PKE 全链（KeyGen + Encrypt + Decrypt）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知识库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形成可复用的 notes、探针与对拍流程，后续 KEM 可直接引用。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65973"/>
            <a:ext cx="1132027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dirty="0" err="1">
                <a:solidFill>
                  <a:srgbClr val="16324F"/>
                </a:solidFill>
                <a:latin typeface="Microsoft YaHei"/>
              </a:rPr>
              <a:t>项目前期：Agent</a:t>
            </a:r>
            <a:r>
              <a:rPr sz="2000" b="1" dirty="0">
                <a:solidFill>
                  <a:srgbClr val="16324F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16324F"/>
                </a:solidFill>
                <a:latin typeface="Microsoft YaHei"/>
              </a:rPr>
              <a:t>自主探索高维度算子的实现方式</a:t>
            </a:r>
            <a:endParaRPr sz="20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512064"/>
            <a:ext cx="1132027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C6B7A"/>
                </a:solidFill>
                <a:latin typeface="Microsoft YaHei"/>
              </a:rPr>
              <a:t>手把手做完 KEM.KeyGen，补充实验不多、用时也不长，性能达到了预期；于是安排 Agent 自行探索封装与解封装。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7315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3/4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320272" cy="10515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1101852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D9601A"/>
                </a:solidFill>
                <a:latin typeface="Microsoft YaHei"/>
              </a:rPr>
              <a:t>进入开放探索的依据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维护者手把手带做 KEM.KeyGen。相对最早那一段建设，这次要补的实验不多，花的时间也不长，性能达到了预期。于是判断：封装和解封装也可以让 Agent 自己摸索着做，不必再长时间跟着改。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057400"/>
            <a:ext cx="5440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121408"/>
            <a:ext cx="52120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4F"/>
                </a:solidFill>
                <a:latin typeface="Microsoft YaHei"/>
              </a:rPr>
              <a:t>KEM.KeyGen：从目标到效果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2"/>
            <a:ext cx="5074920" cy="2331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</a:rPr>
              <a:t>实现目标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在已完成的 PKE 密钥生成、加密、解密之上，继续完成 KEM 密钥生成算子，使密钥生成链路在设备侧可端到端跑通。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601A"/>
                </a:solidFill>
                <a:latin typeface="Microsoft YaHei"/>
              </a:rPr>
              <a:t>补充实验与投入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仍由维护者手把手指导；相对最早一块能力建设期，本段所需补充实验少，耗时与人力消耗也明显更短。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4F"/>
                </a:solidFill>
                <a:latin typeface="Microsoft YaHei"/>
              </a:rPr>
              <a:t>完成效果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D4F"/>
                </a:solidFill>
                <a:latin typeface="Microsoft YaHei"/>
              </a:rPr>
              <a:t>性能达到预期优化效果。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53212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121408"/>
            <a:ext cx="525780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</a:rPr>
              <a:t>下一步计划：Agent 开发探索封装 / 解封装算子实现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257800" cy="2240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</a:rPr>
              <a:t>要做什么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由 Agent 完成 KEM 封装与解封装算子，使算法在封装、解封装方向也能端到端跑通。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</a:rPr>
              <a:t>前提与前期准备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PKE 全链与 KEM 密钥生成已可用；平台与算子层能力、对拍流程与相关笔记已具备。任务提示较轻：阅读 FIPS 203，在已有能力上把封装与解封装做出来。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</a:rPr>
              <a:t>探索方式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正确性路线不提供现成实现步骤，由 Agent 自行探索拼装与改错。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</a:rPr>
              <a:t>希望达成的效果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希望也能像密钥生成一样，较快做出能对拍、形态和性能说得过去的实现，而不必长时间人工跟着改。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5074920"/>
            <a:ext cx="11320272" cy="7360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5138928"/>
            <a:ext cx="1101852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6324F"/>
                </a:solidFill>
                <a:latin typeface="Microsoft YaHei"/>
              </a:rPr>
              <a:t>当时预期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当时的想法很直接：KEM 密钥生成已经走通了，封装和解封装按同样方式交给 Agent，也应该能较快做出可用的结果。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65973"/>
            <a:ext cx="1132027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dirty="0" err="1">
                <a:solidFill>
                  <a:srgbClr val="16324F"/>
                </a:solidFill>
                <a:latin typeface="Microsoft YaHei"/>
              </a:rPr>
              <a:t>项目前期：高维度算子自主探索的结果</a:t>
            </a:r>
            <a:endParaRPr sz="20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512064"/>
            <a:ext cx="1132027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C6B7A"/>
                </a:solidFill>
                <a:latin typeface="Microsoft YaHei"/>
              </a:rPr>
              <a:t>相对预期：总体不满意。正确性达成，但代价高、形态差、性能不可用。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7315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4/4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320272" cy="77724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110185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相对预期的总判断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当时以为：密钥生成走通后，封装与解封装也能较快做出可用结果。实际并非如此——不是算不对，而是交出来的东西又贵又不可用。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78308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847088"/>
            <a:ext cx="53035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实际实现情况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48840"/>
          <a:ext cx="5303519" cy="1741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评价维度</a:t>
                      </a:r>
                    </a:p>
                  </a:txBody>
                  <a:tcPr anchor="ctr"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是否达成预期效果</a:t>
                      </a:r>
                    </a:p>
                  </a:txBody>
                  <a:tcPr anchor="ctr">
                    <a:solidFill>
                      <a:srgbClr val="FB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开发时间与配额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未达成预期：本指望像密钥生成一样，短时开发、配额也轻；实际封装/解封装各约半天完成开发，但 Token 配额吃掉月度大头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正确性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达成：通过全部测试，输出与参考一致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工程形态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未达成预期：路径粗糙，交不出可交付代码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性能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未达成预期：明显慢于后来交付路线，差到不能用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60" y="17830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601A"/>
                </a:solidFill>
                <a:latin typeface="Microsoft YaHei"/>
              </a:rPr>
              <a:t>资源消耗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46520" y="214884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口径</a:t>
                      </a: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实际消耗</a:t>
                      </a: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封装开放探索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开发约半天；合计约占当月配额三分之二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解封装单算子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开发约半天；开放探索约占当月配额三分之二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384C"/>
                          </a:solidFill>
                          <a:latin typeface="Microsoft YaHei"/>
                        </a:rPr>
                        <a:t>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"/>
                        </a:rPr>
                        <a:t>短时间开销很高；不作未审计倍数宣称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38912" y="38862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" y="3886200"/>
            <a:ext cx="3611880" cy="32918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913632"/>
            <a:ext cx="3429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正确性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79392"/>
            <a:ext cx="33832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达成。正确性是硬指标：封装与解封装须通过全部测试。当时按此验收通过，输出与参考一致。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38862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33672" y="3886200"/>
            <a:ext cx="3611880" cy="32918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5112" y="3913632"/>
            <a:ext cx="3429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601A"/>
                </a:solidFill>
                <a:latin typeface="Microsoft YaHei"/>
              </a:rPr>
              <a:t>工程形态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79392"/>
            <a:ext cx="33832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不理想。实现路径简单粗暴，几乎不为 NPU 与 AscendC 特点做设计；launch、搬运与同步偏多，结构交不出去。只能当对拍标本，不能当交付代码。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38862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28432" y="3886200"/>
            <a:ext cx="3611880" cy="329184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913632"/>
            <a:ext cx="3429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A2F"/>
                </a:solidFill>
                <a:latin typeface="Microsoft YaHei"/>
              </a:rPr>
              <a:t>性能分析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279392"/>
            <a:ext cx="33832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相对后来交付路线：封装大约慢四成，解封装大约慢三成多。主要不是单点算子慢，而是拼装方式把整条链拖重了；这种量级的差距已经差到不能用。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5806440"/>
            <a:ext cx="11320272" cy="50292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143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833872"/>
            <a:ext cx="110185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 err="1">
                <a:solidFill>
                  <a:srgbClr val="D9601A"/>
                </a:solidFill>
                <a:latin typeface="Microsoft YaHei"/>
              </a:rPr>
              <a:t>结论：底层能力看起来齐了，并不等于</a:t>
            </a:r>
            <a:r>
              <a:rPr sz="1200" b="1" dirty="0">
                <a:solidFill>
                  <a:srgbClr val="D9601A"/>
                </a:solidFill>
                <a:latin typeface="Microsoft YaHei"/>
              </a:rPr>
              <a:t> Agent </a:t>
            </a:r>
            <a:r>
              <a:rPr sz="1200" b="1" dirty="0" err="1">
                <a:solidFill>
                  <a:srgbClr val="D9601A"/>
                </a:solidFill>
                <a:latin typeface="Microsoft YaHei"/>
              </a:rPr>
              <a:t>可以不加边界地快好做完封装与解封装。把对拍当成完成，交不出可交付形态</a:t>
            </a:r>
            <a:r>
              <a:rPr sz="1200" b="1" dirty="0">
                <a:solidFill>
                  <a:srgbClr val="D9601A"/>
                </a:solidFill>
                <a:latin typeface="Microsoft YaHei"/>
              </a:rPr>
              <a:t>——</a:t>
            </a:r>
            <a:r>
              <a:rPr sz="1200" b="1" dirty="0" err="1">
                <a:solidFill>
                  <a:srgbClr val="D9601A"/>
                </a:solidFill>
                <a:latin typeface="Microsoft YaHei"/>
              </a:rPr>
              <a:t>这是后面要谈边界的事实入口</a:t>
            </a:r>
            <a:r>
              <a:rPr sz="1200" b="1" dirty="0">
                <a:solidFill>
                  <a:srgbClr val="D9601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11320272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</a:rPr>
              <a:t>从开放探索结果抽出的问题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12064"/>
            <a:ext cx="1132027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C6B7A"/>
                </a:solidFill>
                <a:latin typeface="Microsoft YaHei"/>
              </a:rPr>
              <a:t>正确性达成之后，卡住的是开发时间与配额、工程形态和性能——指向同一类缺口。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65392"/>
            <a:ext cx="8686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5/11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896112"/>
            <a:ext cx="11320272" cy="65836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1101852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324F"/>
                </a:solidFill>
                <a:latin typeface="Microsoft YaHei"/>
              </a:rPr>
              <a:t>事实收束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封装 / 解封装：测试全过；开发各约半天，但 Token 配额吃掉月度大头；形态交不出去；性能明显慢于后来交付路线。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64208"/>
            <a:ext cx="1132027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Microsoft YaHei"/>
              </a:rPr>
              <a:t>四组问题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965960"/>
          <a:ext cx="1132027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问题组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要问的事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和前期事实怎么接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开工依据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动手前，什么算「已经可以站上去」？凭目录印象，还是可写清的依据？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若「家底齐了」只是体感，开放探索就会漂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组合代价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单块能对拍，拼起来是否自动合法？组合要不要单独验收？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能对上字节，不等于沿可交付路径长出来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搜索边界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只给算法说明 + 已有能力清单，不给拼装路线，搜索会有多大？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配额烧穿与路径粗糙的直接来源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复用方式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一次手把手成功，怎样变成下次开工前的规矩，而不是再开放搜一遍？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384C"/>
                          </a:solidFill>
                          <a:latin typeface="Microsoft YaHei"/>
                        </a:rPr>
                        <a:t>密钥生成顺利，并不自动复制到封装 / 解封装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38912" y="5394960"/>
            <a:ext cx="11320272" cy="65836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143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5468112"/>
            <a:ext cx="11018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601A"/>
                </a:solidFill>
                <a:latin typeface="Microsoft YaHei"/>
              </a:rPr>
              <a:t>结论：四组问题指向同一条主线——开放生成 ≠ 合法、可交付的派生。后文给出边界与工具，本页不展开定义。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11320272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</a:rPr>
              <a:t>为什么必须先谈方法——AI 不等于自动加速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12064"/>
            <a:ext cx="1132027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C6B7A"/>
                </a:solidFill>
                <a:latin typeface="Microsoft YaHei"/>
              </a:rPr>
              <a:t>同一个任务，终点是钉死的；把 AI 放进开放空间，代价先来、成果后到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65392"/>
            <a:ext cx="8686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6/11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960120"/>
            <a:ext cx="2743200" cy="13258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051560"/>
            <a:ext cx="24688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任务终点钉死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24688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实机真能跑起来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输出与参考实现逐项对上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技术路线不规定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1463040"/>
            <a:ext cx="530352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77639" y="960120"/>
            <a:ext cx="2743200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778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33087" y="1051560"/>
            <a:ext cx="24688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9601A"/>
                </a:solidFill>
                <a:latin typeface="Microsoft YaHei"/>
              </a:rPr>
              <a:t>AI 在开放空间自搜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1371600"/>
            <a:ext cx="24688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目标只给一句话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边界、禁区都不给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· 自己判断算不算做完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03720" y="1463040"/>
            <a:ext cx="530352" cy="292608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89520" y="960120"/>
            <a:ext cx="1353312" cy="132588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2" y="1051560"/>
            <a:ext cx="1207008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23A2F"/>
                </a:solidFill>
                <a:latin typeface="Microsoft YaHei"/>
              </a:rPr>
              <a:t>死路当捷径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1600200"/>
            <a:ext cx="1207008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在已废弃方向上反复返工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960120"/>
            <a:ext cx="1353312" cy="132588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1051560"/>
            <a:ext cx="1207008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23A2F"/>
                </a:solidFill>
                <a:latin typeface="Microsoft YaHei"/>
              </a:rPr>
              <a:t>仿真通过当终审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600200"/>
            <a:ext cx="1207008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没上实机就宣布结项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960120"/>
            <a:ext cx="1353312" cy="132588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88752" y="1051560"/>
            <a:ext cx="1207008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23A2F"/>
                </a:solidFill>
                <a:latin typeface="Microsoft YaHei"/>
              </a:rPr>
              <a:t>结果碰巧对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1600200"/>
            <a:ext cx="1207008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过程发散、形态不可交付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59152"/>
            <a:ext cx="41605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B23A2F"/>
                </a:solidFill>
                <a:latin typeface="Microsoft YaHei"/>
              </a:rPr>
              <a:t>三类失败，都不是「模型不够强」，而是「没有边界」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2697480"/>
            <a:ext cx="1132027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8912" y="2697480"/>
            <a:ext cx="11320272" cy="43891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2697480"/>
            <a:ext cx="110185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601A"/>
                </a:solidFill>
                <a:latin typeface="Microsoft YaHei"/>
              </a:rPr>
              <a:t>真实伤疤：</a:t>
            </a:r>
            <a:r>
              <a:rPr sz="1250" b="1">
                <a:solidFill>
                  <a:srgbClr val="16324F"/>
                </a:solidFill>
                <a:latin typeface="Microsoft YaHei"/>
              </a:rPr>
              <a:t>放开让 Agent 自己「把PQC算法ML-KEM的优化实现方案列出来、做出来」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24612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310128"/>
            <a:ext cx="25511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Microsoft YaHei"/>
              </a:rPr>
              <a:t>看起来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639312"/>
            <a:ext cx="2551176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放手让AI探索（基于自研资料库）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结果能与参考实现对上，像是做完了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0984" y="324612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397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92424" y="3310128"/>
            <a:ext cx="25511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601A"/>
                </a:solidFill>
                <a:latin typeface="Microsoft YaHei"/>
              </a:rPr>
              <a:t>摊开看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2424" y="3639312"/>
            <a:ext cx="2551176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只保结果对，几乎不管架构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搜索不设边界、结果AI反复碰壁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324612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54496" y="3310128"/>
            <a:ext cx="25511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代价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3639312"/>
            <a:ext cx="2551176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短时间吃掉当月大部分额度，还沉淀了错的「经验」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5128" y="324612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16568" y="3310128"/>
            <a:ext cx="25511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性质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8" y="3639312"/>
            <a:ext cx="2551176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伪完成：过程发散、形态不可用，钱和时间被烧掉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09160"/>
            <a:ext cx="11018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7D4F"/>
                </a:solidFill>
                <a:latin typeface="Microsoft YaHei"/>
              </a:rPr>
              <a:t>同一件事后来用自研方法论重做：整套 ML-KEM 可在数小时内完成，额度占用降到一小部分。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Microsoft YaHei"/>
              </a:rPr>
              <a:t>口径：属实施体感，非同任务严格对账，不作倍数宣称。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" y="5961888"/>
            <a:ext cx="11320272" cy="420624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8912" y="5961888"/>
            <a:ext cx="82296" cy="420624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5961888"/>
            <a:ext cx="1097280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A2F"/>
                </a:solidFill>
                <a:latin typeface="Microsoft YaHei"/>
              </a:rPr>
              <a:t>结论：真问题不是「要不要用 AI」，而是「用 AI 之前先把边界给出来」。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11320272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</a:rPr>
              <a:t>我们现在怎么干，以及用到哪几样数学工具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12064"/>
            <a:ext cx="11320272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C6B7A"/>
                </a:solidFill>
                <a:latin typeface="Microsoft YaHei"/>
              </a:rPr>
              <a:t>先把工程上已经认准的做法说清楚；再说明三样工具各自管哪一块。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65392"/>
            <a:ext cx="8686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7/11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3202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32688"/>
            <a:ext cx="11018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Microsoft YaHei"/>
              </a:rPr>
              <a:t>工程上已经认准的几件事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109728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1. 手里要有一张「谁依赖谁、谁已经验过」的图。清单只能当线索，不能当成怎么拼的说明书。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2. 接到一个目标，不是把库里相关的都拷过来；而是从目标往下展开：已有什么、还缺什么、哪条路不许走，再决定最少补哪几项。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3. 两块各自测通了，拼在一起还得再验一遍——组合不是白送的。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4. 底下接口约定一改，上面不能继续拿「上次测通过」当仍然有效。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384C"/>
                </a:solidFill>
                <a:latin typeface="Microsoft YaHei"/>
              </a:rPr>
              <a:t>5. 对拍只回答「算得对不对」；方法回答的是「允许怎么往上拼」。两件事不要混成一件。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71800"/>
            <a:ext cx="1132027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601A"/>
                </a:solidFill>
                <a:latin typeface="Microsoft YaHei"/>
              </a:rPr>
              <a:t>三样数学工具，各自管什么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912" y="3273552"/>
          <a:ext cx="113202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工具</a:t>
                      </a: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它回答的问题</a:t>
                      </a: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324F"/>
                          </a:solidFill>
                          <a:latin typeface="Microsoft YaHei"/>
                        </a:rPr>
                        <a:t>落到工程上就是</a:t>
                      </a: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依赖图（及闭包）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384C"/>
                          </a:solidFill>
                          <a:latin typeface="Microsoft YaHei"/>
                        </a:rPr>
                        <a:t>能站在谁身上？动手前还缺谁？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384C"/>
                          </a:solidFill>
                          <a:latin typeface="Microsoft YaHei"/>
                        </a:rPr>
                        <a:t>画依赖、定探路顺序；用一张表核「已有 / 还缺」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形式语言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384C"/>
                          </a:solidFill>
                          <a:latin typeface="Microsoft YaHei"/>
                        </a:rPr>
                        <a:t>这种拼法算不算合法？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384C"/>
                          </a:solidFill>
                          <a:latin typeface="Microsoft YaHei"/>
                        </a:rPr>
                        <a:t>写出拼装计划；门禁查计划；明确哪些拼法禁止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384C"/>
                          </a:solidFill>
                          <a:latin typeface="Microsoft YaHei"/>
                        </a:rPr>
                        <a:t>自动机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384C"/>
                          </a:solidFill>
                          <a:latin typeface="Microsoft YaHei"/>
                        </a:rPr>
                        <a:t>这次作业走到哪了？证书何时作废？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384C"/>
                          </a:solidFill>
                          <a:latin typeface="Microsoft YaHei"/>
                        </a:rPr>
                        <a:t>按步骤展开、取证、写入；上游一变，下游旧证书作废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38912" y="5440680"/>
            <a:ext cx="11320272" cy="6217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5486400"/>
            <a:ext cx="110185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384C"/>
                </a:solidFill>
                <a:latin typeface="Microsoft YaHei"/>
              </a:rPr>
              <a:t>实际干活时的顺序：先弄清还缺谁，再看计划合不合法，再一步步往前走；该获证就获证，该作废就作废。这些工具不替你证明「算得对」——那仍靠对拍；它们只管「在已有能力上怎么推进才说得清、收得住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65973"/>
            <a:ext cx="11320272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有向无环图</a:t>
            </a:r>
            <a:r>
              <a:rPr lang="en-US" altLang="zh-CN" sz="20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DAG</a:t>
            </a:r>
            <a:r>
              <a:rPr lang="zh-CN" altLang="en-US" sz="20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：目标集</a:t>
            </a:r>
            <a:r>
              <a:rPr sz="20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sz="2000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已获证</a:t>
            </a:r>
            <a:r>
              <a:rPr lang="zh-CN" altLang="en-US" sz="20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明</a:t>
            </a:r>
            <a:r>
              <a:rPr sz="2000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集与缺项</a:t>
            </a:r>
            <a:endParaRPr sz="2000" b="1" dirty="0">
              <a:solidFill>
                <a:srgbClr val="16324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565392"/>
            <a:ext cx="8686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8/11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9181"/>
            <a:ext cx="5715000" cy="23914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符号说明：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G：依赖图，画「谁依赖谁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」。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写作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G=(V,E)。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V：图上的顶点集合；每个顶点是一项能力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模块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任务点（如平台、原语、某算法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）。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E：依赖边；箭头终点依赖箭头起点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T：当前盯住的某一个目标顶点（单点目标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）。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A：目标集，一批要一起完成的目标；单点时写作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A={T}。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22384C"/>
                </a:solidFill>
                <a:latin typeface="Microsoft YaHei"/>
              </a:rPr>
              <a:t>Dep*(T)：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完成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T 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所需的全部先决顶点（含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T 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自身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）。Dep*(A)：对 A 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里每个目标取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Dep* 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再并起来，称为目标集的依赖闭包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Γ（大写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Gamma）：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已获证集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当前已经验收通过、允许被后续引用的那些顶点。证书：某个顶点「已通过约定验收」这一事实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Missing_Γ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(A)：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缺项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闭包里还没进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 Γ 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的那些顶点。公式：Missing_Γ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(A) := Dep*(A) ∖ 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Γ。空集则称闭包已满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。</a:t>
            </a:r>
            <a:endParaRPr lang="en-US" sz="110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5080" y="2992867"/>
            <a:ext cx="5486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dirty="0">
                <a:solidFill>
                  <a:srgbClr val="16324F"/>
                </a:solidFill>
                <a:latin typeface="Microsoft YaHei"/>
              </a:rPr>
              <a:t>例 2（KEM.KeyGen）。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dirty="0" err="1">
                <a:solidFill>
                  <a:srgbClr val="22384C"/>
                </a:solidFill>
                <a:latin typeface="Microsoft YaHei"/>
              </a:rPr>
              <a:t>这里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T 取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KEM.KG。若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Γ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已含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{P0,P1,P2}，但 Tail（Alg.16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尾缝）还不在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Γ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里，则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Missing_Γ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(T)={Tail}——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闭包还差这一项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。</a:t>
            </a:r>
          </a:p>
        </p:txBody>
      </p:sp>
      <p:pic>
        <p:nvPicPr>
          <p:cNvPr id="8" name="Picture 7" descr="fig_kem_d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523219"/>
            <a:ext cx="5486400" cy="18801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749808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dirty="0">
                <a:solidFill>
                  <a:srgbClr val="16324F"/>
                </a:solidFill>
                <a:latin typeface="Microsoft YaHei"/>
              </a:rPr>
              <a:t>例 1（四点图）。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dirty="0">
                <a:solidFill>
                  <a:srgbClr val="22384C"/>
                </a:solidFill>
                <a:latin typeface="Microsoft YaHei"/>
              </a:rPr>
              <a:t>Dep*(4)={1,2,3,4}；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当前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Γ={1,2,4} ⇒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Missing_Γ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(4)={3}（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图中橙底「缺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」）。</a:t>
            </a:r>
          </a:p>
        </p:txBody>
      </p:sp>
      <p:pic>
        <p:nvPicPr>
          <p:cNvPr id="10" name="Picture 9" descr="fig_dep_f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78236"/>
            <a:ext cx="5486400" cy="150522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0370" y="6117905"/>
            <a:ext cx="11320272" cy="4754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810" y="6248696"/>
            <a:ext cx="11064240" cy="2139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</a:t>
            </a:r>
            <a:r>
              <a:rPr lang="zh-CN" altLang="en-US"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方法论里的作用：动手前先算清「为了目标必须有谁、现在还缺谁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」；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菜单只给候选，不能代替闭包与缺项。补齐缺项、闭包已满，才谈得上往上拼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B1D24B-6C6C-CF53-D07D-279BC60C5D3C}"/>
              </a:ext>
            </a:extLst>
          </p:cNvPr>
          <p:cNvSpPr/>
          <p:nvPr/>
        </p:nvSpPr>
        <p:spPr>
          <a:xfrm>
            <a:off x="350520" y="3050145"/>
            <a:ext cx="5854700" cy="2556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797D9D2E-00D5-1FBD-C8C6-470765DE7006}"/>
              </a:ext>
            </a:extLst>
          </p:cNvPr>
          <p:cNvSpPr txBox="1"/>
          <p:nvPr/>
        </p:nvSpPr>
        <p:spPr>
          <a:xfrm>
            <a:off x="420370" y="3136340"/>
            <a:ext cx="5715000" cy="29992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 </a:t>
            </a:r>
            <a:r>
              <a:rPr lang="en-US" altLang="zh-CN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（目标集与依赖闭包）：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非空有限集 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A⊆V 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称为目标集。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Dep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(A) := ∪_{T∈A} Dep*(T)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代表完成目标集 </a:t>
            </a:r>
            <a:r>
              <a:rPr lang="en-US" altLang="zh-CN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中全部目标所需先决的并集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altLang="zh-CN"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lang="zh-CN" altLang="en-US"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300"/>
              </a:spcAft>
            </a:pP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 </a:t>
            </a:r>
            <a:r>
              <a:rPr lang="en-US" altLang="zh-CN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（证书与已获证明集）：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顶点获证后写入 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Γ⊆V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，随作业过程可变。</a:t>
            </a:r>
            <a:r>
              <a:rPr lang="en-US" altLang="zh-CN" sz="10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 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已证明的能力集</a:t>
            </a:r>
            <a:r>
              <a:rPr lang="en-US" altLang="zh-CN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当前允许被后续任务引用的能力集合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altLang="zh-CN" sz="105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300"/>
              </a:spcAft>
            </a:pPr>
            <a:endParaRPr lang="zh-CN" altLang="en-US" sz="1050" b="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300"/>
              </a:spcAft>
            </a:pP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 </a:t>
            </a:r>
            <a:r>
              <a:rPr lang="en-US" altLang="zh-CN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（缺项与闭包已满）：</a:t>
            </a:r>
            <a:r>
              <a:rPr lang="en-US" altLang="zh-CN"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Missing_Γ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(A)=∅ 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时称相对 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 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闭包已满，即 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Dep*(A)⊆Γ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r>
              <a:rPr lang="en-US" altLang="zh-CN" sz="105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Missing_Γ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(A) 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代表要完成目标集 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的话、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相对 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 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而言目前还缺失的必要能力</a:t>
            </a:r>
            <a:endParaRPr lang="en-US" altLang="zh-CN" sz="105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300"/>
              </a:spcAft>
            </a:pPr>
            <a:endParaRPr lang="zh-CN" altLang="en-US" sz="1050" b="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300"/>
              </a:spcAft>
            </a:pP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 </a:t>
            </a:r>
            <a:r>
              <a:rPr lang="en-US" altLang="zh-CN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（闭包表、菜单与补缺）：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闭包表至少记 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(A, Γ, Dep*(A), </a:t>
            </a:r>
            <a:r>
              <a:rPr lang="en-US" altLang="zh-CN"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Missing_Γ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(A))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，写码前先交齐。菜单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可见能力候选清单，≠</a:t>
            </a:r>
            <a:r>
              <a:rPr lang="en-US" altLang="zh-CN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补缺</a:t>
            </a:r>
            <a:r>
              <a:rPr lang="en-US" altLang="zh-CN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选取缺项；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逐渐补充缺失能力并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写入 </a:t>
            </a:r>
            <a:r>
              <a:rPr lang="en-US" altLang="zh-CN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，直到闭包 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Dep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(A) 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已满（等价于 </a:t>
            </a:r>
            <a:r>
              <a:rPr lang="en-US" altLang="zh-CN" sz="105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Missing_Γ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(A)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变成空集，此时就意味着要完成目标集 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的所有必须能力都已具备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lang="zh-CN" altLang="en-US" sz="11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性质 </a:t>
            </a:r>
            <a:r>
              <a:rPr lang="en-US" altLang="zh-CN" sz="12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（菜单、</a:t>
            </a:r>
            <a:r>
              <a:rPr lang="en-US" altLang="zh-CN" sz="12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 </a:t>
            </a:r>
            <a:r>
              <a:rPr lang="zh-CN" altLang="en-US" sz="12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与闭包）。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菜单上可用后续能力项多 ⇏ </a:t>
            </a:r>
            <a:r>
              <a:rPr lang="en-US" altLang="zh-CN"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Missing_Γ</a:t>
            </a:r>
            <a:r>
              <a:rPr lang="en-US" altLang="zh-CN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(T)=∅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。必须先算 </a:t>
            </a:r>
            <a:r>
              <a:rPr lang="en-US" altLang="zh-CN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Dep*(T)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，再与当前 </a:t>
            </a:r>
            <a:r>
              <a:rPr lang="en-US" altLang="zh-CN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Γ 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做差。菜单答「可能有谁」；闭包与缺项答「必须有谁、还缺谁」。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11320272" cy="32918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6324F"/>
                </a:solidFill>
                <a:latin typeface="Microsoft YaHei"/>
              </a:rPr>
              <a:t>形式语言与合法拼装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65392"/>
            <a:ext cx="8686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9/11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884" y="755270"/>
            <a:ext cx="5715000" cy="163121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dirty="0" err="1">
                <a:solidFill>
                  <a:srgbClr val="16324F"/>
                </a:solidFill>
                <a:latin typeface="Microsoft YaHei"/>
              </a:rPr>
              <a:t>符号说明</a:t>
            </a:r>
            <a:r>
              <a:rPr sz="1150" b="1" dirty="0">
                <a:solidFill>
                  <a:srgbClr val="16324F"/>
                </a:solidFill>
                <a:latin typeface="Microsoft YaHei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zh-CN" altLang="zh-CN" sz="10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门禁</a:t>
            </a:r>
            <a:r>
              <a:rPr lang="zh-CN" altLang="en-US" sz="10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zh-CN" altLang="zh-CN" sz="10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指</a:t>
            </a:r>
            <a:r>
              <a:rPr lang="zh-CN" altLang="en-US" sz="10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</a:t>
            </a:r>
            <a:r>
              <a:rPr lang="zh-CN" altLang="zh-CN" sz="10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工作流里「允许或拒绝某步动作」的检查规则（例如：缺项非空则禁止直接写顶层实现；引用未获证依赖则拒绝）</a:t>
            </a:r>
            <a:endParaRPr lang="en-US" sz="105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dirty="0" err="1">
                <a:solidFill>
                  <a:srgbClr val="22384C"/>
                </a:solidFill>
                <a:latin typeface="Microsoft YaHei"/>
              </a:rPr>
              <a:t>Σ：字母表，可用步骤的集合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；字母＝一步动作（已证能力或接缝动作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）。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dirty="0" err="1">
                <a:solidFill>
                  <a:srgbClr val="22384C"/>
                </a:solidFill>
                <a:latin typeface="Microsoft YaHei"/>
              </a:rPr>
              <a:t>w：一份拼装计划，看成字母排成的字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dirty="0" err="1">
                <a:solidFill>
                  <a:srgbClr val="22384C"/>
                </a:solidFill>
                <a:latin typeface="Microsoft YaHei"/>
              </a:rPr>
              <a:t>L：合法计划集合（语言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）；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w∈L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 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表示门禁承认这份计划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dirty="0" err="1">
                <a:solidFill>
                  <a:srgbClr val="22384C"/>
                </a:solidFill>
                <a:latin typeface="Microsoft YaHei"/>
              </a:rPr>
              <a:t>Forbidden：禁止拼法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——</a:t>
            </a:r>
            <a:r>
              <a:rPr sz="1050" b="0" dirty="0" err="1">
                <a:solidFill>
                  <a:srgbClr val="22384C"/>
                </a:solidFill>
                <a:latin typeface="Microsoft YaHei"/>
              </a:rPr>
              <a:t>合法计划里不得出现的子串或关闭路线</a:t>
            </a:r>
            <a:r>
              <a:rPr sz="1050" b="0" dirty="0">
                <a:solidFill>
                  <a:srgbClr val="22384C"/>
                </a:solidFill>
                <a:latin typeface="Microsoft YaHei"/>
              </a:rPr>
              <a:t>。</a:t>
            </a:r>
            <a:endParaRPr lang="en-US" sz="1050" b="0" dirty="0">
              <a:solidFill>
                <a:srgbClr val="22384C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050" b="0" dirty="0">
              <a:solidFill>
                <a:srgbClr val="22384C"/>
              </a:solidFill>
              <a:latin typeface="Microsoft YaHei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603" y="977494"/>
            <a:ext cx="5486400" cy="35147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8912" y="5852160"/>
            <a:ext cx="11320272" cy="53035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5894198"/>
            <a:ext cx="11064240" cy="44627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在本方法论里的作用：形式语言管「怎样拼才算合法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」。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依赖闭包齐了还不够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还要成员判定过关、躲开</a:t>
            </a:r>
            <a:r>
              <a:rPr lang="zh-CN" altLang="en-US"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禁止项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单点</a:t>
            </a:r>
            <a:r>
              <a:rPr lang="zh-CN" altLang="en-US"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能力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PASS、菜单</a:t>
            </a:r>
            <a:r>
              <a:rPr lang="zh-CN" altLang="en-US"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</a:t>
            </a:r>
            <a:r>
              <a:rPr lang="zh-CN" altLang="en-US" sz="11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可用能力</a:t>
            </a:r>
            <a:r>
              <a:rPr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zh-CN" altLang="en-US"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不代表能力之间的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接缝</a:t>
            </a:r>
            <a:r>
              <a:rPr lang="zh-CN" altLang="en-US" sz="11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</a:t>
            </a:r>
            <a:r>
              <a:rPr sz="11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合法</a:t>
            </a:r>
            <a:endParaRPr sz="11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68547C-2057-6DE1-90B2-52960BEBEEBF}"/>
              </a:ext>
            </a:extLst>
          </p:cNvPr>
          <p:cNvSpPr/>
          <p:nvPr/>
        </p:nvSpPr>
        <p:spPr>
          <a:xfrm>
            <a:off x="438912" y="2428524"/>
            <a:ext cx="5854700" cy="25213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9D9FA7E-DD9B-2F7B-2430-0A28934E2285}"/>
              </a:ext>
            </a:extLst>
          </p:cNvPr>
          <p:cNvSpPr txBox="1"/>
          <p:nvPr/>
        </p:nvSpPr>
        <p:spPr>
          <a:xfrm>
            <a:off x="523748" y="2428524"/>
            <a:ext cx="5715000" cy="24237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5（字母表与字）：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非空有限集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Σ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为字母表；字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w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是字母的有限序列。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作用：把「怎么拼」从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能力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写成可检查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、可验证功能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的符号串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可用能力组成字母表，单次编程就是一个拼装计划、是可用能力的有限序列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sz="1050" b="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6（语言）：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L⊆Σ*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称为语言；w∈L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读作「计划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w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合法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」。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作用：合法拼法不是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说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「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菜单上有这些能力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就可以拼装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」，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而是「整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个拼装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计划落在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L 里」——L 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是门禁承认的全体合法拼法</a:t>
            </a:r>
            <a:endParaRPr lang="en-US" sz="1050" b="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7（成员判定）：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给定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L 与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w，判定是否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w∈L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的过程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这是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门禁的数学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交上来的拼装计划认不认，就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靠此过程给出数学判定结果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不靠感觉，不靠单点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PASS</a:t>
            </a:r>
            <a:endParaRPr lang="en-US"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300"/>
              </a:spcAft>
            </a:pPr>
            <a:r>
              <a:rPr sz="105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8（</a:t>
            </a:r>
            <a:r>
              <a:rPr lang="zh-CN" altLang="en-US"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禁止项</a:t>
            </a:r>
            <a:r>
              <a:rPr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05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与组合不免费</a:t>
            </a:r>
            <a:r>
              <a:rPr sz="105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）：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Forbidden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收集不得出现的因子；组合不免费：x,y∈L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不必推出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xy∈L。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</a:t>
            </a:r>
            <a:r>
              <a:rPr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禁止项明确定义已</a:t>
            </a:r>
            <a:r>
              <a:rPr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关</a:t>
            </a:r>
            <a:r>
              <a:rPr lang="zh-CN" altLang="en-US"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闭路线、或者</a:t>
            </a:r>
            <a:r>
              <a:rPr sz="105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明确不许走的路；并说明两块各自合法粘起来仍可能非法</a:t>
            </a:r>
            <a:r>
              <a:rPr sz="105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能力与能力之间</a:t>
            </a:r>
            <a:r>
              <a:rPr sz="105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接缝必须单独写进计划并获</a:t>
            </a:r>
            <a:r>
              <a:rPr lang="zh-CN" altLang="en-US" sz="105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测试证明</a:t>
            </a:r>
            <a:endParaRPr sz="10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3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20272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16324F"/>
                </a:solidFill>
                <a:latin typeface="Microsoft YaHei"/>
              </a:rPr>
              <a:t>作业过程自动机</a:t>
            </a:r>
            <a:endParaRPr sz="20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565392"/>
            <a:ext cx="8686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10/11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38912"/>
            <a:ext cx="11320272" cy="44114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dirty="0" err="1">
                <a:solidFill>
                  <a:srgbClr val="16324F"/>
                </a:solidFill>
                <a:latin typeface="Microsoft YaHei"/>
              </a:rPr>
              <a:t>符号说明</a:t>
            </a:r>
            <a:r>
              <a:rPr sz="1100" b="1" dirty="0">
                <a:solidFill>
                  <a:srgbClr val="16324F"/>
                </a:solidFill>
                <a:latin typeface="Microsoft YaHei"/>
              </a:rPr>
              <a:t>：</a:t>
            </a:r>
            <a:endParaRPr lang="en-US" sz="1100" b="1" dirty="0">
              <a:solidFill>
                <a:srgbClr val="16324F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22384C"/>
                </a:solidFill>
                <a:latin typeface="Microsoft YaHei"/>
              </a:rPr>
              <a:t>q=(Γ,F,S)＝</a:t>
            </a:r>
            <a:r>
              <a:rPr sz="1000" b="0" dirty="0" err="1">
                <a:solidFill>
                  <a:srgbClr val="22384C"/>
                </a:solidFill>
                <a:latin typeface="Microsoft YaHei"/>
              </a:rPr>
              <a:t>预研配置；Γ＝已获证集；F</a:t>
            </a:r>
            <a:r>
              <a:rPr sz="1000" b="0" dirty="0">
                <a:solidFill>
                  <a:srgbClr val="22384C"/>
                </a:solidFill>
                <a:latin typeface="Microsoft YaHei"/>
              </a:rPr>
              <a:t>＝</a:t>
            </a:r>
            <a:r>
              <a:rPr lang="zh-CN" altLang="en-US" sz="1000" b="0" dirty="0">
                <a:solidFill>
                  <a:srgbClr val="22384C"/>
                </a:solidFill>
                <a:latin typeface="Microsoft YaHei"/>
              </a:rPr>
              <a:t>前沿目标的有限多重集（待展开或待获证的目标）</a:t>
            </a:r>
            <a:r>
              <a:rPr sz="1000" b="0" dirty="0">
                <a:solidFill>
                  <a:srgbClr val="22384C"/>
                </a:solidFill>
                <a:latin typeface="Microsoft YaHei"/>
              </a:rPr>
              <a:t>；S＝</a:t>
            </a:r>
            <a:r>
              <a:rPr lang="zh-CN" altLang="en-US" sz="1000" b="0" dirty="0">
                <a:solidFill>
                  <a:srgbClr val="22384C"/>
                </a:solidFill>
                <a:latin typeface="Microsoft YaHei"/>
              </a:rPr>
              <a:t>为约束库（含</a:t>
            </a:r>
            <a:r>
              <a:rPr lang="en-US" altLang="zh-CN" sz="1000" b="0" dirty="0">
                <a:solidFill>
                  <a:srgbClr val="22384C"/>
                </a:solidFill>
                <a:latin typeface="Microsoft YaHei"/>
              </a:rPr>
              <a:t>I/O</a:t>
            </a:r>
            <a:r>
              <a:rPr lang="zh-CN" altLang="en-US" sz="1000" b="0" dirty="0">
                <a:solidFill>
                  <a:srgbClr val="22384C"/>
                </a:solidFill>
                <a:latin typeface="Microsoft YaHei"/>
              </a:rPr>
              <a:t>契约、接缝声明、禁止拼法等）</a:t>
            </a:r>
            <a:r>
              <a:rPr sz="1000" b="0" dirty="0">
                <a:solidFill>
                  <a:srgbClr val="22384C"/>
                </a:solidFill>
                <a:latin typeface="Microsoft YaHei"/>
              </a:rPr>
              <a:t>；</a:t>
            </a:r>
            <a:r>
              <a:rPr sz="1000" b="0" dirty="0" err="1">
                <a:solidFill>
                  <a:srgbClr val="22384C"/>
                </a:solidFill>
                <a:latin typeface="Microsoft YaHei"/>
              </a:rPr>
              <a:t>转移＝允许动作；接受</a:t>
            </a:r>
            <a:r>
              <a:rPr sz="1000" b="0" dirty="0">
                <a:solidFill>
                  <a:srgbClr val="22384C"/>
                </a:solidFill>
                <a:latin typeface="Microsoft YaHei"/>
              </a:rPr>
              <a:t>/</a:t>
            </a:r>
            <a:r>
              <a:rPr sz="1000" b="0" dirty="0" err="1">
                <a:solidFill>
                  <a:srgbClr val="22384C"/>
                </a:solidFill>
                <a:latin typeface="Microsoft YaHei"/>
              </a:rPr>
              <a:t>拒绝＝结束判定</a:t>
            </a:r>
            <a:r>
              <a:rPr sz="1000" b="0" dirty="0">
                <a:solidFill>
                  <a:srgbClr val="22384C"/>
                </a:solidFill>
                <a:latin typeface="Microsoft Ya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011467"/>
            <a:ext cx="11320272" cy="26161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r>
            <a:r>
              <a:rPr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zh-CN" altLang="en-US"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能力状态迁移</a:t>
            </a:r>
            <a:r>
              <a:rPr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）：</a:t>
            </a:r>
            <a:r>
              <a:rPr sz="110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在约束</a:t>
            </a:r>
            <a:r>
              <a:rPr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 </a:t>
            </a:r>
            <a:r>
              <a:rPr sz="110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允许下，以下几类转移构成</a:t>
            </a:r>
            <a:r>
              <a:rPr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→ </a:t>
            </a:r>
            <a:r>
              <a:rPr sz="110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的子集</a:t>
            </a:r>
            <a:r>
              <a:rPr sz="11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8912" y="1267499"/>
          <a:ext cx="11320272" cy="1965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9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85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1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迁移</a:t>
                      </a:r>
                      <a:r>
                        <a:rPr lang="zh-CN" altLang="en-US" sz="1050" b="1" dirty="0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状态</a:t>
                      </a:r>
                      <a:endParaRPr sz="1050" b="1" dirty="0">
                        <a:solidFill>
                          <a:srgbClr val="16324F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记号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展开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Expand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按产生式展开 F 中某目标，更新缺项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取证</a:t>
                      </a:r>
                      <a:endParaRPr sz="10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Probe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对缺项启动</a:t>
                      </a:r>
                      <a:r>
                        <a:rPr lang="zh-CN" altLang="en-US"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新建开发、测试取证等方法</a:t>
                      </a:r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以寻求证据</a:t>
                      </a:r>
                      <a:endParaRPr sz="10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写入证</a:t>
                      </a:r>
                      <a:r>
                        <a:rPr lang="zh-CN" altLang="en-US"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明</a:t>
                      </a:r>
                      <a:endParaRPr sz="10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Certify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验收通过后将结点写入 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声明接缝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Compose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声明并认证接缝（落实组合</a:t>
                      </a:r>
                      <a:r>
                        <a:rPr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脏标记</a:t>
                      </a:r>
                      <a:endParaRPr sz="10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Dirty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使部分证书失效（上游</a:t>
                      </a:r>
                      <a:r>
                        <a:rPr lang="zh-CN" altLang="en-US"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计算任务</a:t>
                      </a:r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变更后下游不得</a:t>
                      </a:r>
                      <a:r>
                        <a:rPr lang="zh-CN" altLang="en-US"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直接默认任务整体仍可直接通过</a:t>
                      </a:r>
                      <a:r>
                        <a:rPr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冻结路线</a:t>
                      </a:r>
                      <a:endParaRPr sz="10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Freeze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将某路线写入禁止拼法</a:t>
                      </a:r>
                      <a:r>
                        <a:rPr sz="10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/ </a:t>
                      </a:r>
                      <a:r>
                        <a:rPr sz="10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否定约束</a:t>
                      </a:r>
                      <a:endParaRPr sz="10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" y="3288869"/>
            <a:ext cx="11320272" cy="24622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作用：门禁只允许表中这些动作改配置；作业轨迹就是这些转移的有限</a:t>
            </a:r>
            <a:r>
              <a:rPr lang="zh-CN" altLang="en-US"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工作流</a:t>
            </a:r>
            <a:r>
              <a:rPr lang="zh-CN" altLang="en-US" sz="100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</a:t>
            </a:r>
            <a:endParaRPr sz="1000" b="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" y="5989320"/>
            <a:ext cx="11320272" cy="4754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020764"/>
            <a:ext cx="11064240" cy="430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依赖图</a:t>
            </a:r>
            <a:r>
              <a:rPr lang="en-US" altLang="zh-CN"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DAG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答还缺谁，形式语言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答拼法合不合法</a:t>
            </a:r>
            <a:r>
              <a:rPr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作业过程自动机管「进度」</a:t>
            </a:r>
            <a:r>
              <a:rPr lang="en-US" altLang="zh-CN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</a:t>
            </a:r>
            <a:r>
              <a:rPr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答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现在工作流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走到哪、下一步允许做什么、证书还算不算数</a:t>
            </a:r>
            <a:endParaRPr lang="en-US" sz="1100" b="1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没有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自动机</a:t>
            </a:r>
            <a:r>
              <a:rPr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只能事后说碰巧</a:t>
            </a:r>
            <a:r>
              <a:rPr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PASS，说不清过程是否合法、证书为何作废</a:t>
            </a:r>
            <a:endParaRPr sz="1100" b="1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DB4660-9EBF-4E0D-BC71-F30E5ED9C259}"/>
              </a:ext>
            </a:extLst>
          </p:cNvPr>
          <p:cNvSpPr/>
          <p:nvPr/>
        </p:nvSpPr>
        <p:spPr>
          <a:xfrm>
            <a:off x="432510" y="3811022"/>
            <a:ext cx="11320272" cy="1735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38912" y="3923965"/>
            <a:ext cx="11320272" cy="15029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zh-CN" altLang="en-US"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 </a:t>
            </a:r>
            <a:r>
              <a:rPr lang="en-US" altLang="zh-CN"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r>
              <a:rPr lang="zh-CN" altLang="en-US"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（作业过程自动机的配置</a:t>
            </a:r>
            <a:r>
              <a:rPr lang="zh-CN" altLang="en-US" sz="10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）：作业过程自动机是一个状态迁移系统；配置</a:t>
            </a:r>
            <a:r>
              <a:rPr lang="en-US" altLang="zh-CN" sz="10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q=(Γ,F,S)</a:t>
            </a:r>
            <a:r>
              <a:rPr lang="zh-CN" altLang="en-US" sz="10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是一个三元组，描述一次作业如何合法地从一个迁移状态到另一个迁移状态</a:t>
            </a:r>
          </a:p>
          <a:p>
            <a:pPr>
              <a:spcAft>
                <a:spcPts val="200"/>
              </a:spcAft>
            </a:pPr>
            <a:r>
              <a:rPr lang="zh-CN" altLang="en-US" sz="10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zh-CN" altLang="en-US" sz="100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作用：</a:t>
            </a:r>
            <a:r>
              <a:rPr lang="en-US" altLang="zh-CN" sz="100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</a:t>
            </a:r>
            <a:r>
              <a:rPr lang="zh-CN" altLang="en-US" sz="100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可随时回答「有什么证、还欠谁、受什么约束」；把一次编程过程的「怎么推进、怎么补缺、何时算完」写成可检查状态机，而不是某次操作完成后测试发现结果碰巧 </a:t>
            </a:r>
            <a:r>
              <a:rPr lang="en-US" altLang="zh-CN" sz="100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PASS</a:t>
            </a:r>
            <a:endParaRPr lang="en-US" sz="1000" b="1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1000" b="1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</a:t>
            </a:r>
            <a:r>
              <a:rPr lang="en-US"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（接受与拒绝）：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接受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T∈Γ、前沿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F 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清空、契约满足；拒绝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用了</a:t>
            </a:r>
            <a:r>
              <a:rPr lang="zh-CN" altLang="en-US"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禁止项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或引用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∉Γ 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依赖却未先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Probe/Certify。</a:t>
            </a:r>
            <a:endParaRPr lang="en-US" sz="10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作用：合法过程＝从初始配置走到接受的有限合法转移</a:t>
            </a:r>
            <a:r>
              <a:rPr lang="zh-CN" altLang="en-US"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工作流序列</a:t>
            </a:r>
            <a:endParaRPr lang="en-US" sz="1000" b="0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0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1</a:t>
            </a:r>
            <a:r>
              <a:rPr lang="en-US"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sz="10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（脏标记）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上游约定变更后，下游证书标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dirty </a:t>
            </a:r>
            <a:r>
              <a:rPr sz="10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并移出</a:t>
            </a:r>
            <a:r>
              <a:rPr sz="10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Γ。</a:t>
            </a:r>
            <a:endParaRPr lang="en-US" sz="10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作用：证书库非单调</a:t>
            </a:r>
            <a:r>
              <a:rPr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上次</a:t>
            </a:r>
            <a:r>
              <a:rPr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PASS 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非永</a:t>
            </a:r>
            <a:r>
              <a:rPr lang="zh-CN" altLang="en-US"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久为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真；没有</a:t>
            </a:r>
            <a:r>
              <a:rPr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Dirty 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就说不清过期证</a:t>
            </a:r>
            <a:r>
              <a:rPr lang="zh-CN" altLang="en-US" sz="1000" b="0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明</a:t>
            </a:r>
            <a:r>
              <a:rPr sz="1000" b="0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为何作废</a:t>
            </a:r>
            <a:endParaRPr sz="10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3998"/>
            <a:ext cx="11365992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方法一张图</a:t>
            </a:r>
            <a:r>
              <a:rPr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sz="2100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绿灯底座</a:t>
            </a:r>
            <a:r>
              <a:rPr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× </a:t>
            </a:r>
            <a:r>
              <a:rPr sz="2100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缺项里补</a:t>
            </a:r>
            <a:r>
              <a:rPr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× 先</a:t>
            </a:r>
            <a:r>
              <a:rPr lang="zh-CN" altLang="en-US"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证明</a:t>
            </a:r>
            <a:r>
              <a:rPr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</a:t>
            </a:r>
            <a:r>
              <a:rPr lang="zh-CN" altLang="en-US"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</a:t>
            </a:r>
            <a:r>
              <a:rPr sz="2100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把「自由生成」改成「在已验证能力上的受控搜索」：下一步可枚举、可检查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2/5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60704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060704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① 先钉死终点：可核对的验收口径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1572768"/>
            <a:ext cx="365760" cy="310896"/>
          </a:xfrm>
          <a:prstGeom prst="down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" y="2115541"/>
            <a:ext cx="2448306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5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已验证</a:t>
            </a:r>
            <a:r>
              <a:rPr sz="150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底座</a:t>
            </a:r>
            <a:r>
              <a:rPr lang="zh-CN" altLang="en-US" sz="15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sz="150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496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要回答：现在能引用谁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验过、并写进索引的能力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聊天里「好像会了」不算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7D4F"/>
                </a:solidFill>
                <a:latin typeface="Microsoft YaHei"/>
              </a:rPr>
              <a:t>能引用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8698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8698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6714" y="2011680"/>
            <a:ext cx="244830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74B5"/>
                </a:solidFill>
                <a:latin typeface="Microsoft YaHei"/>
              </a:rPr>
              <a:t>缺项清单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6714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要回答：还缺什么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6714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目标所需 − 已绿灯 = 缺项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补充只许发生在缺项里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6714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6714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Microsoft YaHei"/>
              </a:rPr>
              <a:t>只在此处补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5916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85916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3932" y="2011680"/>
            <a:ext cx="244830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B23A2F"/>
                </a:solidFill>
                <a:latin typeface="Microsoft YaHei"/>
              </a:rPr>
              <a:t>禁止项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2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要回答：哪条路不能再走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3932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死路、已关闭路线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不许复用、不许当模板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3932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13932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23A2F"/>
                </a:solidFill>
                <a:latin typeface="Microsoft YaHei"/>
              </a:rPr>
              <a:t>当场拦住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3134" y="2011680"/>
            <a:ext cx="270433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73134" y="2011680"/>
            <a:ext cx="2704338" cy="47548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1150" y="2011680"/>
            <a:ext cx="244830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601A"/>
                </a:solidFill>
                <a:latin typeface="Microsoft YaHei"/>
              </a:rPr>
              <a:t>合法拼装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150" y="2578608"/>
            <a:ext cx="244830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2384C"/>
                </a:solidFill>
                <a:latin typeface="Microsoft YaHei"/>
              </a:rPr>
              <a:t>要回答：怎样算一步合法推进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1150" y="2944368"/>
            <a:ext cx="2448306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接缝要单独实现并验过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· 组合不免费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01150" y="3913632"/>
            <a:ext cx="2448306" cy="3840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01150" y="3913632"/>
            <a:ext cx="244830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601A"/>
                </a:solidFill>
                <a:latin typeface="Microsoft YaHei"/>
              </a:rPr>
              <a:t>缝也要验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5897880" y="4498848"/>
            <a:ext cx="365760" cy="310896"/>
          </a:xfrm>
          <a:prstGeom prst="downArrow">
            <a:avLst/>
          </a:prstGeom>
          <a:solidFill>
            <a:srgbClr val="D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377440" y="4919472"/>
            <a:ext cx="7406640" cy="8412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2032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77440" y="4992624"/>
            <a:ext cx="740664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② 先</a:t>
            </a:r>
            <a:r>
              <a:rPr lang="zh-CN" altLang="en-US" sz="16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证明</a:t>
            </a:r>
            <a:r>
              <a:rPr sz="1600" b="1" dirty="0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sz="1600" b="1" dirty="0" err="1">
                <a:solidFill>
                  <a:srgbClr val="D960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再写码</a:t>
            </a:r>
            <a:endParaRPr sz="1600" b="1" dirty="0">
              <a:solidFill>
                <a:srgbClr val="D960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377440" y="5340096"/>
            <a:ext cx="740664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</a:t>
            </a:r>
            <a:r>
              <a:rPr lang="zh-CN" altLang="en-US" sz="12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理清楚</a:t>
            </a:r>
            <a:r>
              <a:rPr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sz="12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</a:t>
            </a:r>
            <a:r>
              <a:rPr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· </a:t>
            </a:r>
            <a:r>
              <a:rPr sz="12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已获证能力</a:t>
            </a:r>
            <a:r>
              <a:rPr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· </a:t>
            </a:r>
            <a:r>
              <a:rPr sz="12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缺项</a:t>
            </a:r>
            <a:r>
              <a:rPr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· </a:t>
            </a:r>
            <a:r>
              <a:rPr sz="12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接缝</a:t>
            </a:r>
            <a:r>
              <a:rPr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· </a:t>
            </a:r>
            <a:r>
              <a:rPr sz="12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禁止项</a:t>
            </a:r>
            <a:r>
              <a:rPr sz="12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—— </a:t>
            </a:r>
            <a:r>
              <a:rPr lang="zh-CN" altLang="en-US" sz="125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</a:t>
            </a:r>
            <a:r>
              <a:rPr sz="12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不齐，不许开工</a:t>
            </a:r>
            <a:endParaRPr sz="125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6057553"/>
            <a:ext cx="11064240" cy="22929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希望 </a:t>
            </a:r>
            <a:r>
              <a:rPr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sz="12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在已验证能力上</a:t>
            </a:r>
            <a:r>
              <a:rPr lang="zh-CN" altLang="en-US"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进行</a:t>
            </a:r>
            <a:r>
              <a:rPr sz="12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受控搜索</a:t>
            </a:r>
            <a:endParaRPr sz="1250" b="1" dirty="0">
              <a:solidFill>
                <a:srgbClr val="1F4E7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53078"/>
            <a:ext cx="11320272" cy="36933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具体实例</a:t>
            </a:r>
            <a:r>
              <a:rPr lang="en-US" altLang="zh-CN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从单点能力，到 </a:t>
            </a:r>
            <a:r>
              <a:rPr lang="en-US" altLang="zh-CN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PKE.KeyGen</a:t>
            </a:r>
            <a:r>
              <a:rPr lang="zh-CN" altLang="en-US" b="1" dirty="0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，再补齐到 </a:t>
            </a:r>
            <a:r>
              <a:rPr lang="en-US" altLang="zh-CN" b="1" dirty="0" err="1">
                <a:solidFill>
                  <a:srgbClr val="1632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KEM.KeyGen</a:t>
            </a:r>
            <a:endParaRPr lang="zh-CN" altLang="en-US" b="1" dirty="0">
              <a:solidFill>
                <a:srgbClr val="16324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960120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11/11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420624"/>
            <a:ext cx="1965960" cy="32918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420624"/>
            <a:ext cx="1965960" cy="329184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</a:rPr>
              <a:t>1 盘点能力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502920"/>
            <a:ext cx="164592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70632" y="420624"/>
            <a:ext cx="1965960" cy="32918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143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70632" y="420624"/>
            <a:ext cx="1965960" cy="329184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01A"/>
                </a:solidFill>
                <a:latin typeface="Microsoft YaHei"/>
              </a:rPr>
              <a:t>2 确定缺项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502920"/>
            <a:ext cx="164592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02352" y="420624"/>
            <a:ext cx="1965960" cy="32918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02352" y="420624"/>
            <a:ext cx="1965960" cy="329184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</a:rPr>
              <a:t>3 有界补缺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600" y="502920"/>
            <a:ext cx="164592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34072" y="420624"/>
            <a:ext cx="1965960" cy="32918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143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4072" y="420624"/>
            <a:ext cx="1965960" cy="329184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01A"/>
                </a:solidFill>
                <a:latin typeface="Microsoft YaHei"/>
              </a:rPr>
              <a:t>4 拼装合法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8320" y="502920"/>
            <a:ext cx="164592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65792" y="420624"/>
            <a:ext cx="1965960" cy="32918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65792" y="420624"/>
            <a:ext cx="1965960" cy="329184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</a:rPr>
              <a:t>5 正确且合法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822960"/>
            <a:ext cx="11320272" cy="26930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KEM.</a:t>
            </a:r>
            <a:r>
              <a:rPr sz="11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KeyGen</a:t>
            </a:r>
            <a:r>
              <a:rPr lang="zh-CN" altLang="en-US" sz="11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</a:t>
            </a:r>
            <a:r>
              <a:rPr sz="11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子怎么</a:t>
            </a:r>
            <a:r>
              <a:rPr lang="zh-CN" altLang="en-US" sz="11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通过方法论实现</a:t>
            </a:r>
            <a:endParaRPr sz="1150" b="1" dirty="0">
              <a:solidFill>
                <a:srgbClr val="1F4E7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515007"/>
              </p:ext>
            </p:extLst>
          </p:nvPr>
        </p:nvGraphicFramePr>
        <p:xfrm>
          <a:off x="438912" y="1205150"/>
          <a:ext cx="11320272" cy="2435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848"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rgbClr val="16324F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必要操作</a:t>
                      </a:r>
                      <a:endParaRPr sz="1000" b="1" dirty="0">
                        <a:solidFill>
                          <a:srgbClr val="16324F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KEM.KeyGen</a:t>
                      </a:r>
                      <a:r>
                        <a:rPr lang="zh-CN" altLang="en-US" sz="1000" b="1" dirty="0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实现过程中的实际情况</a:t>
                      </a:r>
                      <a:endParaRPr sz="1000" b="1" dirty="0">
                        <a:solidFill>
                          <a:srgbClr val="16324F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用到的工具</a:t>
                      </a:r>
                    </a:p>
                  </a:txBody>
                  <a:tcPr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8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盘点当前已有能力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基本能力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已在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Γ：NTT、</a:t>
                      </a:r>
                      <a:r>
                        <a:rPr lang="en-US" altLang="zh-CN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SHA3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、PKE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算子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；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按拓扑序自底向上看清能引用谁</a:t>
                      </a:r>
                      <a:endParaRPr sz="9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依赖图；已获证集 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确定缺项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T=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KEM.KG；Dep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*(T) 与 Γ 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做差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→ Missing 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包含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尾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部缺项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虚线橙框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依赖闭包；缺项；闭包表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8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有限范围内补缺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只补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Missing 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里的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缺项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，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不重做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底层算子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；补一项写入 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Γ，直到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Missing=∅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补缺；Expand/Probe/Certify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8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验证拼装合法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计划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w∈L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且躲开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禁止项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；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灰框是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其他低效实现代码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，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不当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作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合法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引用</a:t>
                      </a:r>
                      <a:r>
                        <a:rPr lang="en-US" altLang="zh-CN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/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参考来源</a:t>
                      </a:r>
                      <a:endParaRPr sz="9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成员判定；Forbidden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8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6324F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认定正确且合法</a:t>
                      </a:r>
                      <a:endParaRPr sz="9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接受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代码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（T∈Γ、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前置</a:t>
                      </a:r>
                      <a:r>
                        <a:rPr 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Missing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集合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清空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）；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如果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上游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需求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变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更，</a:t>
                      </a:r>
                      <a:r>
                        <a:rPr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则</a:t>
                      </a:r>
                      <a:r>
                        <a:rPr lang="zh-CN" altLang="en-US" sz="950" b="0" dirty="0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任务链上的相关能力要进行</a:t>
                      </a:r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脏标记</a:t>
                      </a:r>
                      <a:endParaRPr sz="9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22384C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对拍；接受；Dirty</a:t>
                      </a:r>
                      <a:endParaRPr sz="950" b="0" dirty="0">
                        <a:solidFill>
                          <a:srgbClr val="22384C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" y="3994070"/>
            <a:ext cx="4937760" cy="165877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38912" y="6263640"/>
            <a:ext cx="11320272" cy="3200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143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296702"/>
            <a:ext cx="11064240" cy="25391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应用要点：先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明确需求和当前能力情况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含接缝与否定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门禁放行后再写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代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码，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如有修改则进行</a:t>
            </a:r>
            <a:r>
              <a:rPr sz="105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检查</a:t>
            </a:r>
            <a:r>
              <a:rPr lang="zh-CN" altLang="en-US"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与工作流进展评估</a:t>
            </a:r>
            <a:r>
              <a:rPr sz="105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2E9C778-AE46-D278-8A44-81C5F39060BB}"/>
              </a:ext>
            </a:extLst>
          </p:cNvPr>
          <p:cNvSpPr/>
          <p:nvPr/>
        </p:nvSpPr>
        <p:spPr>
          <a:xfrm>
            <a:off x="5468112" y="3786812"/>
            <a:ext cx="6291072" cy="20470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513832" y="3826848"/>
            <a:ext cx="6217920" cy="19902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方法论实践过程：</a:t>
            </a:r>
            <a:endParaRPr sz="1400" b="1" dirty="0">
              <a:solidFill>
                <a:srgbClr val="1F4E7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① 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闭包表栏位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收敛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：T、I/O 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契约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C、验收级别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ℓ；D=Dep*(T)；M=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Missing_Γ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(T)；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需要补充哪些能力和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接缝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还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未获证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明的能力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）；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明确禁止项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某个实现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计划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由交集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则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否决该计划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）；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已获证项须核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验、不包含脏标记</a:t>
            </a:r>
            <a:endParaRPr lang="en-US" altLang="zh-CN" sz="11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② 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门禁判</a:t>
            </a:r>
            <a:r>
              <a:rPr lang="zh-CN" altLang="en-US" sz="1100" b="1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定方法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：M≠∅ → 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只对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M 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做最小补缺轮，禁止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调用不在已证明能力中的代码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；M=∅ 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且计划合法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→ 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才允许</a:t>
            </a:r>
            <a:r>
              <a:rPr lang="zh-CN" altLang="en-US" sz="11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继续编码</a:t>
            </a:r>
            <a:endParaRPr lang="en-US" altLang="zh-CN" sz="110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③ </a:t>
            </a:r>
            <a:r>
              <a:rPr sz="1100" b="1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写回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：验收通过则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Certify(T)；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此后上游接口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布局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同步一变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出现脏标记</a:t>
            </a:r>
            <a:r>
              <a:rPr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Dirty，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任务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依赖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关系链</a:t>
            </a:r>
            <a:r>
              <a:rPr lang="zh-CN" altLang="en-US" sz="110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的相关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任务重新从</a:t>
            </a:r>
            <a:r>
              <a:rPr lang="zh-CN" altLang="en-US" sz="1100" b="0" dirty="0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头</a:t>
            </a:r>
            <a:r>
              <a:rPr sz="1100" b="0" dirty="0" err="1">
                <a:solidFill>
                  <a:srgbClr val="2238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走起</a:t>
            </a:r>
            <a:endParaRPr sz="1100" b="0" dirty="0">
              <a:solidFill>
                <a:srgbClr val="2238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dirty="0" err="1">
                <a:solidFill>
                  <a:srgbClr val="16324F"/>
                </a:solidFill>
                <a:latin typeface="Microsoft YaHei"/>
              </a:rPr>
              <a:t>具体实例</a:t>
            </a:r>
            <a:r>
              <a:rPr sz="2100" b="1" dirty="0">
                <a:solidFill>
                  <a:srgbClr val="16324F"/>
                </a:solidFill>
                <a:latin typeface="Microsoft YaHei"/>
              </a:rPr>
              <a:t>——</a:t>
            </a:r>
            <a:r>
              <a:rPr sz="2100" b="1" dirty="0" err="1">
                <a:solidFill>
                  <a:srgbClr val="16324F"/>
                </a:solidFill>
                <a:latin typeface="Microsoft YaHei"/>
              </a:rPr>
              <a:t>从单点能力，到</a:t>
            </a:r>
            <a:r>
              <a:rPr sz="2100" b="1" dirty="0">
                <a:solidFill>
                  <a:srgbClr val="16324F"/>
                </a:solidFill>
                <a:latin typeface="Microsoft YaHei"/>
              </a:rPr>
              <a:t> </a:t>
            </a:r>
            <a:r>
              <a:rPr sz="2100" b="1" dirty="0" err="1">
                <a:solidFill>
                  <a:srgbClr val="16324F"/>
                </a:solidFill>
                <a:latin typeface="Microsoft YaHei"/>
              </a:rPr>
              <a:t>PKE.KeyGen，再补齐到</a:t>
            </a:r>
            <a:r>
              <a:rPr sz="2100" b="1" dirty="0">
                <a:solidFill>
                  <a:srgbClr val="16324F"/>
                </a:solidFill>
                <a:latin typeface="Microsoft YaHei"/>
              </a:rPr>
              <a:t> </a:t>
            </a:r>
            <a:r>
              <a:rPr sz="2100" b="1" dirty="0" err="1">
                <a:solidFill>
                  <a:srgbClr val="16324F"/>
                </a:solidFill>
                <a:latin typeface="Microsoft YaHei"/>
              </a:rPr>
              <a:t>KEM.KeyGen</a:t>
            </a:r>
            <a:endParaRPr sz="2100" b="1" dirty="0">
              <a:solidFill>
                <a:srgbClr val="16324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这一页是方法真正干的活：把「还差什么」在开工前指出来，而不是让 Agent 猜着拼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3/5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① 单点能力各自验过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3939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3939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② 拼成 PKE.KeyGen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6398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524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6398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601A"/>
                </a:solidFill>
                <a:latin typeface="Microsoft YaHei"/>
              </a:rPr>
              <a:t>③ 查出缺项：收尾接缝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8857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5240">
            <a:solidFill>
              <a:srgbClr val="D96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8857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601A"/>
                </a:solidFill>
                <a:latin typeface="Microsoft YaHei"/>
              </a:rPr>
              <a:t>④ 补齐缺项并验过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1316" y="1005840"/>
            <a:ext cx="2156155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21316" y="1005840"/>
            <a:ext cx="2156155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</a:rPr>
              <a:t>⑤ 得到 KEM.KeyGen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3197" y="1554480"/>
            <a:ext cx="6524274" cy="3218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70908" y="1698145"/>
            <a:ext cx="1740919" cy="466343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4060" y="1734721"/>
            <a:ext cx="19202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NTT 数论变换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4060" y="1972465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✓ 已获证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0908" y="2356513"/>
            <a:ext cx="1740919" cy="466343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4060" y="2393089"/>
            <a:ext cx="19202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Â 矩阵采样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4060" y="2630833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✓ 已获证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0908" y="3014881"/>
            <a:ext cx="1740919" cy="466343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4060" y="3051457"/>
            <a:ext cx="192024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22384C"/>
                </a:solidFill>
                <a:latin typeface="Microsoft YaHei"/>
              </a:rPr>
              <a:t>s, e </a:t>
            </a:r>
            <a:r>
              <a:rPr lang="zh-CN" altLang="en-US" sz="1200" b="1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  <a:r>
              <a:rPr lang="en-US" altLang="zh-CN" sz="1200" b="1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b="1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</a:t>
            </a:r>
            <a:r>
              <a:rPr sz="1200" b="1" dirty="0" err="1">
                <a:solidFill>
                  <a:srgbClr val="22384C"/>
                </a:solidFill>
                <a:latin typeface="Microsoft YaHei"/>
              </a:rPr>
              <a:t>声采样</a:t>
            </a:r>
            <a:endParaRPr sz="120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44060" y="3289201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4F"/>
                </a:solidFill>
                <a:latin typeface="Microsoft YaHei"/>
              </a:rPr>
              <a:t>✓ 已获证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8212" y="2386775"/>
            <a:ext cx="970885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单点技术点：能被</a:t>
            </a: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合法</a:t>
            </a: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  <a:endParaRPr sz="105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ight Arrow 27"/>
          <p:cNvSpPr/>
          <p:nvPr/>
        </p:nvSpPr>
        <p:spPr>
          <a:xfrm rot="1944872">
            <a:off x="8409945" y="1890168"/>
            <a:ext cx="384048" cy="274320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46466" y="2011680"/>
            <a:ext cx="2148840" cy="1033271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2032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37906" y="2148840"/>
            <a:ext cx="1965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22384C"/>
                </a:solidFill>
                <a:latin typeface="Microsoft YaHei"/>
              </a:rPr>
              <a:t>PKE.KeyGen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7906" y="2459736"/>
            <a:ext cx="1965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✓ 已获证：三个单点能力合法拼装、实机对拍通过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1746504"/>
            <a:ext cx="2148840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05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集成得到的新</a:t>
            </a:r>
            <a:r>
              <a:rPr sz="105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；也通过验证</a:t>
            </a:r>
            <a:endParaRPr sz="105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8326870" y="4005716"/>
            <a:ext cx="384048" cy="274320"/>
          </a:xfrm>
          <a:prstGeom prst="rightArrow">
            <a:avLst/>
          </a:prstGeom>
          <a:solidFill>
            <a:srgbClr val="D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832215" y="3809427"/>
            <a:ext cx="2377440" cy="70408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22860">
            <a:solidFill>
              <a:srgbClr val="D960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23655" y="3802497"/>
            <a:ext cx="21945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dirty="0" err="1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收尾接缝</a:t>
            </a:r>
            <a:r>
              <a:rPr sz="130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30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缺失项</a:t>
            </a:r>
            <a:r>
              <a:rPr sz="130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3655" y="4095105"/>
            <a:ext cx="2194560" cy="6949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601A"/>
                </a:solidFill>
                <a:latin typeface="Microsoft YaHei"/>
              </a:rPr>
              <a:t>✗ 缺项：目标要用，却没人验过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384C"/>
                </a:solidFill>
                <a:latin typeface="Microsoft YaHei"/>
              </a:rPr>
              <a:t>把 PKE 公私钥装成 KEM 密钥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2215" y="4550091"/>
            <a:ext cx="2377440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dirty="0" err="1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05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论识别</a:t>
            </a:r>
            <a:r>
              <a:rPr sz="1050" b="1" dirty="0" err="1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出来的</a:t>
            </a:r>
            <a:r>
              <a:rPr lang="zh-CN" altLang="en-US" sz="105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能力缺失</a:t>
            </a:r>
            <a:r>
              <a:rPr sz="1050" b="1" dirty="0">
                <a:solidFill>
                  <a:srgbClr val="D960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</a:p>
        </p:txBody>
      </p:sp>
      <p:sp>
        <p:nvSpPr>
          <p:cNvPr id="38" name="Right Arrow 37"/>
          <p:cNvSpPr/>
          <p:nvPr/>
        </p:nvSpPr>
        <p:spPr>
          <a:xfrm rot="5400000">
            <a:off x="9928862" y="3278123"/>
            <a:ext cx="384048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94871" y="3785615"/>
            <a:ext cx="2514600" cy="7279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228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86311" y="3820785"/>
            <a:ext cx="23317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dirty="0" err="1">
                <a:solidFill>
                  <a:srgbClr val="1F4E79"/>
                </a:solidFill>
                <a:latin typeface="Microsoft YaHei"/>
              </a:rPr>
              <a:t>KEM.KeyGen（目标</a:t>
            </a:r>
            <a:r>
              <a:rPr sz="1300" b="1" dirty="0">
                <a:solidFill>
                  <a:srgbClr val="1F4E79"/>
                </a:solidFill>
                <a:latin typeface="Microsoft YaHei"/>
              </a:rPr>
              <a:t>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6311" y="4131681"/>
            <a:ext cx="2331720" cy="37548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缺项补齐并单独验过之后，这一步才允许开工</a:t>
            </a:r>
            <a:endParaRPr sz="110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94871" y="4550091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F4E79"/>
                </a:solidFill>
                <a:latin typeface="Microsoft YaHei"/>
              </a:rPr>
              <a:t>补完才亮绿灯</a:t>
            </a:r>
          </a:p>
        </p:txBody>
      </p:sp>
      <p:sp>
        <p:nvSpPr>
          <p:cNvPr id="56" name="Right Arrow 27">
            <a:extLst>
              <a:ext uri="{FF2B5EF4-FFF2-40B4-BE49-F238E27FC236}">
                <a16:creationId xmlns:a16="http://schemas.microsoft.com/office/drawing/2014/main" id="{B7B35227-736A-FED2-ACE9-8978BE0A8583}"/>
              </a:ext>
            </a:extLst>
          </p:cNvPr>
          <p:cNvSpPr/>
          <p:nvPr/>
        </p:nvSpPr>
        <p:spPr>
          <a:xfrm>
            <a:off x="8417055" y="2429665"/>
            <a:ext cx="384048" cy="274320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ght Arrow 27">
            <a:extLst>
              <a:ext uri="{FF2B5EF4-FFF2-40B4-BE49-F238E27FC236}">
                <a16:creationId xmlns:a16="http://schemas.microsoft.com/office/drawing/2014/main" id="{256B9D61-8C1E-CC80-39EC-27E7E0F913B3}"/>
              </a:ext>
            </a:extLst>
          </p:cNvPr>
          <p:cNvSpPr/>
          <p:nvPr/>
        </p:nvSpPr>
        <p:spPr>
          <a:xfrm rot="19750828">
            <a:off x="8404247" y="2984164"/>
            <a:ext cx="384048" cy="274320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5DE7074C-14E4-DF6C-797B-B2191D00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65" y="3652968"/>
            <a:ext cx="3097339" cy="11202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6A286F0A-3BB7-767D-618A-D0523464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065" y="1481328"/>
            <a:ext cx="2415706" cy="2098513"/>
          </a:xfrm>
          <a:prstGeom prst="rect">
            <a:avLst/>
          </a:prstGeom>
        </p:spPr>
      </p:pic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674A870-004C-E2C3-893C-E89D948667E3}"/>
              </a:ext>
            </a:extLst>
          </p:cNvPr>
          <p:cNvSpPr/>
          <p:nvPr/>
        </p:nvSpPr>
        <p:spPr>
          <a:xfrm>
            <a:off x="1411583" y="3051457"/>
            <a:ext cx="742566" cy="44932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A77EAA13-953F-D998-43DB-43CB15DD62A6}"/>
              </a:ext>
            </a:extLst>
          </p:cNvPr>
          <p:cNvSpPr/>
          <p:nvPr/>
        </p:nvSpPr>
        <p:spPr>
          <a:xfrm>
            <a:off x="1411582" y="2043237"/>
            <a:ext cx="1204245" cy="41649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262C0A4-457C-ED36-F949-878CDDA74496}"/>
              </a:ext>
            </a:extLst>
          </p:cNvPr>
          <p:cNvSpPr/>
          <p:nvPr/>
        </p:nvSpPr>
        <p:spPr>
          <a:xfrm>
            <a:off x="1411583" y="2514599"/>
            <a:ext cx="1389260" cy="45779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17FDFD8-4460-4007-4E48-CF5FF280CB29}"/>
              </a:ext>
            </a:extLst>
          </p:cNvPr>
          <p:cNvSpPr/>
          <p:nvPr/>
        </p:nvSpPr>
        <p:spPr>
          <a:xfrm>
            <a:off x="1087523" y="4448478"/>
            <a:ext cx="968435" cy="203225"/>
          </a:xfrm>
          <a:prstGeom prst="round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TextBox 26">
            <a:extLst>
              <a:ext uri="{FF2B5EF4-FFF2-40B4-BE49-F238E27FC236}">
                <a16:creationId xmlns:a16="http://schemas.microsoft.com/office/drawing/2014/main" id="{DC9761C7-7B21-F174-0C39-418DEFAF95B9}"/>
              </a:ext>
            </a:extLst>
          </p:cNvPr>
          <p:cNvSpPr txBox="1"/>
          <p:nvPr/>
        </p:nvSpPr>
        <p:spPr>
          <a:xfrm>
            <a:off x="279698" y="2530420"/>
            <a:ext cx="970885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已验证项</a:t>
            </a:r>
            <a:endParaRPr sz="120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26">
            <a:extLst>
              <a:ext uri="{FF2B5EF4-FFF2-40B4-BE49-F238E27FC236}">
                <a16:creationId xmlns:a16="http://schemas.microsoft.com/office/drawing/2014/main" id="{7C1E1B3B-5BE4-533E-2996-946E5C4D7BE5}"/>
              </a:ext>
            </a:extLst>
          </p:cNvPr>
          <p:cNvSpPr txBox="1"/>
          <p:nvPr/>
        </p:nvSpPr>
        <p:spPr>
          <a:xfrm>
            <a:off x="319427" y="4438811"/>
            <a:ext cx="793933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 dirty="0">
                <a:solidFill>
                  <a:srgbClr val="DB66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缺失项</a:t>
            </a:r>
            <a:endParaRPr sz="1200" b="1" dirty="0">
              <a:solidFill>
                <a:srgbClr val="DB66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6">
            <a:extLst>
              <a:ext uri="{FF2B5EF4-FFF2-40B4-BE49-F238E27FC236}">
                <a16:creationId xmlns:a16="http://schemas.microsoft.com/office/drawing/2014/main" id="{8C41792C-61A0-C583-AE66-071DE00310A0}"/>
              </a:ext>
            </a:extLst>
          </p:cNvPr>
          <p:cNvSpPr/>
          <p:nvPr/>
        </p:nvSpPr>
        <p:spPr>
          <a:xfrm>
            <a:off x="350520" y="4824411"/>
            <a:ext cx="11365992" cy="9199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">
            <a:extLst>
              <a:ext uri="{FF2B5EF4-FFF2-40B4-BE49-F238E27FC236}">
                <a16:creationId xmlns:a16="http://schemas.microsoft.com/office/drawing/2014/main" id="{80A7A9CD-04A4-E503-1555-E8F05BDD2893}"/>
              </a:ext>
            </a:extLst>
          </p:cNvPr>
          <p:cNvSpPr/>
          <p:nvPr/>
        </p:nvSpPr>
        <p:spPr>
          <a:xfrm>
            <a:off x="364275" y="4877770"/>
            <a:ext cx="1481328" cy="849513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">
            <a:extLst>
              <a:ext uri="{FF2B5EF4-FFF2-40B4-BE49-F238E27FC236}">
                <a16:creationId xmlns:a16="http://schemas.microsoft.com/office/drawing/2014/main" id="{E199AFD3-C4E0-D4FB-523E-1B9987BDF1AF}"/>
              </a:ext>
            </a:extLst>
          </p:cNvPr>
          <p:cNvSpPr txBox="1"/>
          <p:nvPr/>
        </p:nvSpPr>
        <p:spPr>
          <a:xfrm>
            <a:off x="460248" y="4957999"/>
            <a:ext cx="1261872" cy="2600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B23A2F"/>
                </a:solidFill>
                <a:latin typeface="Microsoft YaHei"/>
              </a:rPr>
              <a:t>A </a:t>
            </a:r>
            <a:r>
              <a:rPr lang="en-US" sz="1450" b="1" dirty="0" err="1">
                <a:solidFill>
                  <a:srgbClr val="B23A2F"/>
                </a:solidFill>
                <a:latin typeface="Microsoft YaHei"/>
              </a:rPr>
              <a:t>AI</a:t>
            </a:r>
            <a:r>
              <a:rPr sz="1450" b="1" dirty="0" err="1">
                <a:solidFill>
                  <a:srgbClr val="B23A2F"/>
                </a:solidFill>
                <a:latin typeface="Microsoft YaHei"/>
              </a:rPr>
              <a:t>开放探索</a:t>
            </a:r>
            <a:endParaRPr sz="1450" b="1" dirty="0">
              <a:solidFill>
                <a:srgbClr val="B23A2F"/>
              </a:solidFill>
              <a:latin typeface="Microsoft YaHei"/>
            </a:endParaRPr>
          </a:p>
        </p:txBody>
      </p:sp>
      <p:sp>
        <p:nvSpPr>
          <p:cNvPr id="84" name="TextBox 9">
            <a:extLst>
              <a:ext uri="{FF2B5EF4-FFF2-40B4-BE49-F238E27FC236}">
                <a16:creationId xmlns:a16="http://schemas.microsoft.com/office/drawing/2014/main" id="{8B857B81-1080-1EE8-F5DA-57214BBD8E4D}"/>
              </a:ext>
            </a:extLst>
          </p:cNvPr>
          <p:cNvSpPr txBox="1"/>
          <p:nvPr/>
        </p:nvSpPr>
        <p:spPr>
          <a:xfrm>
            <a:off x="503411" y="5250607"/>
            <a:ext cx="1261872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384C"/>
                </a:solidFill>
                <a:latin typeface="Microsoft YaHei"/>
              </a:rPr>
              <a:t>只给一句目标，
不给边界与禁区</a:t>
            </a:r>
          </a:p>
        </p:txBody>
      </p:sp>
      <p:sp>
        <p:nvSpPr>
          <p:cNvPr id="86" name="Rounded Rectangle 10">
            <a:extLst>
              <a:ext uri="{FF2B5EF4-FFF2-40B4-BE49-F238E27FC236}">
                <a16:creationId xmlns:a16="http://schemas.microsoft.com/office/drawing/2014/main" id="{88C25641-FF83-4534-C0ED-BAE38B856414}"/>
              </a:ext>
            </a:extLst>
          </p:cNvPr>
          <p:cNvSpPr/>
          <p:nvPr/>
        </p:nvSpPr>
        <p:spPr>
          <a:xfrm>
            <a:off x="1978152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11">
            <a:extLst>
              <a:ext uri="{FF2B5EF4-FFF2-40B4-BE49-F238E27FC236}">
                <a16:creationId xmlns:a16="http://schemas.microsoft.com/office/drawing/2014/main" id="{280B7EE6-5D23-D3A0-21C2-27D366142C7C}"/>
              </a:ext>
            </a:extLst>
          </p:cNvPr>
          <p:cNvSpPr txBox="1"/>
          <p:nvPr/>
        </p:nvSpPr>
        <p:spPr>
          <a:xfrm>
            <a:off x="2080053" y="5198673"/>
            <a:ext cx="155448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提示词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只给一句话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ight Arrow 12">
            <a:extLst>
              <a:ext uri="{FF2B5EF4-FFF2-40B4-BE49-F238E27FC236}">
                <a16:creationId xmlns:a16="http://schemas.microsoft.com/office/drawing/2014/main" id="{0D8A20DE-5258-0B45-E16C-4581E80AF592}"/>
              </a:ext>
            </a:extLst>
          </p:cNvPr>
          <p:cNvSpPr/>
          <p:nvPr/>
        </p:nvSpPr>
        <p:spPr>
          <a:xfrm>
            <a:off x="3715512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13">
            <a:extLst>
              <a:ext uri="{FF2B5EF4-FFF2-40B4-BE49-F238E27FC236}">
                <a16:creationId xmlns:a16="http://schemas.microsoft.com/office/drawing/2014/main" id="{4543B940-8550-0F0C-7A5B-D037F63D9E60}"/>
              </a:ext>
            </a:extLst>
          </p:cNvPr>
          <p:cNvSpPr/>
          <p:nvPr/>
        </p:nvSpPr>
        <p:spPr>
          <a:xfrm>
            <a:off x="3971544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14">
            <a:extLst>
              <a:ext uri="{FF2B5EF4-FFF2-40B4-BE49-F238E27FC236}">
                <a16:creationId xmlns:a16="http://schemas.microsoft.com/office/drawing/2014/main" id="{41914BCE-D163-DA37-87E1-4AD61EDE97D4}"/>
              </a:ext>
            </a:extLst>
          </p:cNvPr>
          <p:cNvSpPr txBox="1"/>
          <p:nvPr/>
        </p:nvSpPr>
        <p:spPr>
          <a:xfrm>
            <a:off x="4073445" y="5198673"/>
            <a:ext cx="155448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altLang="zh-CN" sz="1150" b="0" dirty="0" err="1">
                <a:solidFill>
                  <a:srgbClr val="22384C"/>
                </a:solidFill>
                <a:latin typeface="Microsoft YaHei"/>
              </a:rPr>
              <a:t>AI</a:t>
            </a:r>
            <a:r>
              <a:rPr sz="1150" b="0" dirty="0" err="1">
                <a:solidFill>
                  <a:srgbClr val="22384C"/>
                </a:solidFill>
                <a:latin typeface="Microsoft YaHei"/>
              </a:rPr>
              <a:t>四处试、来回改</a:t>
            </a:r>
            <a:endParaRPr sz="115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96" name="Right Arrow 15">
            <a:extLst>
              <a:ext uri="{FF2B5EF4-FFF2-40B4-BE49-F238E27FC236}">
                <a16:creationId xmlns:a16="http://schemas.microsoft.com/office/drawing/2014/main" id="{9A878CEE-882F-47CC-D314-CA05F86A4E27}"/>
              </a:ext>
            </a:extLst>
          </p:cNvPr>
          <p:cNvSpPr/>
          <p:nvPr/>
        </p:nvSpPr>
        <p:spPr>
          <a:xfrm>
            <a:off x="5708904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16">
            <a:extLst>
              <a:ext uri="{FF2B5EF4-FFF2-40B4-BE49-F238E27FC236}">
                <a16:creationId xmlns:a16="http://schemas.microsoft.com/office/drawing/2014/main" id="{17955376-920C-6CE4-1732-3868AC51C160}"/>
              </a:ext>
            </a:extLst>
          </p:cNvPr>
          <p:cNvSpPr/>
          <p:nvPr/>
        </p:nvSpPr>
        <p:spPr>
          <a:xfrm>
            <a:off x="5964936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17">
            <a:extLst>
              <a:ext uri="{FF2B5EF4-FFF2-40B4-BE49-F238E27FC236}">
                <a16:creationId xmlns:a16="http://schemas.microsoft.com/office/drawing/2014/main" id="{6120D876-A246-2A53-B780-E17CD090FF8C}"/>
              </a:ext>
            </a:extLst>
          </p:cNvPr>
          <p:cNvSpPr txBox="1"/>
          <p:nvPr/>
        </p:nvSpPr>
        <p:spPr>
          <a:xfrm>
            <a:off x="6066837" y="4839282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22384C"/>
                </a:solidFill>
                <a:latin typeface="Microsoft YaHei"/>
              </a:rPr>
              <a:t>撞上已关闭路线</a:t>
            </a:r>
            <a:endParaRPr sz="115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02" name="Right Arrow 18">
            <a:extLst>
              <a:ext uri="{FF2B5EF4-FFF2-40B4-BE49-F238E27FC236}">
                <a16:creationId xmlns:a16="http://schemas.microsoft.com/office/drawing/2014/main" id="{108817D9-C780-584B-E73B-FCDBB92A6096}"/>
              </a:ext>
            </a:extLst>
          </p:cNvPr>
          <p:cNvSpPr/>
          <p:nvPr/>
        </p:nvSpPr>
        <p:spPr>
          <a:xfrm>
            <a:off x="7702296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9">
            <a:extLst>
              <a:ext uri="{FF2B5EF4-FFF2-40B4-BE49-F238E27FC236}">
                <a16:creationId xmlns:a16="http://schemas.microsoft.com/office/drawing/2014/main" id="{8866F855-1EE7-24E9-6949-D329B581FDF4}"/>
              </a:ext>
            </a:extLst>
          </p:cNvPr>
          <p:cNvSpPr/>
          <p:nvPr/>
        </p:nvSpPr>
        <p:spPr>
          <a:xfrm>
            <a:off x="7958328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270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20">
            <a:extLst>
              <a:ext uri="{FF2B5EF4-FFF2-40B4-BE49-F238E27FC236}">
                <a16:creationId xmlns:a16="http://schemas.microsoft.com/office/drawing/2014/main" id="{C01D4290-03F1-7F8A-3DA6-165A717AEE79}"/>
              </a:ext>
            </a:extLst>
          </p:cNvPr>
          <p:cNvSpPr txBox="1"/>
          <p:nvPr/>
        </p:nvSpPr>
        <p:spPr>
          <a:xfrm>
            <a:off x="8060229" y="4839282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反复返工、空转</a:t>
            </a:r>
          </a:p>
        </p:txBody>
      </p:sp>
      <p:sp>
        <p:nvSpPr>
          <p:cNvPr id="108" name="Right Arrow 21">
            <a:extLst>
              <a:ext uri="{FF2B5EF4-FFF2-40B4-BE49-F238E27FC236}">
                <a16:creationId xmlns:a16="http://schemas.microsoft.com/office/drawing/2014/main" id="{D891A35C-D677-C7BC-8037-D737FC5439FC}"/>
              </a:ext>
            </a:extLst>
          </p:cNvPr>
          <p:cNvSpPr/>
          <p:nvPr/>
        </p:nvSpPr>
        <p:spPr>
          <a:xfrm>
            <a:off x="9695688" y="5213671"/>
            <a:ext cx="219456" cy="192312"/>
          </a:xfrm>
          <a:prstGeom prst="rightArrow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22">
            <a:extLst>
              <a:ext uri="{FF2B5EF4-FFF2-40B4-BE49-F238E27FC236}">
                <a16:creationId xmlns:a16="http://schemas.microsoft.com/office/drawing/2014/main" id="{80B574D1-A48C-2339-7C02-CCF25FA7CEED}"/>
              </a:ext>
            </a:extLst>
          </p:cNvPr>
          <p:cNvSpPr/>
          <p:nvPr/>
        </p:nvSpPr>
        <p:spPr>
          <a:xfrm>
            <a:off x="9951720" y="5086015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F6DAD5"/>
          </a:solidFill>
          <a:ln w="2032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23">
            <a:extLst>
              <a:ext uri="{FF2B5EF4-FFF2-40B4-BE49-F238E27FC236}">
                <a16:creationId xmlns:a16="http://schemas.microsoft.com/office/drawing/2014/main" id="{09AD3FE3-ABE4-FA9B-7BA3-247BDF4CE6D8}"/>
              </a:ext>
            </a:extLst>
          </p:cNvPr>
          <p:cNvSpPr txBox="1"/>
          <p:nvPr/>
        </p:nvSpPr>
        <p:spPr>
          <a:xfrm>
            <a:off x="10053621" y="4839282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B23A2F"/>
                </a:solidFill>
                <a:latin typeface="Microsoft YaHei"/>
              </a:rPr>
              <a:t>结果对，
但形态不可交付</a:t>
            </a:r>
          </a:p>
        </p:txBody>
      </p:sp>
      <p:sp>
        <p:nvSpPr>
          <p:cNvPr id="114" name="TextBox 24">
            <a:extLst>
              <a:ext uri="{FF2B5EF4-FFF2-40B4-BE49-F238E27FC236}">
                <a16:creationId xmlns:a16="http://schemas.microsoft.com/office/drawing/2014/main" id="{C98F374B-BDB7-F4D7-C70B-6260805C859A}"/>
              </a:ext>
            </a:extLst>
          </p:cNvPr>
          <p:cNvSpPr txBox="1"/>
          <p:nvPr/>
        </p:nvSpPr>
        <p:spPr>
          <a:xfrm>
            <a:off x="9225457" y="5530477"/>
            <a:ext cx="2430620" cy="2139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 dirty="0" err="1">
                <a:solidFill>
                  <a:srgbClr val="B23A2F"/>
                </a:solidFill>
                <a:latin typeface="Microsoft YaHei"/>
              </a:rPr>
              <a:t>伪完成：过程发散、额度烧掉</a:t>
            </a:r>
            <a:endParaRPr sz="1150" b="1" dirty="0">
              <a:solidFill>
                <a:srgbClr val="B23A2F"/>
              </a:solidFill>
              <a:latin typeface="Microsoft YaHei"/>
            </a:endParaRPr>
          </a:p>
        </p:txBody>
      </p:sp>
      <p:sp>
        <p:nvSpPr>
          <p:cNvPr id="116" name="Rounded Rectangle 25">
            <a:extLst>
              <a:ext uri="{FF2B5EF4-FFF2-40B4-BE49-F238E27FC236}">
                <a16:creationId xmlns:a16="http://schemas.microsoft.com/office/drawing/2014/main" id="{67C96EC1-5EB1-EEE7-28C8-0AAA645FFC0C}"/>
              </a:ext>
            </a:extLst>
          </p:cNvPr>
          <p:cNvSpPr/>
          <p:nvPr/>
        </p:nvSpPr>
        <p:spPr>
          <a:xfrm>
            <a:off x="350520" y="5942298"/>
            <a:ext cx="11365992" cy="7953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26">
            <a:extLst>
              <a:ext uri="{FF2B5EF4-FFF2-40B4-BE49-F238E27FC236}">
                <a16:creationId xmlns:a16="http://schemas.microsoft.com/office/drawing/2014/main" id="{8452DDFD-9CC7-31B4-898F-F8B6C3B48C66}"/>
              </a:ext>
            </a:extLst>
          </p:cNvPr>
          <p:cNvSpPr/>
          <p:nvPr/>
        </p:nvSpPr>
        <p:spPr>
          <a:xfrm>
            <a:off x="415868" y="5967879"/>
            <a:ext cx="1415979" cy="722377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27">
            <a:extLst>
              <a:ext uri="{FF2B5EF4-FFF2-40B4-BE49-F238E27FC236}">
                <a16:creationId xmlns:a16="http://schemas.microsoft.com/office/drawing/2014/main" id="{E08899A6-8AAF-0EA3-977C-43711E8575FA}"/>
              </a:ext>
            </a:extLst>
          </p:cNvPr>
          <p:cNvSpPr txBox="1"/>
          <p:nvPr/>
        </p:nvSpPr>
        <p:spPr>
          <a:xfrm>
            <a:off x="460248" y="5967881"/>
            <a:ext cx="1371600" cy="2600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4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sz="1450" b="1" dirty="0" err="1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4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论指导</a:t>
            </a:r>
            <a:endParaRPr sz="145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28">
            <a:extLst>
              <a:ext uri="{FF2B5EF4-FFF2-40B4-BE49-F238E27FC236}">
                <a16:creationId xmlns:a16="http://schemas.microsoft.com/office/drawing/2014/main" id="{005C9E2F-3A92-E9A8-F3C4-F4710BA10D2B}"/>
              </a:ext>
            </a:extLst>
          </p:cNvPr>
          <p:cNvSpPr txBox="1"/>
          <p:nvPr/>
        </p:nvSpPr>
        <p:spPr>
          <a:xfrm>
            <a:off x="522213" y="6246180"/>
            <a:ext cx="1261872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22384C"/>
                </a:solidFill>
                <a:latin typeface="Microsoft YaHei"/>
              </a:rPr>
              <a:t>先制表，再写码</a:t>
            </a:r>
            <a:r>
              <a:rPr sz="1100" b="0" dirty="0">
                <a:solidFill>
                  <a:srgbClr val="22384C"/>
                </a:solidFill>
                <a:latin typeface="Microsoft YaHei"/>
              </a:rPr>
              <a:t>；
</a:t>
            </a:r>
            <a:r>
              <a:rPr sz="1100" b="0" dirty="0" err="1">
                <a:solidFill>
                  <a:srgbClr val="22384C"/>
                </a:solidFill>
                <a:latin typeface="Microsoft YaHei"/>
              </a:rPr>
              <a:t>搜索面被收住</a:t>
            </a:r>
            <a:endParaRPr sz="1100" b="0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24" name="Rounded Rectangle 29">
            <a:extLst>
              <a:ext uri="{FF2B5EF4-FFF2-40B4-BE49-F238E27FC236}">
                <a16:creationId xmlns:a16="http://schemas.microsoft.com/office/drawing/2014/main" id="{EA55DFE0-BF3D-13AE-F941-E1E6EF17F5D1}"/>
              </a:ext>
            </a:extLst>
          </p:cNvPr>
          <p:cNvSpPr/>
          <p:nvPr/>
        </p:nvSpPr>
        <p:spPr>
          <a:xfrm>
            <a:off x="1978152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30">
            <a:extLst>
              <a:ext uri="{FF2B5EF4-FFF2-40B4-BE49-F238E27FC236}">
                <a16:creationId xmlns:a16="http://schemas.microsoft.com/office/drawing/2014/main" id="{360DD5C5-78EF-B1CC-3144-107705803403}"/>
              </a:ext>
            </a:extLst>
          </p:cNvPr>
          <p:cNvSpPr txBox="1"/>
          <p:nvPr/>
        </p:nvSpPr>
        <p:spPr>
          <a:xfrm>
            <a:off x="2051304" y="6106133"/>
            <a:ext cx="1554480" cy="3908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写详细方案：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写清目标与验收</a:t>
            </a: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Right Arrow 31">
            <a:extLst>
              <a:ext uri="{FF2B5EF4-FFF2-40B4-BE49-F238E27FC236}">
                <a16:creationId xmlns:a16="http://schemas.microsoft.com/office/drawing/2014/main" id="{799E21B4-2110-CD23-C0D1-4E630BFB6E39}"/>
              </a:ext>
            </a:extLst>
          </p:cNvPr>
          <p:cNvSpPr/>
          <p:nvPr/>
        </p:nvSpPr>
        <p:spPr>
          <a:xfrm>
            <a:off x="3715512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32">
            <a:extLst>
              <a:ext uri="{FF2B5EF4-FFF2-40B4-BE49-F238E27FC236}">
                <a16:creationId xmlns:a16="http://schemas.microsoft.com/office/drawing/2014/main" id="{7C0ECF61-3114-150F-DF60-B14C6C7AFE9B}"/>
              </a:ext>
            </a:extLst>
          </p:cNvPr>
          <p:cNvSpPr/>
          <p:nvPr/>
        </p:nvSpPr>
        <p:spPr>
          <a:xfrm>
            <a:off x="3971544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33">
            <a:extLst>
              <a:ext uri="{FF2B5EF4-FFF2-40B4-BE49-F238E27FC236}">
                <a16:creationId xmlns:a16="http://schemas.microsoft.com/office/drawing/2014/main" id="{76391B1D-9EEA-979A-893A-74310566F5DD}"/>
              </a:ext>
            </a:extLst>
          </p:cNvPr>
          <p:cNvSpPr txBox="1"/>
          <p:nvPr/>
        </p:nvSpPr>
        <p:spPr>
          <a:xfrm>
            <a:off x="4044696" y="6194618"/>
            <a:ext cx="155448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已验证</a:t>
            </a:r>
            <a:r>
              <a:rPr lang="zh-CN" altLang="en-US" sz="115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sz="1150" b="0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sz="1150" b="0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缺项</a:t>
            </a:r>
            <a:endParaRPr sz="1150" b="0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Right Arrow 34">
            <a:extLst>
              <a:ext uri="{FF2B5EF4-FFF2-40B4-BE49-F238E27FC236}">
                <a16:creationId xmlns:a16="http://schemas.microsoft.com/office/drawing/2014/main" id="{2AD049EE-9942-CED6-81F7-D65E2E6DF347}"/>
              </a:ext>
            </a:extLst>
          </p:cNvPr>
          <p:cNvSpPr/>
          <p:nvPr/>
        </p:nvSpPr>
        <p:spPr>
          <a:xfrm>
            <a:off x="5708904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A4F317DC-8B9F-1172-513E-8DA0BB0C0B23}"/>
              </a:ext>
            </a:extLst>
          </p:cNvPr>
          <p:cNvSpPr/>
          <p:nvPr/>
        </p:nvSpPr>
        <p:spPr>
          <a:xfrm>
            <a:off x="5964936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36">
            <a:extLst>
              <a:ext uri="{FF2B5EF4-FFF2-40B4-BE49-F238E27FC236}">
                <a16:creationId xmlns:a16="http://schemas.microsoft.com/office/drawing/2014/main" id="{FDAB16E8-6062-F02C-7FB2-004559F22911}"/>
              </a:ext>
            </a:extLst>
          </p:cNvPr>
          <p:cNvSpPr txBox="1"/>
          <p:nvPr/>
        </p:nvSpPr>
        <p:spPr>
          <a:xfrm>
            <a:off x="6038088" y="5835227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禁止项当场拦住</a:t>
            </a:r>
          </a:p>
        </p:txBody>
      </p:sp>
      <p:sp>
        <p:nvSpPr>
          <p:cNvPr id="140" name="Right Arrow 37">
            <a:extLst>
              <a:ext uri="{FF2B5EF4-FFF2-40B4-BE49-F238E27FC236}">
                <a16:creationId xmlns:a16="http://schemas.microsoft.com/office/drawing/2014/main" id="{8FE921F7-0B37-2331-64C4-1BDDC69096CA}"/>
              </a:ext>
            </a:extLst>
          </p:cNvPr>
          <p:cNvSpPr/>
          <p:nvPr/>
        </p:nvSpPr>
        <p:spPr>
          <a:xfrm>
            <a:off x="7702296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38">
            <a:extLst>
              <a:ext uri="{FF2B5EF4-FFF2-40B4-BE49-F238E27FC236}">
                <a16:creationId xmlns:a16="http://schemas.microsoft.com/office/drawing/2014/main" id="{81A9E21A-26BE-971D-4CC4-139BB172F7FE}"/>
              </a:ext>
            </a:extLst>
          </p:cNvPr>
          <p:cNvSpPr/>
          <p:nvPr/>
        </p:nvSpPr>
        <p:spPr>
          <a:xfrm>
            <a:off x="7958328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id="{3A0F234F-BFBD-9912-E78B-6EB94F0B32DD}"/>
              </a:ext>
            </a:extLst>
          </p:cNvPr>
          <p:cNvSpPr txBox="1"/>
          <p:nvPr/>
        </p:nvSpPr>
        <p:spPr>
          <a:xfrm>
            <a:off x="8031480" y="5835227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补齐缺项并验过</a:t>
            </a:r>
          </a:p>
        </p:txBody>
      </p:sp>
      <p:sp>
        <p:nvSpPr>
          <p:cNvPr id="146" name="Right Arrow 40">
            <a:extLst>
              <a:ext uri="{FF2B5EF4-FFF2-40B4-BE49-F238E27FC236}">
                <a16:creationId xmlns:a16="http://schemas.microsoft.com/office/drawing/2014/main" id="{BF5E231C-D1CB-F033-F3B0-A4921880ACB3}"/>
              </a:ext>
            </a:extLst>
          </p:cNvPr>
          <p:cNvSpPr/>
          <p:nvPr/>
        </p:nvSpPr>
        <p:spPr>
          <a:xfrm>
            <a:off x="9695688" y="6222683"/>
            <a:ext cx="219456" cy="192312"/>
          </a:xfrm>
          <a:prstGeom prst="righ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41">
            <a:extLst>
              <a:ext uri="{FF2B5EF4-FFF2-40B4-BE49-F238E27FC236}">
                <a16:creationId xmlns:a16="http://schemas.microsoft.com/office/drawing/2014/main" id="{C86EFB0D-5367-8343-08AA-E18C43861E09}"/>
              </a:ext>
            </a:extLst>
          </p:cNvPr>
          <p:cNvSpPr/>
          <p:nvPr/>
        </p:nvSpPr>
        <p:spPr>
          <a:xfrm>
            <a:off x="9951720" y="6095897"/>
            <a:ext cx="1700784" cy="443770"/>
          </a:xfrm>
          <a:prstGeom prst="roundRect">
            <a:avLst>
              <a:gd name="adj" fmla="val 6000"/>
            </a:avLst>
          </a:prstGeom>
          <a:solidFill>
            <a:srgbClr val="DCEDE3"/>
          </a:solidFill>
          <a:ln w="2032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42">
            <a:extLst>
              <a:ext uri="{FF2B5EF4-FFF2-40B4-BE49-F238E27FC236}">
                <a16:creationId xmlns:a16="http://schemas.microsoft.com/office/drawing/2014/main" id="{3F949EC3-5617-442C-D96B-4FC5337F2892}"/>
              </a:ext>
            </a:extLst>
          </p:cNvPr>
          <p:cNvSpPr txBox="1"/>
          <p:nvPr/>
        </p:nvSpPr>
        <p:spPr>
          <a:xfrm>
            <a:off x="10024872" y="5835227"/>
            <a:ext cx="155448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dirty="0" err="1">
                <a:solidFill>
                  <a:srgbClr val="2E7D4F"/>
                </a:solidFill>
                <a:latin typeface="Microsoft YaHei"/>
              </a:rPr>
              <a:t>再写码</a:t>
            </a:r>
            <a:r>
              <a:rPr sz="1150" b="1" dirty="0">
                <a:solidFill>
                  <a:srgbClr val="2E7D4F"/>
                </a:solidFill>
                <a:latin typeface="Microsoft YaHei"/>
              </a:rPr>
              <a:t>：
</a:t>
            </a:r>
            <a:r>
              <a:rPr sz="1150" b="1" dirty="0" err="1">
                <a:solidFill>
                  <a:srgbClr val="2E7D4F"/>
                </a:solidFill>
                <a:latin typeface="Microsoft YaHei"/>
              </a:rPr>
              <a:t>可交付、可晋级</a:t>
            </a:r>
            <a:endParaRPr sz="1150" b="1" dirty="0">
              <a:solidFill>
                <a:srgbClr val="2E7D4F"/>
              </a:solidFill>
              <a:latin typeface="Microsoft YaHei"/>
            </a:endParaRPr>
          </a:p>
        </p:txBody>
      </p:sp>
      <p:sp>
        <p:nvSpPr>
          <p:cNvPr id="153" name="TextBox 24">
            <a:extLst>
              <a:ext uri="{FF2B5EF4-FFF2-40B4-BE49-F238E27FC236}">
                <a16:creationId xmlns:a16="http://schemas.microsoft.com/office/drawing/2014/main" id="{B4672A40-26FC-35D7-0E07-EF16DF09DDD7}"/>
              </a:ext>
            </a:extLst>
          </p:cNvPr>
          <p:cNvSpPr txBox="1"/>
          <p:nvPr/>
        </p:nvSpPr>
        <p:spPr>
          <a:xfrm>
            <a:off x="7702296" y="6523765"/>
            <a:ext cx="3940778" cy="2139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lang="zh-CN" altLang="en-US"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过程可控</a:t>
            </a:r>
            <a:r>
              <a:rPr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搜索空间收敛</a:t>
            </a:r>
            <a:r>
              <a:rPr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150" b="1" dirty="0">
                <a:solidFill>
                  <a:srgbClr val="2E7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进度更快，结果更好，消耗更少</a:t>
            </a:r>
            <a:endParaRPr sz="1150" b="1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324F"/>
                </a:solidFill>
                <a:latin typeface="Microsoft YaHei"/>
              </a:rPr>
              <a:t>对照——不合理用 AI vs 合理用 AI：代价差在哪、交付范围差多少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9864"/>
            <a:ext cx="11365992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 err="1">
                <a:solidFill>
                  <a:srgbClr val="5C6B7A"/>
                </a:solidFill>
                <a:latin typeface="Microsoft YaHei"/>
              </a:rPr>
              <a:t>同一个人、同一台机器、同一套验收</a:t>
            </a:r>
            <a:r>
              <a:rPr sz="1200" b="0" err="1">
                <a:solidFill>
                  <a:srgbClr val="5C6B7A"/>
                </a:solidFill>
                <a:latin typeface="Microsoft YaHei"/>
              </a:rPr>
              <a:t>；</a:t>
            </a:r>
            <a:r>
              <a:rPr sz="1200" b="0">
                <a:solidFill>
                  <a:srgbClr val="5C6B7A"/>
                </a:solidFill>
                <a:latin typeface="Microsoft YaHei"/>
              </a:rPr>
              <a:t>上图是算子性能与实施体感对照</a:t>
            </a:r>
            <a:endParaRPr sz="1200" b="0" dirty="0">
              <a:solidFill>
                <a:srgbClr val="5C6B7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4/5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40480"/>
            <a:ext cx="2286000" cy="420624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9496" y="3840480"/>
            <a:ext cx="202996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光看代价不够，还看四项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3840480"/>
            <a:ext cx="2904743" cy="420624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905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0088" y="3840480"/>
            <a:ext cx="268528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3A2F"/>
                </a:solidFill>
                <a:latin typeface="Microsoft YaHei"/>
              </a:rPr>
              <a:t>A 开放式用 AI</a:t>
            </a:r>
            <a:r>
              <a:rPr sz="1050" b="0">
                <a:solidFill>
                  <a:srgbClr val="5C6B7A"/>
                </a:solidFill>
                <a:latin typeface="Microsoft YaHei"/>
              </a:rPr>
              <a:t>　没有方法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67984" y="3840480"/>
            <a:ext cx="2904743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77712" y="3840480"/>
            <a:ext cx="268528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4F"/>
                </a:solidFill>
                <a:latin typeface="Microsoft YaHei"/>
              </a:rPr>
              <a:t>B 有方法用 AI</a:t>
            </a:r>
            <a:r>
              <a:rPr sz="1050" b="0">
                <a:solidFill>
                  <a:srgbClr val="5C6B7A"/>
                </a:solidFill>
                <a:latin typeface="Microsoft YaHei"/>
              </a:rPr>
              <a:t>　本场主张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5608" y="3840480"/>
            <a:ext cx="2904743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65336" y="3840480"/>
            <a:ext cx="2685288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Microsoft YaHei"/>
              </a:rPr>
              <a:t>C 人工精修</a:t>
            </a:r>
            <a:r>
              <a:rPr sz="1050" b="0">
                <a:solidFill>
                  <a:srgbClr val="5C6B7A"/>
                </a:solidFill>
                <a:latin typeface="Microsoft YaHei"/>
              </a:rPr>
              <a:t>　质量基线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315968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" y="4315968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正确性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4315968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71800" y="4315968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可能碰巧对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67984" y="4315968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9424" y="4315968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可核对通过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5608" y="4315968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7048" y="4315968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可核对通过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718304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" y="4718304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算子性能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360" y="4718304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71800" y="4718304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不稳定、无从比较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67984" y="4718304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9424" y="4718304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与 C 同量级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55608" y="4718304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7048" y="4718304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基线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5120640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" y="5120640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可交付性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80360" y="5120640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71800" y="5120640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弱：形态不可用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67984" y="5120640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9424" y="5120640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强：可晋级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55608" y="5120640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7048" y="5120640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522976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9496" y="5522976"/>
            <a:ext cx="202996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384C"/>
                </a:solidFill>
                <a:latin typeface="Microsoft YaHei"/>
              </a:rPr>
              <a:t>可迁移性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80360" y="5522976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71800" y="5522976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弱：经验不可复用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67984" y="5522976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9424" y="5522976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</a:rPr>
              <a:t>强：换任务照样能用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5608" y="5522976"/>
            <a:ext cx="290474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7048" y="5522976"/>
            <a:ext cx="2721863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384C"/>
                </a:solidFill>
                <a:latin typeface="Microsoft YaHei"/>
              </a:rPr>
              <a:t>中：依赖个人经验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792" y="5961888"/>
            <a:ext cx="11064240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F"/>
                </a:solidFill>
                <a:latin typeface="Microsoft YaHei"/>
              </a:rPr>
              <a:t>省的是无效派生，不是魔法提速：不是 Agent 变聪明了，而是 AI 的作业面被限制住了。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1480" y="930000"/>
            <a:ext cx="11365992" cy="258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1000000"/>
            <a:ext cx="7000000" cy="20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单 </a:t>
            </a:r>
            <a:r>
              <a:rPr lang="en-US" altLang="zh-CN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AI Core 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上 单个 </a:t>
            </a:r>
            <a:r>
              <a:rPr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ML-KEM </a:t>
            </a:r>
            <a:r>
              <a:rPr sz="1250" b="1" dirty="0" err="1">
                <a:solidFill>
                  <a:srgbClr val="22384C"/>
                </a:solidFill>
                <a:latin typeface="Microsoft YaHei"/>
                <a:ea typeface="Microsoft YaHei"/>
              </a:rPr>
              <a:t>解封装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算子性能</a:t>
            </a:r>
            <a:r>
              <a:rPr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（</a:t>
            </a:r>
            <a:r>
              <a:rPr lang="en-US" sz="1250" b="1" dirty="0" err="1">
                <a:solidFill>
                  <a:srgbClr val="22384C"/>
                </a:solidFill>
                <a:latin typeface="Microsoft YaHei"/>
                <a:ea typeface="Microsoft YaHei"/>
              </a:rPr>
              <a:t>cycles</a:t>
            </a:r>
            <a:r>
              <a:rPr sz="1250" b="1" dirty="0" err="1">
                <a:solidFill>
                  <a:srgbClr val="22384C"/>
                </a:solidFill>
                <a:latin typeface="Microsoft YaHei"/>
                <a:ea typeface="Microsoft YaHei"/>
              </a:rPr>
              <a:t>（大致示意</a:t>
            </a:r>
            <a:r>
              <a:rPr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）</a:t>
            </a:r>
            <a:r>
              <a:rPr lang="zh-CN" altLang="en-US" sz="1250" b="1" dirty="0">
                <a:solidFill>
                  <a:srgbClr val="22384C"/>
                </a:solidFill>
                <a:latin typeface="Microsoft YaHei"/>
                <a:ea typeface="Microsoft YaHei"/>
              </a:rPr>
              <a:t>）</a:t>
            </a:r>
            <a:r>
              <a:rPr sz="1050" b="0" dirty="0">
                <a:solidFill>
                  <a:srgbClr val="5C6B7A"/>
                </a:solidFill>
                <a:latin typeface="Microsoft YaHei"/>
                <a:ea typeface="Microsoft YaHei"/>
              </a:rPr>
              <a:t>（</a:t>
            </a:r>
            <a:r>
              <a:rPr sz="1050" b="0" dirty="0" err="1">
                <a:solidFill>
                  <a:srgbClr val="5C6B7A"/>
                </a:solidFill>
                <a:latin typeface="Microsoft YaHei"/>
                <a:ea typeface="Microsoft YaHei"/>
              </a:rPr>
              <a:t>条越短越好</a:t>
            </a:r>
            <a:r>
              <a:rPr sz="1050" b="0" dirty="0">
                <a:solidFill>
                  <a:srgbClr val="5C6B7A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1210000"/>
            <a:ext cx="215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3A2F"/>
                </a:solidFill>
                <a:latin typeface="Microsoft YaHei"/>
                <a:ea typeface="Microsoft YaHei"/>
              </a:rPr>
              <a:t>A 发散（开放探索）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15184" y="1220000"/>
            <a:ext cx="4937760" cy="190000"/>
          </a:xfrm>
          <a:prstGeom prst="rect">
            <a:avLst/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615184" y="1220000"/>
            <a:ext cx="2150000" cy="189516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680960" y="1226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组件间调度开销</a:t>
            </a:r>
            <a:r>
              <a:rPr sz="1150" b="1" dirty="0" err="1">
                <a:solidFill>
                  <a:srgbClr val="B23A2F"/>
                </a:solidFill>
                <a:latin typeface="Microsoft YaHei"/>
                <a:ea typeface="Microsoft YaHei"/>
              </a:rPr>
              <a:t>很高</a:t>
            </a:r>
            <a:endParaRPr sz="1150" b="1" dirty="0">
              <a:solidFill>
                <a:srgbClr val="B23A2F"/>
              </a:solidFill>
              <a:latin typeface="Microsoft YaHei"/>
              <a:ea typeface="Microsoft YaHe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66928" y="1475000"/>
            <a:ext cx="215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4F"/>
                </a:solidFill>
                <a:latin typeface="Microsoft YaHei"/>
                <a:ea typeface="Microsoft YaHei"/>
              </a:rPr>
              <a:t>B 方法论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15184" y="1485000"/>
            <a:ext cx="4937760" cy="19000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615184" y="1485000"/>
            <a:ext cx="1362821" cy="1900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80960" y="1491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性能</a:t>
            </a: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与</a:t>
            </a:r>
            <a:r>
              <a:rPr 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 C </a:t>
            </a:r>
            <a:r>
              <a:rPr sz="115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同量级</a:t>
            </a:r>
            <a:endParaRPr sz="1150" b="1" dirty="0">
              <a:solidFill>
                <a:srgbClr val="2E7D4F"/>
              </a:solidFill>
              <a:latin typeface="Microsoft YaHei"/>
              <a:ea typeface="Microsoft YaHe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66928" y="1740000"/>
            <a:ext cx="215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4B5"/>
                </a:solidFill>
                <a:latin typeface="Microsoft YaHei"/>
                <a:ea typeface="Microsoft YaHei"/>
              </a:rPr>
              <a:t>C 人工精修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15184" y="1750000"/>
            <a:ext cx="4937760" cy="190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615184" y="1750000"/>
            <a:ext cx="1303568" cy="190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680960" y="1756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2E74B5"/>
                </a:solidFill>
                <a:latin typeface="Microsoft YaHei"/>
                <a:ea typeface="Microsoft YaHei"/>
              </a:rPr>
              <a:t>手动精修版代码，作为</a:t>
            </a:r>
            <a:r>
              <a:rPr sz="1150" b="1" dirty="0" err="1">
                <a:solidFill>
                  <a:srgbClr val="2E74B5"/>
                </a:solidFill>
                <a:latin typeface="Microsoft YaHei"/>
                <a:ea typeface="Microsoft YaHei"/>
              </a:rPr>
              <a:t>参照基线</a:t>
            </a:r>
            <a:endParaRPr sz="1150" b="1" dirty="0">
              <a:solidFill>
                <a:srgbClr val="2E74B5"/>
              </a:solidFill>
              <a:latin typeface="Microsoft YaHei"/>
              <a:ea typeface="Microsoft YaHe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6928" y="2045000"/>
            <a:ext cx="7000000" cy="20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384C"/>
                </a:solidFill>
                <a:latin typeface="Microsoft YaHei"/>
                <a:ea typeface="Microsoft YaHei"/>
              </a:rPr>
              <a:t>月配额占用</a:t>
            </a:r>
            <a:r>
              <a:rPr sz="1050" b="0">
                <a:solidFill>
                  <a:srgbClr val="5C6B7A"/>
                </a:solidFill>
                <a:latin typeface="Microsoft YaHei"/>
                <a:ea typeface="Microsoft YaHei"/>
              </a:rPr>
              <a:t>（条越短越好）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2271514"/>
            <a:ext cx="215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A </a:t>
            </a:r>
            <a:r>
              <a:rPr sz="1150" b="1" dirty="0" err="1">
                <a:solidFill>
                  <a:srgbClr val="B23A2F"/>
                </a:solidFill>
                <a:latin typeface="Microsoft YaHei"/>
                <a:ea typeface="Microsoft YaHei"/>
              </a:rPr>
              <a:t>开放式</a:t>
            </a:r>
            <a:r>
              <a:rPr lang="zh-CN" altLang="en-US"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使</a:t>
            </a:r>
            <a:r>
              <a:rPr sz="1150" b="1" dirty="0">
                <a:solidFill>
                  <a:srgbClr val="B23A2F"/>
                </a:solidFill>
                <a:latin typeface="Microsoft YaHei"/>
                <a:ea typeface="Microsoft YaHei"/>
              </a:rPr>
              <a:t>用 AI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615184" y="2265000"/>
            <a:ext cx="4937760" cy="19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615184" y="2265000"/>
            <a:ext cx="3308299" cy="19000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80960" y="2255000"/>
            <a:ext cx="3400000" cy="21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3A2F"/>
                </a:solidFill>
                <a:latin typeface="Microsoft YaHei"/>
                <a:ea typeface="Microsoft YaHei"/>
              </a:rPr>
              <a:t>约 2/3 月配额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2536514"/>
            <a:ext cx="215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B </a:t>
            </a:r>
            <a:r>
              <a:rPr sz="115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方法</a:t>
            </a:r>
            <a:r>
              <a:rPr lang="zh-CN" alt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论指导</a:t>
            </a: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 AI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15184" y="2530000"/>
            <a:ext cx="4937760" cy="190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615185" y="2530000"/>
            <a:ext cx="265175" cy="1900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80960" y="2536514"/>
            <a:ext cx="3400000" cy="176972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&lt;5</a:t>
            </a:r>
            <a:r>
              <a:rPr sz="1150" b="1" dirty="0">
                <a:solidFill>
                  <a:srgbClr val="2E7D4F"/>
                </a:solidFill>
                <a:latin typeface="Microsoft YaHei"/>
                <a:ea typeface="Microsoft YaHei"/>
              </a:rPr>
              <a:t>% </a:t>
            </a:r>
            <a:r>
              <a:rPr sz="115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月配额</a:t>
            </a:r>
            <a:endParaRPr sz="1150" b="1" dirty="0">
              <a:solidFill>
                <a:srgbClr val="2E7D4F"/>
              </a:solidFill>
              <a:latin typeface="Microsoft YaHei"/>
              <a:ea typeface="Microsoft YaHei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566928" y="2835000"/>
            <a:ext cx="5394960" cy="36000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76656" y="2835000"/>
            <a:ext cx="5175504" cy="36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23A2F"/>
                </a:solidFill>
                <a:latin typeface="Microsoft YaHei"/>
                <a:ea typeface="Microsoft YaHei"/>
              </a:rPr>
              <a:t>A 这笔代价，只换来 1 个算子（解封装），且形态不可交付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26480" y="2835000"/>
            <a:ext cx="5541264" cy="3600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397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236208" y="2930361"/>
            <a:ext cx="5321808" cy="169277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B </a:t>
            </a:r>
            <a:r>
              <a:rPr sz="110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这笔代价</a:t>
            </a:r>
            <a:r>
              <a:rPr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后续还</a:t>
            </a:r>
            <a:r>
              <a:rPr sz="110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换来整套</a:t>
            </a:r>
            <a:r>
              <a:rPr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 ML-KEM 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端到端</a:t>
            </a:r>
            <a:r>
              <a:rPr sz="1100" b="1" dirty="0" err="1">
                <a:solidFill>
                  <a:srgbClr val="2E7D4F"/>
                </a:solidFill>
                <a:latin typeface="Microsoft YaHei"/>
                <a:ea typeface="Microsoft YaHei"/>
              </a:rPr>
              <a:t>全流程</a:t>
            </a:r>
            <a:r>
              <a:rPr lang="en-US" sz="1100" b="1">
                <a:solidFill>
                  <a:srgbClr val="2E7D4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100" b="1">
                <a:solidFill>
                  <a:srgbClr val="2E7D4F"/>
                </a:solidFill>
                <a:latin typeface="Microsoft YaHei"/>
                <a:ea typeface="Microsoft YaHei"/>
              </a:rPr>
              <a:t>快速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从</a:t>
            </a:r>
            <a:r>
              <a:rPr lang="en-US" altLang="zh-CN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0</a:t>
            </a:r>
            <a:r>
              <a:rPr lang="zh-CN" altLang="en-US" sz="1100" b="1" dirty="0">
                <a:solidFill>
                  <a:srgbClr val="2E7D4F"/>
                </a:solidFill>
                <a:latin typeface="Microsoft YaHei"/>
                <a:ea typeface="Microsoft YaHei"/>
              </a:rPr>
              <a:t>开始到完整实现</a:t>
            </a:r>
            <a:endParaRPr sz="1100" b="1" dirty="0">
              <a:solidFill>
                <a:srgbClr val="2E7D4F"/>
              </a:solidFill>
              <a:latin typeface="Microsoft YaHei"/>
              <a:ea typeface="Microsoft YaHei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6928" y="3235000"/>
            <a:ext cx="10881360" cy="2000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同一个人、同一台机器、同一套验收；上图是算子性能（total ticks）与实施体感对照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14E847-A0C6-97BB-461B-1F48CC8674D6}"/>
              </a:ext>
            </a:extLst>
          </p:cNvPr>
          <p:cNvSpPr txBox="1"/>
          <p:nvPr/>
        </p:nvSpPr>
        <p:spPr>
          <a:xfrm>
            <a:off x="4003620" y="1469996"/>
            <a:ext cx="899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50" b="1" i="0" dirty="0">
                <a:solidFill>
                  <a:srgbClr val="2E7D4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1050646</a:t>
            </a:r>
            <a:endParaRPr lang="zh-CN" altLang="en-US" dirty="0">
              <a:solidFill>
                <a:srgbClr val="2E7D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63E359-1FB1-972E-44DD-AAF4F30A25BD}"/>
              </a:ext>
            </a:extLst>
          </p:cNvPr>
          <p:cNvSpPr txBox="1"/>
          <p:nvPr/>
        </p:nvSpPr>
        <p:spPr>
          <a:xfrm>
            <a:off x="3926547" y="1735480"/>
            <a:ext cx="899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i="0" dirty="0">
                <a:solidFill>
                  <a:srgbClr val="2E74B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1041906</a:t>
            </a:r>
            <a:endParaRPr lang="zh-CN" altLang="en-US" dirty="0">
              <a:solidFill>
                <a:srgbClr val="2E74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C3503B-2FD9-8D0C-12FD-69DE1F152049}"/>
              </a:ext>
            </a:extLst>
          </p:cNvPr>
          <p:cNvSpPr txBox="1"/>
          <p:nvPr/>
        </p:nvSpPr>
        <p:spPr>
          <a:xfrm>
            <a:off x="4893200" y="1189992"/>
            <a:ext cx="899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rgbClr val="B23A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  <a:r>
              <a:rPr lang="en-US" altLang="zh-CN" sz="1050" b="1" i="0" dirty="0">
                <a:solidFill>
                  <a:srgbClr val="B23A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500000</a:t>
            </a:r>
            <a:endParaRPr lang="zh-CN" altLang="en-US" dirty="0">
              <a:solidFill>
                <a:srgbClr val="B23A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6599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324F"/>
                </a:solidFill>
                <a:latin typeface="Microsoft YaHei"/>
              </a:rPr>
              <a:t>能带走什么——五条规矩，不绑定某个算法或平台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7A"/>
                </a:solidFill>
                <a:latin typeface="Microsoft YaHei"/>
              </a:rPr>
              <a:t>方法面向一般预研：凡是「验收清楚、路线不清楚」的活，都能照着用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85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A7B3"/>
                </a:solidFill>
                <a:latin typeface="Microsoft YaHei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41605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4160520" cy="51206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097280"/>
            <a:ext cx="386791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什么样的活适合这么干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3566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22384C"/>
                </a:solidFill>
                <a:latin typeface="Microsoft YaHei"/>
              </a:rPr>
              <a:t>验收钉死，路线不定</a:t>
            </a:r>
            <a:endParaRPr sz="125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终点清楚，但走法要试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43200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3566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22384C"/>
                </a:solidFill>
                <a:latin typeface="Microsoft YaHei"/>
              </a:rPr>
              <a:t>平台小众、资料少</a:t>
            </a:r>
            <a:endParaRPr sz="125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3145536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公开经验帮不上忙，AI 容易硬套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803904"/>
            <a:ext cx="35661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dirty="0">
                <a:solidFill>
                  <a:srgbClr val="22384C"/>
                </a:solidFill>
                <a:latin typeface="Microsoft YaHei"/>
              </a:rPr>
              <a:t>AI </a:t>
            </a:r>
            <a:r>
              <a:rPr sz="1250" b="1" dirty="0" err="1">
                <a:solidFill>
                  <a:srgbClr val="22384C"/>
                </a:solidFill>
                <a:latin typeface="Microsoft YaHei"/>
              </a:rPr>
              <a:t>自信但会跑偏</a:t>
            </a:r>
            <a:endParaRPr sz="1250" b="1" dirty="0">
              <a:solidFill>
                <a:srgbClr val="22384C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4133088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把仿真当终审、把死路当捷径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18304"/>
            <a:ext cx="3858768" cy="8412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791456"/>
            <a:ext cx="356616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50" b="1" dirty="0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多模型</a:t>
            </a:r>
            <a:r>
              <a:rPr sz="1250" b="1" dirty="0" err="1">
                <a:solidFill>
                  <a:srgbClr val="22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多人多会话接续</a:t>
            </a:r>
            <a:endParaRPr sz="1250" b="1" dirty="0">
              <a:solidFill>
                <a:srgbClr val="2238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5120640"/>
            <a:ext cx="356616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换模型、</a:t>
            </a:r>
            <a:r>
              <a:rPr sz="1100" b="0" dirty="0" err="1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换人、换会话都要能接上</a:t>
            </a:r>
            <a:endParaRPr sz="1100" b="0" dirty="0">
              <a:solidFill>
                <a:srgbClr val="5C6B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28032" y="1097280"/>
            <a:ext cx="694944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28032" y="1097280"/>
            <a:ext cx="6949440" cy="512064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74336" y="1097280"/>
            <a:ext cx="6656832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E7D4F"/>
                </a:solidFill>
                <a:latin typeface="Microsoft YaHei"/>
              </a:rPr>
              <a:t>五条规矩：明天就能搬到别的项目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2624" y="173736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2624" y="1737360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719072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仓库是唯一事实清单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029968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不靠聊天上下文结项；对话说完了不算做完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2624" y="2523744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92624" y="2523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505456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完成 = 可复验证据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816352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cmp、退出码、完整 log；AI 不能自己判定完成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92624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92624" y="3310128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291840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只有验过的才算绿灯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602736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写进索引才可被引用；「好像会了」不算能力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92624" y="40965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92624" y="409651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078224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补充只在缺项里发生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389120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缺项补完要再验；接缝必须单独验过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92624" y="488289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92624" y="4882896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864608"/>
            <a:ext cx="6172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2384C"/>
                </a:solidFill>
                <a:latin typeface="Microsoft YaHei"/>
              </a:rPr>
              <a:t>先制表，再写码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175504"/>
            <a:ext cx="6172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7A"/>
                </a:solidFill>
                <a:latin typeface="Microsoft YaHei"/>
              </a:rPr>
              <a:t>目标 · 已获证 · 缺项 · 接缝 · 禁止项，表不齐不开工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961888"/>
            <a:ext cx="11365992" cy="42062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11480" y="5961888"/>
            <a:ext cx="82296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" y="6057553"/>
            <a:ext cx="11064240" cy="22929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</a:t>
            </a:r>
            <a:r>
              <a:rPr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sz="12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先把</a:t>
            </a:r>
            <a:r>
              <a:rPr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AI </a:t>
            </a:r>
            <a:r>
              <a:rPr lang="zh-CN" altLang="en-US" sz="1250" b="1" dirty="0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探索边界</a:t>
            </a:r>
            <a:r>
              <a:rPr sz="1250" b="1" dirty="0" err="1">
                <a:solidFill>
                  <a:srgbClr val="1F4E7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管住，再有界往前推</a:t>
            </a:r>
            <a:endParaRPr sz="1250" b="1" dirty="0">
              <a:solidFill>
                <a:srgbClr val="1F4E7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3113</Words>
  <Application>Microsoft Office PowerPoint</Application>
  <PresentationFormat>Widescreen</PresentationFormat>
  <Paragraphs>461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等线</vt:lpstr>
      <vt:lpstr>Microsoft YaHei</vt:lpstr>
      <vt:lpstr>Microsoft YaHei</vt:lpstr>
      <vt:lpstr>Microsoft YaHei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Yuan Ye</cp:lastModifiedBy>
  <cp:revision>58</cp:revision>
  <dcterms:created xsi:type="dcterms:W3CDTF">2013-01-27T09:14:16Z</dcterms:created>
  <dcterms:modified xsi:type="dcterms:W3CDTF">2026-08-26T07:38:56Z</dcterms:modified>
  <cp:category/>
</cp:coreProperties>
</file>