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3A2F"/>
    <a:srgbClr val="2E74B5"/>
    <a:srgbClr val="2E7D4F"/>
    <a:srgbClr val="DB66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232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4241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Microsoft YaHei"/>
              </a:rPr>
              <a:t>AI 辅助硬科技研发 · 合稿材料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42416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16324F"/>
                </a:solidFill>
                <a:latin typeface="Microsoft YaHei"/>
              </a:rPr>
              <a:t>有界推进与绿灯底座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63240"/>
            <a:ext cx="1042416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2384C"/>
                </a:solidFill>
                <a:latin typeface="Microsoft YaHei"/>
              </a:rPr>
              <a:t>AI 辅助硬科技预研的工作方法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657600"/>
            <a:ext cx="5486400" cy="27432"/>
          </a:xfrm>
          <a:prstGeom prst="rect">
            <a:avLst/>
          </a:prstGeom>
          <a:solidFill>
            <a:srgbClr val="D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88620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9601A"/>
                </a:solidFill>
                <a:latin typeface="Microsoft YaHei"/>
              </a:rPr>
              <a:t>先管住 AI，再有界往前推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709160"/>
            <a:ext cx="2514600" cy="84124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2144" y="4809744"/>
            <a:ext cx="222199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</a:rPr>
              <a:t>绿灯底座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5138928"/>
            <a:ext cx="2221992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C6B7A"/>
                </a:solidFill>
                <a:latin typeface="Microsoft YaHei"/>
              </a:rPr>
              <a:t>已验证能力才算数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4709160"/>
            <a:ext cx="2514600" cy="84124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41064" y="4809744"/>
            <a:ext cx="222199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</a:rPr>
              <a:t>缺项里补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1064" y="5138928"/>
            <a:ext cx="2221992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C6B7A"/>
                </a:solidFill>
                <a:latin typeface="Microsoft YaHei"/>
              </a:rPr>
              <a:t>只在缺口处补齐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709160"/>
            <a:ext cx="2514600" cy="84124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9984" y="4809744"/>
            <a:ext cx="222199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</a:rPr>
              <a:t>先表后码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5138928"/>
            <a:ext cx="2221992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C6B7A"/>
                </a:solidFill>
                <a:latin typeface="Microsoft YaHei"/>
              </a:rPr>
              <a:t>表不齐不开工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97880"/>
            <a:ext cx="10058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7A4"/>
                </a:solidFill>
                <a:latin typeface="Microsoft YaHei"/>
              </a:rPr>
              <a:t>检验床：Ascend 上的 ML-KEM 算子；方法面向一般预研，不绑定某一算法仓库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6599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324F"/>
                </a:solidFill>
                <a:latin typeface="Microsoft YaHei"/>
              </a:rPr>
              <a:t>为什么必须先谈方法——AI 不等于自动加速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3504"/>
            <a:ext cx="1136599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7A"/>
                </a:solidFill>
                <a:latin typeface="Microsoft YaHei"/>
              </a:rPr>
              <a:t>同一个任务，终点是钉死的；把 AI 放进开放空间，代价先来、成果后到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85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1/5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07008"/>
            <a:ext cx="246888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</a:rPr>
              <a:t>任务终点钉死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54480"/>
            <a:ext cx="24688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· 实机真能跑起来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· 输出与参考实现逐项对上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· 技术路线不规定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10128" y="1627632"/>
            <a:ext cx="566928" cy="310896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023360" y="10972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778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78808" y="1207008"/>
            <a:ext cx="246888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D9601A"/>
                </a:solidFill>
                <a:latin typeface="Microsoft YaHei"/>
              </a:rPr>
              <a:t>AI 在开放空间自搜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1554480"/>
            <a:ext cx="24688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· 目标只给一句话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· 边界、禁区都不给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· 自己判断算不算做完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32320" y="1627632"/>
            <a:ext cx="566928" cy="310896"/>
          </a:xfrm>
          <a:prstGeom prst="rightArrow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63840" y="1097280"/>
            <a:ext cx="1298448" cy="137160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524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0" y="1207008"/>
            <a:ext cx="111556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B23A2F"/>
                </a:solidFill>
                <a:latin typeface="Microsoft YaHei"/>
              </a:rPr>
              <a:t>死路当捷径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1783080"/>
            <a:ext cx="1115568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2384C"/>
                </a:solidFill>
                <a:latin typeface="Microsoft YaHei"/>
              </a:rPr>
              <a:t>在已废弃方向上反复返工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0304" y="1097280"/>
            <a:ext cx="1298448" cy="137160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524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81744" y="1207008"/>
            <a:ext cx="111556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B23A2F"/>
                </a:solidFill>
                <a:latin typeface="Microsoft YaHei"/>
              </a:rPr>
              <a:t>仿真通过当终审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1783080"/>
            <a:ext cx="1115568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2384C"/>
                </a:solidFill>
                <a:latin typeface="Microsoft YaHei"/>
              </a:rPr>
              <a:t>没上实机就宣布结项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16768" y="1097280"/>
            <a:ext cx="1298448" cy="137160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524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08208" y="1207008"/>
            <a:ext cx="111556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B23A2F"/>
                </a:solidFill>
                <a:latin typeface="Microsoft YaHei"/>
              </a:rPr>
              <a:t>结果碰巧对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8208" y="1783080"/>
            <a:ext cx="1115568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2384C"/>
                </a:solidFill>
                <a:latin typeface="Microsoft YaHei"/>
              </a:rPr>
              <a:t>过程发散、形态不可交付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523744"/>
            <a:ext cx="391363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B23A2F"/>
                </a:solidFill>
                <a:latin typeface="Microsoft YaHei"/>
              </a:rPr>
              <a:t>三类失败，都不是「模型不够强」，而是「没有边界」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2971800"/>
            <a:ext cx="1136599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11480" y="2971800"/>
            <a:ext cx="11365992" cy="43891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3072762"/>
            <a:ext cx="10972800" cy="2369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dirty="0" err="1">
                <a:solidFill>
                  <a:srgbClr val="D9601A"/>
                </a:solidFill>
                <a:latin typeface="Microsoft YaHei"/>
              </a:rPr>
              <a:t>真实伤疤：</a:t>
            </a:r>
            <a:r>
              <a:rPr sz="1300" b="1" dirty="0" err="1">
                <a:solidFill>
                  <a:srgbClr val="16324F"/>
                </a:solidFill>
                <a:latin typeface="Microsoft YaHei"/>
              </a:rPr>
              <a:t>放开让</a:t>
            </a:r>
            <a:r>
              <a:rPr sz="1300" b="1" dirty="0">
                <a:solidFill>
                  <a:srgbClr val="16324F"/>
                </a:solidFill>
                <a:latin typeface="Microsoft YaHei"/>
              </a:rPr>
              <a:t> Agent </a:t>
            </a:r>
            <a:r>
              <a:rPr sz="1300" b="1" dirty="0" err="1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自己「把</a:t>
            </a:r>
            <a:r>
              <a:rPr lang="en-US" altLang="zh-CN" sz="1300" b="1" dirty="0" err="1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PQC</a:t>
            </a:r>
            <a:r>
              <a:rPr lang="zh-CN" altLang="en-US" sz="13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13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ML-KEM</a:t>
            </a:r>
            <a:r>
              <a:rPr lang="zh-CN" altLang="en-US" sz="13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的优化实现方案列出来、</a:t>
            </a:r>
            <a:r>
              <a:rPr sz="1300" b="1" dirty="0" err="1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做出来</a:t>
            </a:r>
            <a:r>
              <a:rPr sz="1300" b="1" dirty="0">
                <a:solidFill>
                  <a:srgbClr val="16324F"/>
                </a:solidFill>
                <a:latin typeface="Microsoft YaHei"/>
              </a:rPr>
              <a:t>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" y="3584448"/>
            <a:ext cx="2656332" cy="129844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397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3675887"/>
            <a:ext cx="243687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Microsoft YaHei"/>
              </a:rPr>
              <a:t>看起来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005072"/>
            <a:ext cx="2436876" cy="606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171450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5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放手让</a:t>
            </a:r>
            <a:r>
              <a:rPr lang="en-US" altLang="zh-CN" sz="115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15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探索（基于自研资料库）</a:t>
            </a:r>
            <a:endParaRPr lang="en-US" sz="1150" b="0" dirty="0">
              <a:solidFill>
                <a:srgbClr val="2238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150" b="0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结果能与参考实现对上，像是做完了</a:t>
            </a:r>
            <a:endParaRPr sz="1150" b="0" dirty="0">
              <a:solidFill>
                <a:srgbClr val="2238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369564" y="3584448"/>
            <a:ext cx="2656332" cy="1298448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397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9292" y="3675887"/>
            <a:ext cx="243687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9601A"/>
                </a:solidFill>
                <a:latin typeface="Microsoft YaHei"/>
              </a:rPr>
              <a:t>摊开看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9292" y="4005072"/>
            <a:ext cx="2436876" cy="4293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171450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150" b="0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只保结果对，几乎不管架构</a:t>
            </a:r>
            <a:endParaRPr lang="en-US" sz="1150" b="0" dirty="0">
              <a:solidFill>
                <a:srgbClr val="2238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150" b="0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搜索不设</a:t>
            </a:r>
            <a:r>
              <a:rPr lang="zh-CN" altLang="en-US"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</a:t>
            </a:r>
            <a:r>
              <a:rPr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界、</a:t>
            </a:r>
            <a:r>
              <a:rPr lang="zh-CN" altLang="en-US"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sz="1150" b="0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sz="1150" b="0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反复碰壁</a:t>
            </a:r>
            <a:endParaRPr sz="1150" b="0" dirty="0">
              <a:solidFill>
                <a:srgbClr val="2238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163056" y="3584448"/>
            <a:ext cx="2656332" cy="1298448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397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72784" y="3675887"/>
            <a:ext cx="243687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B23A2F"/>
                </a:solidFill>
                <a:latin typeface="Microsoft YaHei"/>
              </a:rPr>
              <a:t>代价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4" y="4005072"/>
            <a:ext cx="2436876" cy="8412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22384C"/>
                </a:solidFill>
                <a:latin typeface="Microsoft YaHei"/>
              </a:rPr>
              <a:t>短时间吃掉当月大部分额度，还沉淀了错的「经验</a:t>
            </a:r>
            <a:r>
              <a:rPr sz="1150" b="0" dirty="0">
                <a:solidFill>
                  <a:srgbClr val="22384C"/>
                </a:solidFill>
                <a:latin typeface="Microsoft YaHei"/>
              </a:rPr>
              <a:t>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6548" y="3584448"/>
            <a:ext cx="2656332" cy="1298448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397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66276" y="3675887"/>
            <a:ext cx="243687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B23A2F"/>
                </a:solidFill>
                <a:latin typeface="Microsoft YaHei"/>
              </a:rPr>
              <a:t>性质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6276" y="4005072"/>
            <a:ext cx="2436876" cy="8412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22384C"/>
                </a:solidFill>
                <a:latin typeface="Microsoft YaHei"/>
              </a:rPr>
              <a:t>伪完成：过程发散、形态不可用，钱和时间被烧掉</a:t>
            </a:r>
            <a:endParaRPr sz="1150" b="0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1792" y="5029200"/>
            <a:ext cx="10972800" cy="4370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dirty="0" err="1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同一件事后来用</a:t>
            </a:r>
            <a:r>
              <a:rPr lang="zh-CN" altLang="en-US" sz="130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自研</a:t>
            </a:r>
            <a:r>
              <a:rPr sz="1300" b="1" dirty="0" err="1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30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</a:t>
            </a:r>
            <a:r>
              <a:rPr sz="1300" b="1" dirty="0" err="1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重做：整套</a:t>
            </a:r>
            <a:r>
              <a:rPr sz="130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ML-KEM </a:t>
            </a:r>
            <a:r>
              <a:rPr lang="zh-CN" altLang="en-US" sz="130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sz="1300" b="1" dirty="0" err="1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在数小时内完成，额度占用降到一小部分</a:t>
            </a:r>
            <a:r>
              <a:rPr sz="130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口径：属实施体感，非同任务严格对账，不作倍数宣称</a:t>
            </a:r>
            <a:r>
              <a:rPr sz="10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5961888"/>
            <a:ext cx="11365992" cy="420624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11480" y="5961888"/>
            <a:ext cx="82296" cy="420624"/>
          </a:xfrm>
          <a:prstGeom prst="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" y="5961888"/>
            <a:ext cx="1106424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B23A2F"/>
                </a:solidFill>
                <a:latin typeface="Microsoft YaHei"/>
              </a:rPr>
              <a:t>结论：真问题不是「要不要用 AI」，而是「用 AI 之前先把边界给出来」。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6599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324F"/>
                </a:solidFill>
                <a:latin typeface="Microsoft YaHei"/>
              </a:rPr>
              <a:t>方法一张图——绿灯底座 × 缺项里补 × 先表后码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3504"/>
            <a:ext cx="1136599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7A"/>
                </a:solidFill>
                <a:latin typeface="Microsoft YaHei"/>
              </a:rPr>
              <a:t>把「自由生成」改成「在已验证能力上的受控搜索」：下一步可枚举、可检查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85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2/5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060704"/>
            <a:ext cx="5029200" cy="4572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060704"/>
            <a:ext cx="5029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</a:rPr>
              <a:t>① 先钉死终点：可核对的验收口径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97880" y="1572768"/>
            <a:ext cx="365760" cy="310896"/>
          </a:xfrm>
          <a:prstGeom prst="down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" y="2011680"/>
            <a:ext cx="2704338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2011680"/>
            <a:ext cx="2704338" cy="475488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496" y="2115541"/>
            <a:ext cx="2448306" cy="2677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绿灯</a:t>
            </a:r>
            <a:r>
              <a:rPr lang="zh-CN" altLang="en-US" sz="150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（已验证）</a:t>
            </a:r>
            <a:r>
              <a:rPr sz="1500" b="1" dirty="0" err="1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底座</a:t>
            </a:r>
            <a:r>
              <a:rPr lang="zh-CN" altLang="en-US" sz="150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endParaRPr sz="1500" b="1" dirty="0">
              <a:solidFill>
                <a:srgbClr val="2E7D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9496" y="2578608"/>
            <a:ext cx="244830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2384C"/>
                </a:solidFill>
                <a:latin typeface="Microsoft YaHei"/>
              </a:rPr>
              <a:t>要回答：现在能引用谁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2944368"/>
            <a:ext cx="2448306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验过、并写进索引的能力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聊天里「好像会了」不算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3913632"/>
            <a:ext cx="2448306" cy="384048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6" y="3913632"/>
            <a:ext cx="2448306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7D4F"/>
                </a:solidFill>
                <a:latin typeface="Microsoft YaHei"/>
              </a:rPr>
              <a:t>能引用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8698" y="2011680"/>
            <a:ext cx="2704338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98698" y="2011680"/>
            <a:ext cx="2704338" cy="47548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6714" y="2011680"/>
            <a:ext cx="2448306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E74B5"/>
                </a:solidFill>
                <a:latin typeface="Microsoft YaHei"/>
              </a:rPr>
              <a:t>缺项清单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6714" y="2578608"/>
            <a:ext cx="244830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2384C"/>
                </a:solidFill>
                <a:latin typeface="Microsoft YaHei"/>
              </a:rPr>
              <a:t>要回答：还缺什么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6714" y="2944368"/>
            <a:ext cx="2448306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目标所需 − 已绿灯 = 缺项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补充只许发生在缺项里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6714" y="3913632"/>
            <a:ext cx="2448306" cy="38404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6714" y="3913632"/>
            <a:ext cx="2448306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Microsoft YaHei"/>
              </a:rPr>
              <a:t>只在此处补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5916" y="2011680"/>
            <a:ext cx="2704338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85916" y="2011680"/>
            <a:ext cx="2704338" cy="475488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13932" y="2011680"/>
            <a:ext cx="2448306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B23A2F"/>
                </a:solidFill>
                <a:latin typeface="Microsoft YaHei"/>
              </a:rPr>
              <a:t>禁止项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2" y="2578608"/>
            <a:ext cx="244830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2384C"/>
                </a:solidFill>
                <a:latin typeface="Microsoft YaHei"/>
              </a:rPr>
              <a:t>要回答：哪条路不能再走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3932" y="2944368"/>
            <a:ext cx="2448306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死路、已关闭路线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不许复用、不许当模板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3932" y="3913632"/>
            <a:ext cx="2448306" cy="384048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13932" y="3913632"/>
            <a:ext cx="2448306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23A2F"/>
                </a:solidFill>
                <a:latin typeface="Microsoft YaHei"/>
              </a:rPr>
              <a:t>当场拦住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3134" y="2011680"/>
            <a:ext cx="2704338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73134" y="2011680"/>
            <a:ext cx="2704338" cy="475488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01150" y="2011680"/>
            <a:ext cx="2448306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D9601A"/>
                </a:solidFill>
                <a:latin typeface="Microsoft YaHei"/>
              </a:rPr>
              <a:t>合法拼装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1150" y="2578608"/>
            <a:ext cx="244830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2384C"/>
                </a:solidFill>
                <a:latin typeface="Microsoft YaHei"/>
              </a:rPr>
              <a:t>要回答：怎样算一步合法推进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1150" y="2944368"/>
            <a:ext cx="2448306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接缝要单独实现并验过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组合不免费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01150" y="3913632"/>
            <a:ext cx="2448306" cy="384048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01150" y="3913632"/>
            <a:ext cx="2448306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9601A"/>
                </a:solidFill>
                <a:latin typeface="Microsoft YaHei"/>
              </a:rPr>
              <a:t>缝也要验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5897880" y="4498848"/>
            <a:ext cx="365760" cy="310896"/>
          </a:xfrm>
          <a:prstGeom prst="downArrow">
            <a:avLst/>
          </a:prstGeom>
          <a:solidFill>
            <a:srgbClr val="D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377440" y="4919472"/>
            <a:ext cx="7406640" cy="841248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2032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77440" y="4992624"/>
            <a:ext cx="740664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9601A"/>
                </a:solidFill>
                <a:latin typeface="Microsoft YaHei"/>
              </a:rPr>
              <a:t>② 先制表，再写码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5340096"/>
            <a:ext cx="740664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2384C"/>
                </a:solidFill>
                <a:latin typeface="Microsoft YaHei"/>
              </a:rPr>
              <a:t>一张表说清：目标 · 已获证能力 · 缺项 · 接缝 · 禁止项 —— 表不齐，不许开工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5961888"/>
            <a:ext cx="11365992" cy="42062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1480" y="5961888"/>
            <a:ext cx="82296" cy="4206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" y="5961888"/>
            <a:ext cx="1106424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F4E79"/>
                </a:solidFill>
                <a:latin typeface="Microsoft YaHei"/>
              </a:rPr>
              <a:t>一句话：Agent 不是自由写手，而是在已验证能力上的受控搜索器。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6599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dirty="0" err="1">
                <a:solidFill>
                  <a:srgbClr val="16324F"/>
                </a:solidFill>
                <a:latin typeface="Microsoft YaHei"/>
              </a:rPr>
              <a:t>具体实例</a:t>
            </a:r>
            <a:r>
              <a:rPr sz="2100" b="1" dirty="0">
                <a:solidFill>
                  <a:srgbClr val="16324F"/>
                </a:solidFill>
                <a:latin typeface="Microsoft YaHei"/>
              </a:rPr>
              <a:t>——</a:t>
            </a:r>
            <a:r>
              <a:rPr sz="2100" b="1" dirty="0" err="1">
                <a:solidFill>
                  <a:srgbClr val="16324F"/>
                </a:solidFill>
                <a:latin typeface="Microsoft YaHei"/>
              </a:rPr>
              <a:t>从单点能力，到</a:t>
            </a:r>
            <a:r>
              <a:rPr sz="2100" b="1" dirty="0">
                <a:solidFill>
                  <a:srgbClr val="16324F"/>
                </a:solidFill>
                <a:latin typeface="Microsoft YaHei"/>
              </a:rPr>
              <a:t> </a:t>
            </a:r>
            <a:r>
              <a:rPr sz="2100" b="1" dirty="0" err="1">
                <a:solidFill>
                  <a:srgbClr val="16324F"/>
                </a:solidFill>
                <a:latin typeface="Microsoft YaHei"/>
              </a:rPr>
              <a:t>PKE.KeyGen，再补齐到</a:t>
            </a:r>
            <a:r>
              <a:rPr sz="2100" b="1" dirty="0">
                <a:solidFill>
                  <a:srgbClr val="16324F"/>
                </a:solidFill>
                <a:latin typeface="Microsoft YaHei"/>
              </a:rPr>
              <a:t> </a:t>
            </a:r>
            <a:r>
              <a:rPr sz="2100" b="1" dirty="0" err="1">
                <a:solidFill>
                  <a:srgbClr val="16324F"/>
                </a:solidFill>
                <a:latin typeface="Microsoft YaHei"/>
              </a:rPr>
              <a:t>KEM.KeyGen</a:t>
            </a:r>
            <a:endParaRPr sz="2100" b="1" dirty="0">
              <a:solidFill>
                <a:srgbClr val="16324F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03504"/>
            <a:ext cx="1136599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7A"/>
                </a:solidFill>
                <a:latin typeface="Microsoft YaHei"/>
              </a:rPr>
              <a:t>这一页是方法真正干的活：把「还差什么」在开工前指出来，而不是让 Agent 猜着拼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85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3/5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05840"/>
            <a:ext cx="2156155" cy="420624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2156155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7D4F"/>
                </a:solidFill>
                <a:latin typeface="Microsoft YaHei"/>
              </a:rPr>
              <a:t>① 单点能力各自验过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3939" y="1005840"/>
            <a:ext cx="2156155" cy="420624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13939" y="1005840"/>
            <a:ext cx="2156155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7D4F"/>
                </a:solidFill>
                <a:latin typeface="Microsoft YaHei"/>
              </a:rPr>
              <a:t>② 拼成 PKE.KeyGen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6398" y="1005840"/>
            <a:ext cx="2156155" cy="420624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524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16398" y="1005840"/>
            <a:ext cx="2156155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9601A"/>
                </a:solidFill>
                <a:latin typeface="Microsoft YaHei"/>
              </a:rPr>
              <a:t>③ 查出缺项：收尾接缝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8857" y="1005840"/>
            <a:ext cx="2156155" cy="420624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524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8857" y="1005840"/>
            <a:ext cx="2156155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9601A"/>
                </a:solidFill>
                <a:latin typeface="Microsoft YaHei"/>
              </a:rPr>
              <a:t>④ 补齐缺项并验过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1316" y="1005840"/>
            <a:ext cx="2156155" cy="42062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21316" y="1005840"/>
            <a:ext cx="2156155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F4E79"/>
                </a:solidFill>
                <a:latin typeface="Microsoft YaHei"/>
              </a:rPr>
              <a:t>⑤ 得到 KEM.KeyGen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3197" y="1554480"/>
            <a:ext cx="6524274" cy="3218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70908" y="1698145"/>
            <a:ext cx="1740919" cy="466343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44060" y="1734721"/>
            <a:ext cx="19202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84C"/>
                </a:solidFill>
                <a:latin typeface="Microsoft YaHei"/>
              </a:rPr>
              <a:t>NTT 数论变换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4060" y="1972465"/>
            <a:ext cx="19202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D4F"/>
                </a:solidFill>
                <a:latin typeface="Microsoft YaHei"/>
              </a:rPr>
              <a:t>✓ 已获证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0908" y="2356513"/>
            <a:ext cx="1740919" cy="466343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4060" y="2393089"/>
            <a:ext cx="19202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84C"/>
                </a:solidFill>
                <a:latin typeface="Microsoft YaHei"/>
              </a:rPr>
              <a:t>Â 矩阵采样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4060" y="2630833"/>
            <a:ext cx="19202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D4F"/>
                </a:solidFill>
                <a:latin typeface="Microsoft YaHei"/>
              </a:rPr>
              <a:t>✓ 已获证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0908" y="3014881"/>
            <a:ext cx="1740919" cy="466343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44060" y="3051457"/>
            <a:ext cx="192024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dirty="0">
                <a:solidFill>
                  <a:srgbClr val="22384C"/>
                </a:solidFill>
                <a:latin typeface="Microsoft YaHei"/>
              </a:rPr>
              <a:t>s, e </a:t>
            </a:r>
            <a:r>
              <a:rPr lang="zh-CN" altLang="en-US" sz="1200" b="1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</a:t>
            </a:r>
            <a:r>
              <a:rPr lang="en-US" altLang="zh-CN" sz="1200" b="1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1200" b="1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噪</a:t>
            </a:r>
            <a:r>
              <a:rPr sz="1200" b="1" dirty="0" err="1">
                <a:solidFill>
                  <a:srgbClr val="22384C"/>
                </a:solidFill>
                <a:latin typeface="Microsoft YaHei"/>
              </a:rPr>
              <a:t>声采样</a:t>
            </a:r>
            <a:endParaRPr sz="1200" b="1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44060" y="3289201"/>
            <a:ext cx="19202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D4F"/>
                </a:solidFill>
                <a:latin typeface="Microsoft YaHei"/>
              </a:rPr>
              <a:t>✓ 已获证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8212" y="2386775"/>
            <a:ext cx="970885" cy="5216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zh-CN" altLang="en-US" sz="10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  <a:r>
              <a:rPr lang="zh-CN" altLang="en-US" sz="10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105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单点技术点：能被</a:t>
            </a:r>
            <a:r>
              <a:rPr lang="zh-CN" altLang="en-US" sz="10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合法</a:t>
            </a:r>
            <a:r>
              <a:rPr sz="105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引用</a:t>
            </a:r>
            <a:endParaRPr sz="105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ight Arrow 27"/>
          <p:cNvSpPr/>
          <p:nvPr/>
        </p:nvSpPr>
        <p:spPr>
          <a:xfrm rot="1944872">
            <a:off x="8409945" y="1890168"/>
            <a:ext cx="384048" cy="274320"/>
          </a:xfrm>
          <a:prstGeom prst="righ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46466" y="2011680"/>
            <a:ext cx="2148840" cy="1033271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2032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37906" y="2148840"/>
            <a:ext cx="1965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22384C"/>
                </a:solidFill>
                <a:latin typeface="Microsoft YaHei"/>
              </a:rPr>
              <a:t>PKE.KeyGen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7906" y="2459736"/>
            <a:ext cx="19659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✓ 已获证：三个单点能力合法拼装、实机对拍通过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1746504"/>
            <a:ext cx="2148840" cy="1985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zh-CN" altLang="en-US" sz="10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集成得到的新</a:t>
            </a:r>
            <a:r>
              <a:rPr sz="105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；也通过验证</a:t>
            </a:r>
            <a:endParaRPr sz="105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8326870" y="4005716"/>
            <a:ext cx="384048" cy="274320"/>
          </a:xfrm>
          <a:prstGeom prst="rightArrow">
            <a:avLst/>
          </a:prstGeom>
          <a:solidFill>
            <a:srgbClr val="D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832215" y="3809427"/>
            <a:ext cx="2377440" cy="704088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22860">
            <a:solidFill>
              <a:srgbClr val="D960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23655" y="3802497"/>
            <a:ext cx="219456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dirty="0" err="1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收尾接缝</a:t>
            </a:r>
            <a:r>
              <a:rPr sz="1300" b="1" dirty="0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300" b="1" dirty="0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缺失项</a:t>
            </a:r>
            <a:r>
              <a:rPr sz="1300" b="1" dirty="0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3655" y="4095105"/>
            <a:ext cx="2194560" cy="6949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9601A"/>
                </a:solidFill>
                <a:latin typeface="Microsoft YaHei"/>
              </a:rPr>
              <a:t>✗ 缺项：目标要用，却没人验过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384C"/>
                </a:solidFill>
                <a:latin typeface="Microsoft YaHei"/>
              </a:rPr>
              <a:t>把 PKE 公私钥装成 KEM 密钥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2215" y="4550091"/>
            <a:ext cx="2377440" cy="1985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dirty="0" err="1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050" b="1" dirty="0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论识别</a:t>
            </a:r>
            <a:r>
              <a:rPr sz="1050" b="1" dirty="0" err="1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出来的</a:t>
            </a:r>
            <a:r>
              <a:rPr lang="zh-CN" altLang="en-US" sz="1050" b="1" dirty="0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能力缺失</a:t>
            </a:r>
            <a:r>
              <a:rPr sz="1050" b="1" dirty="0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</a:p>
        </p:txBody>
      </p:sp>
      <p:sp>
        <p:nvSpPr>
          <p:cNvPr id="38" name="Right Arrow 37"/>
          <p:cNvSpPr/>
          <p:nvPr/>
        </p:nvSpPr>
        <p:spPr>
          <a:xfrm rot="5400000">
            <a:off x="9928862" y="3278123"/>
            <a:ext cx="384048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794871" y="3785615"/>
            <a:ext cx="2514600" cy="7279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228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86311" y="3820785"/>
            <a:ext cx="23317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dirty="0" err="1">
                <a:solidFill>
                  <a:srgbClr val="1F4E79"/>
                </a:solidFill>
                <a:latin typeface="Microsoft YaHei"/>
              </a:rPr>
              <a:t>KEM.KeyGen（目标</a:t>
            </a:r>
            <a:r>
              <a:rPr sz="1300" b="1" dirty="0">
                <a:solidFill>
                  <a:srgbClr val="1F4E79"/>
                </a:solidFill>
                <a:latin typeface="Microsoft YaHei"/>
              </a:rPr>
              <a:t>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6311" y="4131681"/>
            <a:ext cx="2331720" cy="37548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22384C"/>
                </a:solidFill>
                <a:latin typeface="Microsoft YaHei"/>
              </a:rPr>
              <a:t>缺项补齐并单独验过之后，这一步才允许开工</a:t>
            </a:r>
            <a:endParaRPr sz="1100" b="0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794871" y="4550091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F4E79"/>
                </a:solidFill>
                <a:latin typeface="Microsoft YaHei"/>
              </a:rPr>
              <a:t>补完才亮绿灯</a:t>
            </a:r>
          </a:p>
        </p:txBody>
      </p:sp>
      <p:sp>
        <p:nvSpPr>
          <p:cNvPr id="56" name="Right Arrow 27">
            <a:extLst>
              <a:ext uri="{FF2B5EF4-FFF2-40B4-BE49-F238E27FC236}">
                <a16:creationId xmlns:a16="http://schemas.microsoft.com/office/drawing/2014/main" id="{B7B35227-736A-FED2-ACE9-8978BE0A8583}"/>
              </a:ext>
            </a:extLst>
          </p:cNvPr>
          <p:cNvSpPr/>
          <p:nvPr/>
        </p:nvSpPr>
        <p:spPr>
          <a:xfrm>
            <a:off x="8417055" y="2429665"/>
            <a:ext cx="384048" cy="274320"/>
          </a:xfrm>
          <a:prstGeom prst="righ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ight Arrow 27">
            <a:extLst>
              <a:ext uri="{FF2B5EF4-FFF2-40B4-BE49-F238E27FC236}">
                <a16:creationId xmlns:a16="http://schemas.microsoft.com/office/drawing/2014/main" id="{256B9D61-8C1E-CC80-39EC-27E7E0F913B3}"/>
              </a:ext>
            </a:extLst>
          </p:cNvPr>
          <p:cNvSpPr/>
          <p:nvPr/>
        </p:nvSpPr>
        <p:spPr>
          <a:xfrm rot="19750828">
            <a:off x="8404247" y="2984164"/>
            <a:ext cx="384048" cy="274320"/>
          </a:xfrm>
          <a:prstGeom prst="righ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5DE7074C-14E4-DF6C-797B-B2191D00D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65" y="3652968"/>
            <a:ext cx="3097339" cy="1120200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6A286F0A-3BB7-767D-618A-D05234646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065" y="1481328"/>
            <a:ext cx="2415706" cy="2098513"/>
          </a:xfrm>
          <a:prstGeom prst="rect">
            <a:avLst/>
          </a:prstGeom>
        </p:spPr>
      </p:pic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8674A870-004C-E2C3-893C-E89D948667E3}"/>
              </a:ext>
            </a:extLst>
          </p:cNvPr>
          <p:cNvSpPr/>
          <p:nvPr/>
        </p:nvSpPr>
        <p:spPr>
          <a:xfrm>
            <a:off x="1411583" y="3051457"/>
            <a:ext cx="742566" cy="44932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A77EAA13-953F-D998-43DB-43CB15DD62A6}"/>
              </a:ext>
            </a:extLst>
          </p:cNvPr>
          <p:cNvSpPr/>
          <p:nvPr/>
        </p:nvSpPr>
        <p:spPr>
          <a:xfrm>
            <a:off x="1411582" y="2043237"/>
            <a:ext cx="1204245" cy="416499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9262C0A4-457C-ED36-F949-878CDDA74496}"/>
              </a:ext>
            </a:extLst>
          </p:cNvPr>
          <p:cNvSpPr/>
          <p:nvPr/>
        </p:nvSpPr>
        <p:spPr>
          <a:xfrm>
            <a:off x="1411583" y="2514599"/>
            <a:ext cx="1389260" cy="45779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217FDFD8-4460-4007-4E48-CF5FF280CB29}"/>
              </a:ext>
            </a:extLst>
          </p:cNvPr>
          <p:cNvSpPr/>
          <p:nvPr/>
        </p:nvSpPr>
        <p:spPr>
          <a:xfrm>
            <a:off x="1087523" y="4448478"/>
            <a:ext cx="968435" cy="203225"/>
          </a:xfrm>
          <a:prstGeom prst="round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TextBox 26">
            <a:extLst>
              <a:ext uri="{FF2B5EF4-FFF2-40B4-BE49-F238E27FC236}">
                <a16:creationId xmlns:a16="http://schemas.microsoft.com/office/drawing/2014/main" id="{DC9761C7-7B21-F174-0C39-418DEFAF95B9}"/>
              </a:ext>
            </a:extLst>
          </p:cNvPr>
          <p:cNvSpPr txBox="1"/>
          <p:nvPr/>
        </p:nvSpPr>
        <p:spPr>
          <a:xfrm>
            <a:off x="279698" y="2530420"/>
            <a:ext cx="970885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zh-CN" altLang="en-US" sz="120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已验证项</a:t>
            </a:r>
            <a:endParaRPr sz="1200" b="1" dirty="0">
              <a:solidFill>
                <a:srgbClr val="2E7D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Box 26">
            <a:extLst>
              <a:ext uri="{FF2B5EF4-FFF2-40B4-BE49-F238E27FC236}">
                <a16:creationId xmlns:a16="http://schemas.microsoft.com/office/drawing/2014/main" id="{7C1E1B3B-5BE4-533E-2996-946E5C4D7BE5}"/>
              </a:ext>
            </a:extLst>
          </p:cNvPr>
          <p:cNvSpPr txBox="1"/>
          <p:nvPr/>
        </p:nvSpPr>
        <p:spPr>
          <a:xfrm>
            <a:off x="319427" y="4438811"/>
            <a:ext cx="793933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zh-CN" altLang="en-US" sz="1200" b="1" dirty="0">
                <a:solidFill>
                  <a:srgbClr val="DB66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缺失项</a:t>
            </a:r>
            <a:endParaRPr sz="1200" b="1" dirty="0">
              <a:solidFill>
                <a:srgbClr val="DB66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Rounded Rectangle 6">
            <a:extLst>
              <a:ext uri="{FF2B5EF4-FFF2-40B4-BE49-F238E27FC236}">
                <a16:creationId xmlns:a16="http://schemas.microsoft.com/office/drawing/2014/main" id="{8C41792C-61A0-C583-AE66-071DE00310A0}"/>
              </a:ext>
            </a:extLst>
          </p:cNvPr>
          <p:cNvSpPr/>
          <p:nvPr/>
        </p:nvSpPr>
        <p:spPr>
          <a:xfrm>
            <a:off x="350520" y="4824411"/>
            <a:ext cx="11365992" cy="9199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">
            <a:extLst>
              <a:ext uri="{FF2B5EF4-FFF2-40B4-BE49-F238E27FC236}">
                <a16:creationId xmlns:a16="http://schemas.microsoft.com/office/drawing/2014/main" id="{80A7A9CD-04A4-E503-1555-E8F05BDD2893}"/>
              </a:ext>
            </a:extLst>
          </p:cNvPr>
          <p:cNvSpPr/>
          <p:nvPr/>
        </p:nvSpPr>
        <p:spPr>
          <a:xfrm>
            <a:off x="364275" y="4877770"/>
            <a:ext cx="1481328" cy="849513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">
            <a:extLst>
              <a:ext uri="{FF2B5EF4-FFF2-40B4-BE49-F238E27FC236}">
                <a16:creationId xmlns:a16="http://schemas.microsoft.com/office/drawing/2014/main" id="{E199AFD3-C4E0-D4FB-523E-1B9987BDF1AF}"/>
              </a:ext>
            </a:extLst>
          </p:cNvPr>
          <p:cNvSpPr txBox="1"/>
          <p:nvPr/>
        </p:nvSpPr>
        <p:spPr>
          <a:xfrm>
            <a:off x="460248" y="4957999"/>
            <a:ext cx="1261872" cy="2600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dirty="0">
                <a:solidFill>
                  <a:srgbClr val="B23A2F"/>
                </a:solidFill>
                <a:latin typeface="Microsoft YaHei"/>
              </a:rPr>
              <a:t>A </a:t>
            </a:r>
            <a:r>
              <a:rPr lang="en-US" sz="1450" b="1" dirty="0" err="1">
                <a:solidFill>
                  <a:srgbClr val="B23A2F"/>
                </a:solidFill>
                <a:latin typeface="Microsoft YaHei"/>
              </a:rPr>
              <a:t>AI</a:t>
            </a:r>
            <a:r>
              <a:rPr sz="1450" b="1" dirty="0" err="1">
                <a:solidFill>
                  <a:srgbClr val="B23A2F"/>
                </a:solidFill>
                <a:latin typeface="Microsoft YaHei"/>
              </a:rPr>
              <a:t>开放探索</a:t>
            </a:r>
            <a:endParaRPr sz="1450" b="1" dirty="0">
              <a:solidFill>
                <a:srgbClr val="B23A2F"/>
              </a:solidFill>
              <a:latin typeface="Microsoft YaHei"/>
            </a:endParaRPr>
          </a:p>
        </p:txBody>
      </p:sp>
      <p:sp>
        <p:nvSpPr>
          <p:cNvPr id="84" name="TextBox 9">
            <a:extLst>
              <a:ext uri="{FF2B5EF4-FFF2-40B4-BE49-F238E27FC236}">
                <a16:creationId xmlns:a16="http://schemas.microsoft.com/office/drawing/2014/main" id="{8B857B81-1080-1EE8-F5DA-57214BBD8E4D}"/>
              </a:ext>
            </a:extLst>
          </p:cNvPr>
          <p:cNvSpPr txBox="1"/>
          <p:nvPr/>
        </p:nvSpPr>
        <p:spPr>
          <a:xfrm>
            <a:off x="503411" y="5250607"/>
            <a:ext cx="1261872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只给一句目标，
不给边界与禁区</a:t>
            </a:r>
          </a:p>
        </p:txBody>
      </p:sp>
      <p:sp>
        <p:nvSpPr>
          <p:cNvPr id="86" name="Rounded Rectangle 10">
            <a:extLst>
              <a:ext uri="{FF2B5EF4-FFF2-40B4-BE49-F238E27FC236}">
                <a16:creationId xmlns:a16="http://schemas.microsoft.com/office/drawing/2014/main" id="{88C25641-FF83-4534-C0ED-BAE38B856414}"/>
              </a:ext>
            </a:extLst>
          </p:cNvPr>
          <p:cNvSpPr/>
          <p:nvPr/>
        </p:nvSpPr>
        <p:spPr>
          <a:xfrm>
            <a:off x="1978152" y="5086015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270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11">
            <a:extLst>
              <a:ext uri="{FF2B5EF4-FFF2-40B4-BE49-F238E27FC236}">
                <a16:creationId xmlns:a16="http://schemas.microsoft.com/office/drawing/2014/main" id="{280B7EE6-5D23-D3A0-21C2-27D366142C7C}"/>
              </a:ext>
            </a:extLst>
          </p:cNvPr>
          <p:cNvSpPr txBox="1"/>
          <p:nvPr/>
        </p:nvSpPr>
        <p:spPr>
          <a:xfrm>
            <a:off x="2080053" y="5198673"/>
            <a:ext cx="1554480" cy="2139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zh-CN" altLang="en-US"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提示词</a:t>
            </a:r>
            <a:r>
              <a:rPr sz="1150" b="0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只给一句话</a:t>
            </a:r>
            <a:endParaRPr sz="1150" b="0" dirty="0">
              <a:solidFill>
                <a:srgbClr val="2238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Right Arrow 12">
            <a:extLst>
              <a:ext uri="{FF2B5EF4-FFF2-40B4-BE49-F238E27FC236}">
                <a16:creationId xmlns:a16="http://schemas.microsoft.com/office/drawing/2014/main" id="{0D8A20DE-5258-0B45-E16C-4581E80AF592}"/>
              </a:ext>
            </a:extLst>
          </p:cNvPr>
          <p:cNvSpPr/>
          <p:nvPr/>
        </p:nvSpPr>
        <p:spPr>
          <a:xfrm>
            <a:off x="3715512" y="5213671"/>
            <a:ext cx="219456" cy="192312"/>
          </a:xfrm>
          <a:prstGeom prst="rightArrow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13">
            <a:extLst>
              <a:ext uri="{FF2B5EF4-FFF2-40B4-BE49-F238E27FC236}">
                <a16:creationId xmlns:a16="http://schemas.microsoft.com/office/drawing/2014/main" id="{4543B940-8550-0F0C-7A5B-D037F63D9E60}"/>
              </a:ext>
            </a:extLst>
          </p:cNvPr>
          <p:cNvSpPr/>
          <p:nvPr/>
        </p:nvSpPr>
        <p:spPr>
          <a:xfrm>
            <a:off x="3971544" y="5086015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270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14">
            <a:extLst>
              <a:ext uri="{FF2B5EF4-FFF2-40B4-BE49-F238E27FC236}">
                <a16:creationId xmlns:a16="http://schemas.microsoft.com/office/drawing/2014/main" id="{41914BCE-D163-DA37-87E1-4AD61EDE97D4}"/>
              </a:ext>
            </a:extLst>
          </p:cNvPr>
          <p:cNvSpPr txBox="1"/>
          <p:nvPr/>
        </p:nvSpPr>
        <p:spPr>
          <a:xfrm>
            <a:off x="4073445" y="5198673"/>
            <a:ext cx="1554480" cy="2139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altLang="zh-CN" sz="1150" b="0" dirty="0" err="1">
                <a:solidFill>
                  <a:srgbClr val="22384C"/>
                </a:solidFill>
                <a:latin typeface="Microsoft YaHei"/>
              </a:rPr>
              <a:t>AI</a:t>
            </a:r>
            <a:r>
              <a:rPr sz="1150" b="0" dirty="0" err="1">
                <a:solidFill>
                  <a:srgbClr val="22384C"/>
                </a:solidFill>
                <a:latin typeface="Microsoft YaHei"/>
              </a:rPr>
              <a:t>四处试、来回改</a:t>
            </a:r>
            <a:endParaRPr sz="1150" b="0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96" name="Right Arrow 15">
            <a:extLst>
              <a:ext uri="{FF2B5EF4-FFF2-40B4-BE49-F238E27FC236}">
                <a16:creationId xmlns:a16="http://schemas.microsoft.com/office/drawing/2014/main" id="{9A878CEE-882F-47CC-D314-CA05F86A4E27}"/>
              </a:ext>
            </a:extLst>
          </p:cNvPr>
          <p:cNvSpPr/>
          <p:nvPr/>
        </p:nvSpPr>
        <p:spPr>
          <a:xfrm>
            <a:off x="5708904" y="5213671"/>
            <a:ext cx="219456" cy="192312"/>
          </a:xfrm>
          <a:prstGeom prst="rightArrow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16">
            <a:extLst>
              <a:ext uri="{FF2B5EF4-FFF2-40B4-BE49-F238E27FC236}">
                <a16:creationId xmlns:a16="http://schemas.microsoft.com/office/drawing/2014/main" id="{17955376-920C-6CE4-1732-3868AC51C160}"/>
              </a:ext>
            </a:extLst>
          </p:cNvPr>
          <p:cNvSpPr/>
          <p:nvPr/>
        </p:nvSpPr>
        <p:spPr>
          <a:xfrm>
            <a:off x="5964936" y="5086015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270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17">
            <a:extLst>
              <a:ext uri="{FF2B5EF4-FFF2-40B4-BE49-F238E27FC236}">
                <a16:creationId xmlns:a16="http://schemas.microsoft.com/office/drawing/2014/main" id="{6120D876-A246-2A53-B780-E17CD090FF8C}"/>
              </a:ext>
            </a:extLst>
          </p:cNvPr>
          <p:cNvSpPr txBox="1"/>
          <p:nvPr/>
        </p:nvSpPr>
        <p:spPr>
          <a:xfrm>
            <a:off x="6066837" y="4839282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22384C"/>
                </a:solidFill>
                <a:latin typeface="Microsoft YaHei"/>
              </a:rPr>
              <a:t>撞上已关闭路线</a:t>
            </a:r>
            <a:endParaRPr sz="1150" b="0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102" name="Right Arrow 18">
            <a:extLst>
              <a:ext uri="{FF2B5EF4-FFF2-40B4-BE49-F238E27FC236}">
                <a16:creationId xmlns:a16="http://schemas.microsoft.com/office/drawing/2014/main" id="{108817D9-C780-584B-E73B-FCDBB92A6096}"/>
              </a:ext>
            </a:extLst>
          </p:cNvPr>
          <p:cNvSpPr/>
          <p:nvPr/>
        </p:nvSpPr>
        <p:spPr>
          <a:xfrm>
            <a:off x="7702296" y="5213671"/>
            <a:ext cx="219456" cy="192312"/>
          </a:xfrm>
          <a:prstGeom prst="rightArrow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9">
            <a:extLst>
              <a:ext uri="{FF2B5EF4-FFF2-40B4-BE49-F238E27FC236}">
                <a16:creationId xmlns:a16="http://schemas.microsoft.com/office/drawing/2014/main" id="{8866F855-1EE7-24E9-6949-D329B581FDF4}"/>
              </a:ext>
            </a:extLst>
          </p:cNvPr>
          <p:cNvSpPr/>
          <p:nvPr/>
        </p:nvSpPr>
        <p:spPr>
          <a:xfrm>
            <a:off x="7958328" y="5086015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270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20">
            <a:extLst>
              <a:ext uri="{FF2B5EF4-FFF2-40B4-BE49-F238E27FC236}">
                <a16:creationId xmlns:a16="http://schemas.microsoft.com/office/drawing/2014/main" id="{C01D4290-03F1-7F8A-3DA6-165A717AEE79}"/>
              </a:ext>
            </a:extLst>
          </p:cNvPr>
          <p:cNvSpPr txBox="1"/>
          <p:nvPr/>
        </p:nvSpPr>
        <p:spPr>
          <a:xfrm>
            <a:off x="8060229" y="4839282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反复返工、空转</a:t>
            </a:r>
          </a:p>
        </p:txBody>
      </p:sp>
      <p:sp>
        <p:nvSpPr>
          <p:cNvPr id="108" name="Right Arrow 21">
            <a:extLst>
              <a:ext uri="{FF2B5EF4-FFF2-40B4-BE49-F238E27FC236}">
                <a16:creationId xmlns:a16="http://schemas.microsoft.com/office/drawing/2014/main" id="{D891A35C-D677-C7BC-8037-D737FC5439FC}"/>
              </a:ext>
            </a:extLst>
          </p:cNvPr>
          <p:cNvSpPr/>
          <p:nvPr/>
        </p:nvSpPr>
        <p:spPr>
          <a:xfrm>
            <a:off x="9695688" y="5213671"/>
            <a:ext cx="219456" cy="192312"/>
          </a:xfrm>
          <a:prstGeom prst="rightArrow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22">
            <a:extLst>
              <a:ext uri="{FF2B5EF4-FFF2-40B4-BE49-F238E27FC236}">
                <a16:creationId xmlns:a16="http://schemas.microsoft.com/office/drawing/2014/main" id="{80B574D1-A48C-2339-7C02-CCF25FA7CEED}"/>
              </a:ext>
            </a:extLst>
          </p:cNvPr>
          <p:cNvSpPr/>
          <p:nvPr/>
        </p:nvSpPr>
        <p:spPr>
          <a:xfrm>
            <a:off x="9951720" y="5086015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F6DAD5"/>
          </a:solidFill>
          <a:ln w="2032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23">
            <a:extLst>
              <a:ext uri="{FF2B5EF4-FFF2-40B4-BE49-F238E27FC236}">
                <a16:creationId xmlns:a16="http://schemas.microsoft.com/office/drawing/2014/main" id="{09AD3FE3-ABE4-FA9B-7BA3-247BDF4CE6D8}"/>
              </a:ext>
            </a:extLst>
          </p:cNvPr>
          <p:cNvSpPr txBox="1"/>
          <p:nvPr/>
        </p:nvSpPr>
        <p:spPr>
          <a:xfrm>
            <a:off x="10053621" y="4839282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B23A2F"/>
                </a:solidFill>
                <a:latin typeface="Microsoft YaHei"/>
              </a:rPr>
              <a:t>结果对，
但形态不可交付</a:t>
            </a:r>
          </a:p>
        </p:txBody>
      </p:sp>
      <p:sp>
        <p:nvSpPr>
          <p:cNvPr id="114" name="TextBox 24">
            <a:extLst>
              <a:ext uri="{FF2B5EF4-FFF2-40B4-BE49-F238E27FC236}">
                <a16:creationId xmlns:a16="http://schemas.microsoft.com/office/drawing/2014/main" id="{C98F374B-BDB7-F4D7-C70B-6260805C859A}"/>
              </a:ext>
            </a:extLst>
          </p:cNvPr>
          <p:cNvSpPr txBox="1"/>
          <p:nvPr/>
        </p:nvSpPr>
        <p:spPr>
          <a:xfrm>
            <a:off x="9225457" y="5530477"/>
            <a:ext cx="2430620" cy="2139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 dirty="0" err="1">
                <a:solidFill>
                  <a:srgbClr val="B23A2F"/>
                </a:solidFill>
                <a:latin typeface="Microsoft YaHei"/>
              </a:rPr>
              <a:t>伪完成：过程发散、额度烧掉</a:t>
            </a:r>
            <a:endParaRPr sz="1150" b="1" dirty="0">
              <a:solidFill>
                <a:srgbClr val="B23A2F"/>
              </a:solidFill>
              <a:latin typeface="Microsoft YaHei"/>
            </a:endParaRPr>
          </a:p>
        </p:txBody>
      </p:sp>
      <p:sp>
        <p:nvSpPr>
          <p:cNvPr id="116" name="Rounded Rectangle 25">
            <a:extLst>
              <a:ext uri="{FF2B5EF4-FFF2-40B4-BE49-F238E27FC236}">
                <a16:creationId xmlns:a16="http://schemas.microsoft.com/office/drawing/2014/main" id="{67C96EC1-5EB1-EEE7-28C8-0AAA645FFC0C}"/>
              </a:ext>
            </a:extLst>
          </p:cNvPr>
          <p:cNvSpPr/>
          <p:nvPr/>
        </p:nvSpPr>
        <p:spPr>
          <a:xfrm>
            <a:off x="350520" y="5942298"/>
            <a:ext cx="11365992" cy="7953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26">
            <a:extLst>
              <a:ext uri="{FF2B5EF4-FFF2-40B4-BE49-F238E27FC236}">
                <a16:creationId xmlns:a16="http://schemas.microsoft.com/office/drawing/2014/main" id="{8452DDFD-9CC7-31B4-898F-F8B6C3B48C66}"/>
              </a:ext>
            </a:extLst>
          </p:cNvPr>
          <p:cNvSpPr/>
          <p:nvPr/>
        </p:nvSpPr>
        <p:spPr>
          <a:xfrm>
            <a:off x="415868" y="5967879"/>
            <a:ext cx="1415979" cy="722377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27">
            <a:extLst>
              <a:ext uri="{FF2B5EF4-FFF2-40B4-BE49-F238E27FC236}">
                <a16:creationId xmlns:a16="http://schemas.microsoft.com/office/drawing/2014/main" id="{E08899A6-8AAF-0EA3-977C-43711E8575FA}"/>
              </a:ext>
            </a:extLst>
          </p:cNvPr>
          <p:cNvSpPr txBox="1"/>
          <p:nvPr/>
        </p:nvSpPr>
        <p:spPr>
          <a:xfrm>
            <a:off x="460248" y="5967881"/>
            <a:ext cx="1371600" cy="2600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sz="1450" b="1" dirty="0" err="1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4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论指导</a:t>
            </a:r>
            <a:endParaRPr sz="1450" b="1" dirty="0">
              <a:solidFill>
                <a:srgbClr val="2E7D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TextBox 28">
            <a:extLst>
              <a:ext uri="{FF2B5EF4-FFF2-40B4-BE49-F238E27FC236}">
                <a16:creationId xmlns:a16="http://schemas.microsoft.com/office/drawing/2014/main" id="{005C9E2F-3A92-E9A8-F3C4-F4710BA10D2B}"/>
              </a:ext>
            </a:extLst>
          </p:cNvPr>
          <p:cNvSpPr txBox="1"/>
          <p:nvPr/>
        </p:nvSpPr>
        <p:spPr>
          <a:xfrm>
            <a:off x="522213" y="6246180"/>
            <a:ext cx="1261872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22384C"/>
                </a:solidFill>
                <a:latin typeface="Microsoft YaHei"/>
              </a:rPr>
              <a:t>先制表，再写码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；
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搜索面被收住</a:t>
            </a:r>
            <a:endParaRPr sz="1100" b="0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124" name="Rounded Rectangle 29">
            <a:extLst>
              <a:ext uri="{FF2B5EF4-FFF2-40B4-BE49-F238E27FC236}">
                <a16:creationId xmlns:a16="http://schemas.microsoft.com/office/drawing/2014/main" id="{EA55DFE0-BF3D-13AE-F941-E1E6EF17F5D1}"/>
              </a:ext>
            </a:extLst>
          </p:cNvPr>
          <p:cNvSpPr/>
          <p:nvPr/>
        </p:nvSpPr>
        <p:spPr>
          <a:xfrm>
            <a:off x="1978152" y="6095897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30">
            <a:extLst>
              <a:ext uri="{FF2B5EF4-FFF2-40B4-BE49-F238E27FC236}">
                <a16:creationId xmlns:a16="http://schemas.microsoft.com/office/drawing/2014/main" id="{360DD5C5-78EF-B1CC-3144-107705803403}"/>
              </a:ext>
            </a:extLst>
          </p:cNvPr>
          <p:cNvSpPr txBox="1"/>
          <p:nvPr/>
        </p:nvSpPr>
        <p:spPr>
          <a:xfrm>
            <a:off x="2051304" y="6106133"/>
            <a:ext cx="1554480" cy="39087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zh-CN" altLang="en-US"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写详细方案：</a:t>
            </a:r>
            <a:r>
              <a:rPr sz="1150" b="0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写清目标与验收</a:t>
            </a:r>
            <a:r>
              <a:rPr lang="zh-CN" altLang="en-US"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endParaRPr sz="1150" b="0" dirty="0">
              <a:solidFill>
                <a:srgbClr val="2238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Right Arrow 31">
            <a:extLst>
              <a:ext uri="{FF2B5EF4-FFF2-40B4-BE49-F238E27FC236}">
                <a16:creationId xmlns:a16="http://schemas.microsoft.com/office/drawing/2014/main" id="{799E21B4-2110-CD23-C0D1-4E630BFB6E39}"/>
              </a:ext>
            </a:extLst>
          </p:cNvPr>
          <p:cNvSpPr/>
          <p:nvPr/>
        </p:nvSpPr>
        <p:spPr>
          <a:xfrm>
            <a:off x="3715512" y="6222683"/>
            <a:ext cx="219456" cy="192312"/>
          </a:xfrm>
          <a:prstGeom prst="righ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ounded Rectangle 32">
            <a:extLst>
              <a:ext uri="{FF2B5EF4-FFF2-40B4-BE49-F238E27FC236}">
                <a16:creationId xmlns:a16="http://schemas.microsoft.com/office/drawing/2014/main" id="{7C0ECF61-3114-150F-DF60-B14C6C7AFE9B}"/>
              </a:ext>
            </a:extLst>
          </p:cNvPr>
          <p:cNvSpPr/>
          <p:nvPr/>
        </p:nvSpPr>
        <p:spPr>
          <a:xfrm>
            <a:off x="3971544" y="6095897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33">
            <a:extLst>
              <a:ext uri="{FF2B5EF4-FFF2-40B4-BE49-F238E27FC236}">
                <a16:creationId xmlns:a16="http://schemas.microsoft.com/office/drawing/2014/main" id="{76391B1D-9EEA-979A-893A-74310566F5DD}"/>
              </a:ext>
            </a:extLst>
          </p:cNvPr>
          <p:cNvSpPr txBox="1"/>
          <p:nvPr/>
        </p:nvSpPr>
        <p:spPr>
          <a:xfrm>
            <a:off x="4044696" y="6194618"/>
            <a:ext cx="1554480" cy="2139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zh-CN" altLang="en-US"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r>
              <a:rPr sz="1150" b="0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已验证</a:t>
            </a:r>
            <a:r>
              <a:rPr lang="zh-CN" altLang="en-US" sz="115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sz="1150" b="0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缺项</a:t>
            </a:r>
            <a:endParaRPr sz="1150" b="0" dirty="0">
              <a:solidFill>
                <a:srgbClr val="2238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Right Arrow 34">
            <a:extLst>
              <a:ext uri="{FF2B5EF4-FFF2-40B4-BE49-F238E27FC236}">
                <a16:creationId xmlns:a16="http://schemas.microsoft.com/office/drawing/2014/main" id="{2AD049EE-9942-CED6-81F7-D65E2E6DF347}"/>
              </a:ext>
            </a:extLst>
          </p:cNvPr>
          <p:cNvSpPr/>
          <p:nvPr/>
        </p:nvSpPr>
        <p:spPr>
          <a:xfrm>
            <a:off x="5708904" y="6222683"/>
            <a:ext cx="219456" cy="192312"/>
          </a:xfrm>
          <a:prstGeom prst="righ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35">
            <a:extLst>
              <a:ext uri="{FF2B5EF4-FFF2-40B4-BE49-F238E27FC236}">
                <a16:creationId xmlns:a16="http://schemas.microsoft.com/office/drawing/2014/main" id="{A4F317DC-8B9F-1172-513E-8DA0BB0C0B23}"/>
              </a:ext>
            </a:extLst>
          </p:cNvPr>
          <p:cNvSpPr/>
          <p:nvPr/>
        </p:nvSpPr>
        <p:spPr>
          <a:xfrm>
            <a:off x="5964936" y="6095897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36">
            <a:extLst>
              <a:ext uri="{FF2B5EF4-FFF2-40B4-BE49-F238E27FC236}">
                <a16:creationId xmlns:a16="http://schemas.microsoft.com/office/drawing/2014/main" id="{FDAB16E8-6062-F02C-7FB2-004559F22911}"/>
              </a:ext>
            </a:extLst>
          </p:cNvPr>
          <p:cNvSpPr txBox="1"/>
          <p:nvPr/>
        </p:nvSpPr>
        <p:spPr>
          <a:xfrm>
            <a:off x="6038088" y="5835227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禁止项当场拦住</a:t>
            </a:r>
          </a:p>
        </p:txBody>
      </p:sp>
      <p:sp>
        <p:nvSpPr>
          <p:cNvPr id="140" name="Right Arrow 37">
            <a:extLst>
              <a:ext uri="{FF2B5EF4-FFF2-40B4-BE49-F238E27FC236}">
                <a16:creationId xmlns:a16="http://schemas.microsoft.com/office/drawing/2014/main" id="{8FE921F7-0B37-2331-64C4-1BDDC69096CA}"/>
              </a:ext>
            </a:extLst>
          </p:cNvPr>
          <p:cNvSpPr/>
          <p:nvPr/>
        </p:nvSpPr>
        <p:spPr>
          <a:xfrm>
            <a:off x="7702296" y="6222683"/>
            <a:ext cx="219456" cy="192312"/>
          </a:xfrm>
          <a:prstGeom prst="righ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38">
            <a:extLst>
              <a:ext uri="{FF2B5EF4-FFF2-40B4-BE49-F238E27FC236}">
                <a16:creationId xmlns:a16="http://schemas.microsoft.com/office/drawing/2014/main" id="{81A9E21A-26BE-971D-4CC4-139BB172F7FE}"/>
              </a:ext>
            </a:extLst>
          </p:cNvPr>
          <p:cNvSpPr/>
          <p:nvPr/>
        </p:nvSpPr>
        <p:spPr>
          <a:xfrm>
            <a:off x="7958328" y="6095897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39">
            <a:extLst>
              <a:ext uri="{FF2B5EF4-FFF2-40B4-BE49-F238E27FC236}">
                <a16:creationId xmlns:a16="http://schemas.microsoft.com/office/drawing/2014/main" id="{3A0F234F-BFBD-9912-E78B-6EB94F0B32DD}"/>
              </a:ext>
            </a:extLst>
          </p:cNvPr>
          <p:cNvSpPr txBox="1"/>
          <p:nvPr/>
        </p:nvSpPr>
        <p:spPr>
          <a:xfrm>
            <a:off x="8031480" y="5835227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补齐缺项并验过</a:t>
            </a:r>
          </a:p>
        </p:txBody>
      </p:sp>
      <p:sp>
        <p:nvSpPr>
          <p:cNvPr id="146" name="Right Arrow 40">
            <a:extLst>
              <a:ext uri="{FF2B5EF4-FFF2-40B4-BE49-F238E27FC236}">
                <a16:creationId xmlns:a16="http://schemas.microsoft.com/office/drawing/2014/main" id="{BF5E231C-D1CB-F033-F3B0-A4921880ACB3}"/>
              </a:ext>
            </a:extLst>
          </p:cNvPr>
          <p:cNvSpPr/>
          <p:nvPr/>
        </p:nvSpPr>
        <p:spPr>
          <a:xfrm>
            <a:off x="9695688" y="6222683"/>
            <a:ext cx="219456" cy="192312"/>
          </a:xfrm>
          <a:prstGeom prst="righ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ounded Rectangle 41">
            <a:extLst>
              <a:ext uri="{FF2B5EF4-FFF2-40B4-BE49-F238E27FC236}">
                <a16:creationId xmlns:a16="http://schemas.microsoft.com/office/drawing/2014/main" id="{C86EFB0D-5367-8343-08AA-E18C43861E09}"/>
              </a:ext>
            </a:extLst>
          </p:cNvPr>
          <p:cNvSpPr/>
          <p:nvPr/>
        </p:nvSpPr>
        <p:spPr>
          <a:xfrm>
            <a:off x="9951720" y="6095897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DCEDE3"/>
          </a:solidFill>
          <a:ln w="2032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42">
            <a:extLst>
              <a:ext uri="{FF2B5EF4-FFF2-40B4-BE49-F238E27FC236}">
                <a16:creationId xmlns:a16="http://schemas.microsoft.com/office/drawing/2014/main" id="{3F949EC3-5617-442C-D96B-4FC5337F2892}"/>
              </a:ext>
            </a:extLst>
          </p:cNvPr>
          <p:cNvSpPr txBox="1"/>
          <p:nvPr/>
        </p:nvSpPr>
        <p:spPr>
          <a:xfrm>
            <a:off x="10024872" y="5835227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dirty="0" err="1">
                <a:solidFill>
                  <a:srgbClr val="2E7D4F"/>
                </a:solidFill>
                <a:latin typeface="Microsoft YaHei"/>
              </a:rPr>
              <a:t>再写码</a:t>
            </a:r>
            <a:r>
              <a:rPr sz="1150" b="1" dirty="0">
                <a:solidFill>
                  <a:srgbClr val="2E7D4F"/>
                </a:solidFill>
                <a:latin typeface="Microsoft YaHei"/>
              </a:rPr>
              <a:t>：
</a:t>
            </a:r>
            <a:r>
              <a:rPr sz="1150" b="1" dirty="0" err="1">
                <a:solidFill>
                  <a:srgbClr val="2E7D4F"/>
                </a:solidFill>
                <a:latin typeface="Microsoft YaHei"/>
              </a:rPr>
              <a:t>可交付、可晋级</a:t>
            </a:r>
            <a:endParaRPr sz="1150" b="1" dirty="0">
              <a:solidFill>
                <a:srgbClr val="2E7D4F"/>
              </a:solidFill>
              <a:latin typeface="Microsoft YaHei"/>
            </a:endParaRPr>
          </a:p>
        </p:txBody>
      </p:sp>
      <p:sp>
        <p:nvSpPr>
          <p:cNvPr id="153" name="TextBox 24">
            <a:extLst>
              <a:ext uri="{FF2B5EF4-FFF2-40B4-BE49-F238E27FC236}">
                <a16:creationId xmlns:a16="http://schemas.microsoft.com/office/drawing/2014/main" id="{B4672A40-26FC-35D7-0E07-EF16DF09DDD7}"/>
              </a:ext>
            </a:extLst>
          </p:cNvPr>
          <p:cNvSpPr txBox="1"/>
          <p:nvPr/>
        </p:nvSpPr>
        <p:spPr>
          <a:xfrm>
            <a:off x="7702296" y="6523765"/>
            <a:ext cx="3940778" cy="2139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lang="zh-CN" altLang="en-US" sz="11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过程可控</a:t>
            </a:r>
            <a:r>
              <a:rPr sz="11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1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搜索空间收敛</a:t>
            </a:r>
            <a:r>
              <a:rPr sz="11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1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进度更快，结果更好，消耗更少</a:t>
            </a:r>
            <a:endParaRPr sz="1150" b="1" dirty="0">
              <a:solidFill>
                <a:srgbClr val="2E7D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6599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324F"/>
                </a:solidFill>
                <a:latin typeface="Microsoft YaHei"/>
              </a:rPr>
              <a:t>对照——不合理用 AI vs 合理用 AI：代价差在哪、交付范围差多少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9864"/>
            <a:ext cx="11365992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dirty="0" err="1">
                <a:solidFill>
                  <a:srgbClr val="5C6B7A"/>
                </a:solidFill>
                <a:latin typeface="Microsoft YaHei"/>
              </a:rPr>
              <a:t>同一个人、同一台机器、同一套验收</a:t>
            </a:r>
            <a:r>
              <a:rPr sz="1200" b="0" err="1">
                <a:solidFill>
                  <a:srgbClr val="5C6B7A"/>
                </a:solidFill>
                <a:latin typeface="Microsoft YaHei"/>
              </a:rPr>
              <a:t>；</a:t>
            </a:r>
            <a:r>
              <a:rPr sz="1200" b="0">
                <a:solidFill>
                  <a:srgbClr val="5C6B7A"/>
                </a:solidFill>
                <a:latin typeface="Microsoft YaHei"/>
              </a:rPr>
              <a:t>上图是算子性能与实施体感对照</a:t>
            </a:r>
            <a:endParaRPr sz="1200" b="0" dirty="0">
              <a:solidFill>
                <a:srgbClr val="5C6B7A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85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4/5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840480"/>
            <a:ext cx="2286000" cy="420624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9496" y="3840480"/>
            <a:ext cx="2029968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84C"/>
                </a:solidFill>
                <a:latin typeface="Microsoft YaHei"/>
              </a:rPr>
              <a:t>光看代价不够，还看四项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0360" y="3840480"/>
            <a:ext cx="2904743" cy="420624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905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90088" y="3840480"/>
            <a:ext cx="2685288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B23A2F"/>
                </a:solidFill>
                <a:latin typeface="Microsoft YaHei"/>
              </a:rPr>
              <a:t>A 开放式用 AI</a:t>
            </a:r>
            <a:r>
              <a:rPr sz="1050" b="0">
                <a:solidFill>
                  <a:srgbClr val="5C6B7A"/>
                </a:solidFill>
                <a:latin typeface="Microsoft YaHei"/>
              </a:rPr>
              <a:t>　没有方法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67984" y="3840480"/>
            <a:ext cx="2904743" cy="420624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77712" y="3840480"/>
            <a:ext cx="2685288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4F"/>
                </a:solidFill>
                <a:latin typeface="Microsoft YaHei"/>
              </a:rPr>
              <a:t>B 有方法用 AI</a:t>
            </a:r>
            <a:r>
              <a:rPr sz="1050" b="0">
                <a:solidFill>
                  <a:srgbClr val="5C6B7A"/>
                </a:solidFill>
                <a:latin typeface="Microsoft YaHei"/>
              </a:rPr>
              <a:t>　本场主张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5608" y="3840480"/>
            <a:ext cx="2904743" cy="42062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905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65336" y="3840480"/>
            <a:ext cx="2685288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Microsoft YaHei"/>
              </a:rPr>
              <a:t>C 人工精修</a:t>
            </a:r>
            <a:r>
              <a:rPr sz="1050" b="0">
                <a:solidFill>
                  <a:srgbClr val="5C6B7A"/>
                </a:solidFill>
                <a:latin typeface="Microsoft YaHei"/>
              </a:rPr>
              <a:t>　质量基线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4315968"/>
            <a:ext cx="2286000" cy="402336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9496" y="4315968"/>
            <a:ext cx="2029968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84C"/>
                </a:solidFill>
                <a:latin typeface="Microsoft YaHei"/>
              </a:rPr>
              <a:t>正确性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80360" y="4315968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71800" y="4315968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可能碰巧对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67984" y="4315968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59424" y="4315968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7D4F"/>
                </a:solidFill>
                <a:latin typeface="Microsoft YaHei"/>
              </a:rPr>
              <a:t>可核对通过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5608" y="4315968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7048" y="4315968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可核对通过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718304"/>
            <a:ext cx="228600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9496" y="4718304"/>
            <a:ext cx="2029968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84C"/>
                </a:solidFill>
                <a:latin typeface="Microsoft YaHei"/>
              </a:rPr>
              <a:t>算子性能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80360" y="4718304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71800" y="4718304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不稳定、无从比较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67984" y="4718304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9424" y="4718304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7D4F"/>
                </a:solidFill>
                <a:latin typeface="Microsoft YaHei"/>
              </a:rPr>
              <a:t>与 C 同量级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55608" y="4718304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7048" y="4718304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基线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" y="5120640"/>
            <a:ext cx="2286000" cy="402336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9496" y="5120640"/>
            <a:ext cx="2029968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84C"/>
                </a:solidFill>
                <a:latin typeface="Microsoft YaHei"/>
              </a:rPr>
              <a:t>可交付性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880360" y="5120640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71800" y="5120640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弱：形态不可用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67984" y="5120640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59424" y="5120640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7D4F"/>
                </a:solidFill>
                <a:latin typeface="Microsoft YaHei"/>
              </a:rPr>
              <a:t>强：可晋级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55608" y="5120640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47048" y="5120640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强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5522976"/>
            <a:ext cx="228600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39496" y="5522976"/>
            <a:ext cx="2029968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84C"/>
                </a:solidFill>
                <a:latin typeface="Microsoft YaHei"/>
              </a:rPr>
              <a:t>可迁移性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880360" y="5522976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71800" y="5522976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弱：经验不可复用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67984" y="5522976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59424" y="5522976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7D4F"/>
                </a:solidFill>
                <a:latin typeface="Microsoft YaHei"/>
              </a:rPr>
              <a:t>强：换任务照样能用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55608" y="5522976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147048" y="5522976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中：依赖个人经验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1480" y="5961888"/>
            <a:ext cx="11365992" cy="420624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11480" y="5961888"/>
            <a:ext cx="82296" cy="42062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21792" y="5961888"/>
            <a:ext cx="1106424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7D4F"/>
                </a:solidFill>
                <a:latin typeface="Microsoft YaHei"/>
              </a:rPr>
              <a:t>省的是无效派生，不是魔法提速：不是 Agent 变聪明了，而是 AI 的作业面被限制住了。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11480" y="930000"/>
            <a:ext cx="11365992" cy="258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66928" y="1000000"/>
            <a:ext cx="7000000" cy="20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单 </a:t>
            </a:r>
            <a:r>
              <a:rPr lang="en-US" altLang="zh-CN"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AI Core </a:t>
            </a:r>
            <a:r>
              <a:rPr lang="zh-CN" altLang="en-US"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上 单个 </a:t>
            </a:r>
            <a:r>
              <a:rPr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ML-KEM </a:t>
            </a:r>
            <a:r>
              <a:rPr sz="1250" b="1" dirty="0" err="1">
                <a:solidFill>
                  <a:srgbClr val="22384C"/>
                </a:solidFill>
                <a:latin typeface="Microsoft YaHei"/>
                <a:ea typeface="Microsoft YaHei"/>
              </a:rPr>
              <a:t>解封装</a:t>
            </a:r>
            <a:r>
              <a:rPr lang="zh-CN" altLang="en-US"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算子性能</a:t>
            </a:r>
            <a:r>
              <a:rPr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（</a:t>
            </a:r>
            <a:r>
              <a:rPr lang="en-US" sz="1250" b="1" dirty="0" err="1">
                <a:solidFill>
                  <a:srgbClr val="22384C"/>
                </a:solidFill>
                <a:latin typeface="Microsoft YaHei"/>
                <a:ea typeface="Microsoft YaHei"/>
              </a:rPr>
              <a:t>cycles</a:t>
            </a:r>
            <a:r>
              <a:rPr sz="1250" b="1" dirty="0" err="1">
                <a:solidFill>
                  <a:srgbClr val="22384C"/>
                </a:solidFill>
                <a:latin typeface="Microsoft YaHei"/>
                <a:ea typeface="Microsoft YaHei"/>
              </a:rPr>
              <a:t>（大致示意</a:t>
            </a:r>
            <a:r>
              <a:rPr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）</a:t>
            </a:r>
            <a:r>
              <a:rPr lang="zh-CN" altLang="en-US"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）</a:t>
            </a:r>
            <a:r>
              <a:rPr sz="1050" b="0" dirty="0">
                <a:solidFill>
                  <a:srgbClr val="5C6B7A"/>
                </a:solidFill>
                <a:latin typeface="Microsoft YaHei"/>
                <a:ea typeface="Microsoft YaHei"/>
              </a:rPr>
              <a:t>（</a:t>
            </a:r>
            <a:r>
              <a:rPr sz="1050" b="0" dirty="0" err="1">
                <a:solidFill>
                  <a:srgbClr val="5C6B7A"/>
                </a:solidFill>
                <a:latin typeface="Microsoft YaHei"/>
                <a:ea typeface="Microsoft YaHei"/>
              </a:rPr>
              <a:t>条越短越好</a:t>
            </a:r>
            <a:r>
              <a:rPr sz="1050" b="0" dirty="0">
                <a:solidFill>
                  <a:srgbClr val="5C6B7A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1210000"/>
            <a:ext cx="2150000" cy="21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3A2F"/>
                </a:solidFill>
                <a:latin typeface="Microsoft YaHei"/>
                <a:ea typeface="Microsoft YaHei"/>
              </a:rPr>
              <a:t>A 发散（开放探索）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15184" y="1220000"/>
            <a:ext cx="4937760" cy="190000"/>
          </a:xfrm>
          <a:prstGeom prst="rect">
            <a:avLst/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2615184" y="1220000"/>
            <a:ext cx="2150000" cy="189516"/>
          </a:xfrm>
          <a:prstGeom prst="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680960" y="1226514"/>
            <a:ext cx="3400000" cy="176972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dirty="0">
                <a:solidFill>
                  <a:srgbClr val="B23A2F"/>
                </a:solidFill>
                <a:latin typeface="Microsoft YaHei"/>
                <a:ea typeface="Microsoft YaHei"/>
              </a:rPr>
              <a:t>组件间调度开销</a:t>
            </a:r>
            <a:r>
              <a:rPr sz="1150" b="1" dirty="0" err="1">
                <a:solidFill>
                  <a:srgbClr val="B23A2F"/>
                </a:solidFill>
                <a:latin typeface="Microsoft YaHei"/>
                <a:ea typeface="Microsoft YaHei"/>
              </a:rPr>
              <a:t>很高</a:t>
            </a:r>
            <a:endParaRPr sz="1150" b="1" dirty="0">
              <a:solidFill>
                <a:srgbClr val="B23A2F"/>
              </a:solidFill>
              <a:latin typeface="Microsoft YaHei"/>
              <a:ea typeface="Microsoft YaHe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66928" y="1475000"/>
            <a:ext cx="2150000" cy="21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D4F"/>
                </a:solidFill>
                <a:latin typeface="Microsoft YaHei"/>
                <a:ea typeface="Microsoft YaHei"/>
              </a:rPr>
              <a:t>B 方法论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15184" y="1485000"/>
            <a:ext cx="4937760" cy="190000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615184" y="1485000"/>
            <a:ext cx="1362821" cy="1900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680960" y="1491514"/>
            <a:ext cx="3400000" cy="176972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性能</a:t>
            </a:r>
            <a:r>
              <a:rPr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与</a:t>
            </a:r>
            <a:r>
              <a:rPr lang="en-US"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 C </a:t>
            </a:r>
            <a:r>
              <a:rPr sz="1150" b="1" dirty="0" err="1">
                <a:solidFill>
                  <a:srgbClr val="2E7D4F"/>
                </a:solidFill>
                <a:latin typeface="Microsoft YaHei"/>
                <a:ea typeface="Microsoft YaHei"/>
              </a:rPr>
              <a:t>同量级</a:t>
            </a:r>
            <a:endParaRPr sz="1150" b="1" dirty="0">
              <a:solidFill>
                <a:srgbClr val="2E7D4F"/>
              </a:solidFill>
              <a:latin typeface="Microsoft YaHei"/>
              <a:ea typeface="Microsoft YaHe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66928" y="1740000"/>
            <a:ext cx="2150000" cy="21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4B5"/>
                </a:solidFill>
                <a:latin typeface="Microsoft YaHei"/>
                <a:ea typeface="Microsoft YaHei"/>
              </a:rPr>
              <a:t>C 人工精修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15184" y="1750000"/>
            <a:ext cx="4937760" cy="190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615184" y="1750000"/>
            <a:ext cx="1303568" cy="190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680960" y="1756514"/>
            <a:ext cx="3400000" cy="176972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dirty="0">
                <a:solidFill>
                  <a:srgbClr val="2E74B5"/>
                </a:solidFill>
                <a:latin typeface="Microsoft YaHei"/>
                <a:ea typeface="Microsoft YaHei"/>
              </a:rPr>
              <a:t>手动精修版代码，作为</a:t>
            </a:r>
            <a:r>
              <a:rPr sz="1150" b="1" dirty="0" err="1">
                <a:solidFill>
                  <a:srgbClr val="2E74B5"/>
                </a:solidFill>
                <a:latin typeface="Microsoft YaHei"/>
                <a:ea typeface="Microsoft YaHei"/>
              </a:rPr>
              <a:t>参照基线</a:t>
            </a:r>
            <a:endParaRPr sz="1150" b="1" dirty="0">
              <a:solidFill>
                <a:srgbClr val="2E74B5"/>
              </a:solidFill>
              <a:latin typeface="Microsoft YaHei"/>
              <a:ea typeface="Microsoft YaHei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66928" y="2045000"/>
            <a:ext cx="7000000" cy="20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2384C"/>
                </a:solidFill>
                <a:latin typeface="Microsoft YaHei"/>
                <a:ea typeface="Microsoft YaHei"/>
              </a:rPr>
              <a:t>月配额占用</a:t>
            </a:r>
            <a:r>
              <a:rPr sz="1050" b="0">
                <a:solidFill>
                  <a:srgbClr val="5C6B7A"/>
                </a:solidFill>
                <a:latin typeface="Microsoft YaHei"/>
                <a:ea typeface="Microsoft YaHei"/>
              </a:rPr>
              <a:t>（条越短越好）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2271514"/>
            <a:ext cx="2150000" cy="176972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B23A2F"/>
                </a:solidFill>
                <a:latin typeface="Microsoft YaHei"/>
                <a:ea typeface="Microsoft YaHei"/>
              </a:rPr>
              <a:t>A </a:t>
            </a:r>
            <a:r>
              <a:rPr sz="1150" b="1" dirty="0" err="1">
                <a:solidFill>
                  <a:srgbClr val="B23A2F"/>
                </a:solidFill>
                <a:latin typeface="Microsoft YaHei"/>
                <a:ea typeface="Microsoft YaHei"/>
              </a:rPr>
              <a:t>开放式</a:t>
            </a:r>
            <a:r>
              <a:rPr lang="zh-CN" altLang="en-US" sz="1150" b="1" dirty="0">
                <a:solidFill>
                  <a:srgbClr val="B23A2F"/>
                </a:solidFill>
                <a:latin typeface="Microsoft YaHei"/>
                <a:ea typeface="Microsoft YaHei"/>
              </a:rPr>
              <a:t>使</a:t>
            </a:r>
            <a:r>
              <a:rPr sz="1150" b="1" dirty="0">
                <a:solidFill>
                  <a:srgbClr val="B23A2F"/>
                </a:solidFill>
                <a:latin typeface="Microsoft YaHei"/>
                <a:ea typeface="Microsoft YaHei"/>
              </a:rPr>
              <a:t>用 AI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615184" y="2265000"/>
            <a:ext cx="4937760" cy="190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2615184" y="2265000"/>
            <a:ext cx="3308299" cy="190000"/>
          </a:xfrm>
          <a:prstGeom prst="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680960" y="2255000"/>
            <a:ext cx="3400000" cy="21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3A2F"/>
                </a:solidFill>
                <a:latin typeface="Microsoft YaHei"/>
                <a:ea typeface="Microsoft YaHei"/>
              </a:rPr>
              <a:t>约 2/3 月配额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2536514"/>
            <a:ext cx="2150000" cy="176972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B </a:t>
            </a:r>
            <a:r>
              <a:rPr sz="1150" b="1" dirty="0" err="1">
                <a:solidFill>
                  <a:srgbClr val="2E7D4F"/>
                </a:solidFill>
                <a:latin typeface="Microsoft YaHei"/>
                <a:ea typeface="Microsoft YaHei"/>
              </a:rPr>
              <a:t>方法</a:t>
            </a:r>
            <a:r>
              <a:rPr lang="zh-CN" altLang="en-US"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论指导</a:t>
            </a:r>
            <a:r>
              <a:rPr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 AI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615184" y="2530000"/>
            <a:ext cx="4937760" cy="190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615185" y="2530000"/>
            <a:ext cx="265175" cy="1900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680960" y="2536514"/>
            <a:ext cx="3400000" cy="176972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&lt;5</a:t>
            </a:r>
            <a:r>
              <a:rPr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% </a:t>
            </a:r>
            <a:r>
              <a:rPr sz="1150" b="1" dirty="0" err="1">
                <a:solidFill>
                  <a:srgbClr val="2E7D4F"/>
                </a:solidFill>
                <a:latin typeface="Microsoft YaHei"/>
                <a:ea typeface="Microsoft YaHei"/>
              </a:rPr>
              <a:t>月配额</a:t>
            </a:r>
            <a:endParaRPr sz="1150" b="1" dirty="0">
              <a:solidFill>
                <a:srgbClr val="2E7D4F"/>
              </a:solidFill>
              <a:latin typeface="Microsoft YaHei"/>
              <a:ea typeface="Microsoft YaHei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566928" y="2835000"/>
            <a:ext cx="5394960" cy="36000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397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76656" y="2835000"/>
            <a:ext cx="5175504" cy="36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23A2F"/>
                </a:solidFill>
                <a:latin typeface="Microsoft YaHei"/>
                <a:ea typeface="Microsoft YaHei"/>
              </a:rPr>
              <a:t>A 这笔代价，只换来 1 个算子（解封装），且形态不可交付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126480" y="2835000"/>
            <a:ext cx="5541264" cy="36000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397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236208" y="2930361"/>
            <a:ext cx="5321808" cy="169277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B </a:t>
            </a:r>
            <a:r>
              <a:rPr sz="1100" b="1" dirty="0" err="1">
                <a:solidFill>
                  <a:srgbClr val="2E7D4F"/>
                </a:solidFill>
                <a:latin typeface="Microsoft YaHei"/>
                <a:ea typeface="Microsoft YaHei"/>
              </a:rPr>
              <a:t>这笔代价</a:t>
            </a:r>
            <a:r>
              <a:rPr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，</a:t>
            </a:r>
            <a:r>
              <a:rPr lang="zh-CN" altLang="en-US"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后续还</a:t>
            </a:r>
            <a:r>
              <a:rPr sz="1100" b="1" dirty="0" err="1">
                <a:solidFill>
                  <a:srgbClr val="2E7D4F"/>
                </a:solidFill>
                <a:latin typeface="Microsoft YaHei"/>
                <a:ea typeface="Microsoft YaHei"/>
              </a:rPr>
              <a:t>换来整套</a:t>
            </a:r>
            <a:r>
              <a:rPr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 ML-KEM </a:t>
            </a:r>
            <a:r>
              <a:rPr lang="zh-CN" altLang="en-US"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端到端</a:t>
            </a:r>
            <a:r>
              <a:rPr sz="1100" b="1" dirty="0" err="1">
                <a:solidFill>
                  <a:srgbClr val="2E7D4F"/>
                </a:solidFill>
                <a:latin typeface="Microsoft YaHei"/>
                <a:ea typeface="Microsoft YaHei"/>
              </a:rPr>
              <a:t>全流程</a:t>
            </a:r>
            <a:r>
              <a:rPr lang="en-US" sz="1100" b="1">
                <a:solidFill>
                  <a:srgbClr val="2E7D4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100" b="1">
                <a:solidFill>
                  <a:srgbClr val="2E7D4F"/>
                </a:solidFill>
                <a:latin typeface="Microsoft YaHei"/>
                <a:ea typeface="Microsoft YaHei"/>
              </a:rPr>
              <a:t>快速</a:t>
            </a:r>
            <a:r>
              <a:rPr lang="zh-CN" altLang="en-US"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从</a:t>
            </a:r>
            <a:r>
              <a:rPr lang="en-US" altLang="zh-CN"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0</a:t>
            </a:r>
            <a:r>
              <a:rPr lang="zh-CN" altLang="en-US"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开始到完整实现</a:t>
            </a:r>
            <a:endParaRPr sz="1100" b="1" dirty="0">
              <a:solidFill>
                <a:srgbClr val="2E7D4F"/>
              </a:solidFill>
              <a:latin typeface="Microsoft YaHei"/>
              <a:ea typeface="Microsoft YaHei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66928" y="3235000"/>
            <a:ext cx="10881360" cy="20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同一个人、同一台机器、同一套验收；上图是算子性能（total ticks）与实施体感对照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14E847-A0C6-97BB-461B-1F48CC8674D6}"/>
              </a:ext>
            </a:extLst>
          </p:cNvPr>
          <p:cNvSpPr txBox="1"/>
          <p:nvPr/>
        </p:nvSpPr>
        <p:spPr>
          <a:xfrm>
            <a:off x="4003620" y="1469996"/>
            <a:ext cx="8996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050" b="1" i="0" dirty="0">
                <a:solidFill>
                  <a:srgbClr val="2E7D4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1050646</a:t>
            </a:r>
            <a:endParaRPr lang="zh-CN" altLang="en-US" dirty="0">
              <a:solidFill>
                <a:srgbClr val="2E7D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E63E359-1FB1-972E-44DD-AAF4F30A25BD}"/>
              </a:ext>
            </a:extLst>
          </p:cNvPr>
          <p:cNvSpPr txBox="1"/>
          <p:nvPr/>
        </p:nvSpPr>
        <p:spPr>
          <a:xfrm>
            <a:off x="3926547" y="1735480"/>
            <a:ext cx="8996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i="0" dirty="0">
                <a:solidFill>
                  <a:srgbClr val="2E74B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1041906</a:t>
            </a:r>
            <a:endParaRPr lang="zh-CN" altLang="en-US" dirty="0">
              <a:solidFill>
                <a:srgbClr val="2E74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C3503B-2FD9-8D0C-12FD-69DE1F152049}"/>
              </a:ext>
            </a:extLst>
          </p:cNvPr>
          <p:cNvSpPr txBox="1"/>
          <p:nvPr/>
        </p:nvSpPr>
        <p:spPr>
          <a:xfrm>
            <a:off x="4893200" y="1189992"/>
            <a:ext cx="8996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solidFill>
                  <a:srgbClr val="B23A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&gt;1</a:t>
            </a:r>
            <a:r>
              <a:rPr lang="en-US" altLang="zh-CN" sz="1050" b="1" i="0" dirty="0">
                <a:solidFill>
                  <a:srgbClr val="B23A2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500000</a:t>
            </a:r>
            <a:endParaRPr lang="zh-CN" altLang="en-US" dirty="0">
              <a:solidFill>
                <a:srgbClr val="B23A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6599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324F"/>
                </a:solidFill>
                <a:latin typeface="Microsoft YaHei"/>
              </a:rPr>
              <a:t>能带走什么——五条规矩，不绑定某个算法或平台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3504"/>
            <a:ext cx="1136599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7A"/>
                </a:solidFill>
                <a:latin typeface="Microsoft YaHei"/>
              </a:rPr>
              <a:t>方法面向一般预研：凡是「验收清楚、路线不清楚」的活，都能照着用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85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5/5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416052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4160520" cy="51206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" y="1097280"/>
            <a:ext cx="386791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</a:rPr>
              <a:t>什么样的活适合这么干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55648"/>
            <a:ext cx="3858768" cy="8412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828800"/>
            <a:ext cx="3566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dirty="0" err="1">
                <a:solidFill>
                  <a:srgbClr val="22384C"/>
                </a:solidFill>
                <a:latin typeface="Microsoft YaHei"/>
              </a:rPr>
              <a:t>验收钉死，路线不定</a:t>
            </a:r>
            <a:endParaRPr sz="1250" b="1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2157984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终点清楚，但走法要试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43200"/>
            <a:ext cx="3858768" cy="8412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816352"/>
            <a:ext cx="3566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dirty="0" err="1">
                <a:solidFill>
                  <a:srgbClr val="22384C"/>
                </a:solidFill>
                <a:latin typeface="Microsoft YaHei"/>
              </a:rPr>
              <a:t>平台小众、资料少</a:t>
            </a:r>
            <a:endParaRPr sz="1250" b="1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3145536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公开经验帮不上忙，AI 容易硬套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30752"/>
            <a:ext cx="3858768" cy="8412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803904"/>
            <a:ext cx="3566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dirty="0">
                <a:solidFill>
                  <a:srgbClr val="22384C"/>
                </a:solidFill>
                <a:latin typeface="Microsoft YaHei"/>
              </a:rPr>
              <a:t>AI </a:t>
            </a:r>
            <a:r>
              <a:rPr sz="1250" b="1" dirty="0" err="1">
                <a:solidFill>
                  <a:srgbClr val="22384C"/>
                </a:solidFill>
                <a:latin typeface="Microsoft YaHei"/>
              </a:rPr>
              <a:t>自信但会跑偏</a:t>
            </a:r>
            <a:endParaRPr sz="1250" b="1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" y="4133088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把仿真当终审、把死路当捷径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18304"/>
            <a:ext cx="3858768" cy="8412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791456"/>
            <a:ext cx="3566160" cy="22929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250" b="1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多模型</a:t>
            </a:r>
            <a:r>
              <a:rPr sz="1250" b="1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多人多会话接续</a:t>
            </a:r>
            <a:endParaRPr sz="1250" b="1" dirty="0">
              <a:solidFill>
                <a:srgbClr val="2238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232" y="5120640"/>
            <a:ext cx="3566160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换模型、</a:t>
            </a:r>
            <a:r>
              <a:rPr sz="1100" b="0" dirty="0" err="1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换人、换会话都要能接上</a:t>
            </a:r>
            <a:endParaRPr sz="1100" b="0" dirty="0">
              <a:solidFill>
                <a:srgbClr val="5C6B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828032" y="1097280"/>
            <a:ext cx="694944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28032" y="1097280"/>
            <a:ext cx="6949440" cy="512064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74336" y="1097280"/>
            <a:ext cx="665683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E7D4F"/>
                </a:solidFill>
                <a:latin typeface="Microsoft YaHei"/>
              </a:rPr>
              <a:t>五条规矩：明天就能搬到别的项目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92624" y="173736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92624" y="1737360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1719072"/>
            <a:ext cx="6172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2384C"/>
                </a:solidFill>
                <a:latin typeface="Microsoft YaHei"/>
              </a:rPr>
              <a:t>仓库是唯一事实清单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029968"/>
            <a:ext cx="6172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不靠聊天上下文结项；对话说完了不算做完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92624" y="2523744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92624" y="2523744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505456"/>
            <a:ext cx="6172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2384C"/>
                </a:solidFill>
                <a:latin typeface="Microsoft YaHei"/>
              </a:rPr>
              <a:t>完成 = 可复验证据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2816352"/>
            <a:ext cx="6172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cmp、退出码、完整 log；AI 不能自己判定完成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92624" y="331012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92624" y="3310128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3291840"/>
            <a:ext cx="6172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2384C"/>
                </a:solidFill>
                <a:latin typeface="Microsoft YaHei"/>
              </a:rPr>
              <a:t>只有验过的才算绿灯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3602736"/>
            <a:ext cx="6172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写进索引才可被引用；「好像会了」不算能力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92624" y="4096512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92624" y="4096512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078224"/>
            <a:ext cx="6172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2384C"/>
                </a:solidFill>
                <a:latin typeface="Microsoft YaHei"/>
              </a:rPr>
              <a:t>补充只在缺项里发生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4389120"/>
            <a:ext cx="6172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缺项补完要再验；接缝必须单独验过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92624" y="488289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92624" y="4882896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4864608"/>
            <a:ext cx="6172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2384C"/>
                </a:solidFill>
                <a:latin typeface="Microsoft YaHei"/>
              </a:rPr>
              <a:t>先制表，再写码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175504"/>
            <a:ext cx="6172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目标 · 已获证 · 缺项 · 接缝 · 禁止项，表不齐不开工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5961888"/>
            <a:ext cx="11365992" cy="42062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11480" y="5961888"/>
            <a:ext cx="82296" cy="4206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" y="5961888"/>
            <a:ext cx="1106424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F4E79"/>
                </a:solidFill>
                <a:latin typeface="Microsoft YaHei"/>
              </a:rPr>
              <a:t>一条能力线：先把 AI 管住，再有界往前推。资产是规矩与习惯，不是某一版源码。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761</Words>
  <Application>Microsoft Office PowerPoint</Application>
  <PresentationFormat>宽屏</PresentationFormat>
  <Paragraphs>184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 Yuan</cp:lastModifiedBy>
  <cp:revision>43</cp:revision>
  <dcterms:created xsi:type="dcterms:W3CDTF">2013-01-27T09:14:16Z</dcterms:created>
  <dcterms:modified xsi:type="dcterms:W3CDTF">2026-07-29T14:15:55Z</dcterms:modified>
  <cp:category/>
</cp:coreProperties>
</file>