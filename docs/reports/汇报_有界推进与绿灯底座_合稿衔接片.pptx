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3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A7A"/>
                </a:solidFill>
                <a:latin typeface="Microsoft YaHei"/>
                <a:ea typeface="Microsoft YaHei"/>
              </a:rPr>
              <a:t>AI 辅助硬科技研发 · 合稿材料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3252"/>
                </a:solidFill>
                <a:latin typeface="Microsoft YaHei"/>
                <a:ea typeface="Microsoft YaHei"/>
              </a:rPr>
              <a:t>有界推进与绿灯底座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0">
                <a:solidFill>
                  <a:srgbClr val="1A2A3A"/>
                </a:solidFill>
                <a:latin typeface="Microsoft YaHei"/>
                <a:ea typeface="Microsoft YaHei"/>
              </a:rPr>
              <a:t>这场汇报讲一条能力线，分两段。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1A2A3A"/>
                </a:solidFill>
                <a:latin typeface="Microsoft YaHei"/>
                <a:ea typeface="Microsoft YaHei"/>
              </a:rPr>
              <a:t>上篇：过去那个项目，在四重约束下怎么管住 AI。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1A2A3A"/>
                </a:solidFill>
                <a:latin typeface="Microsoft YaHei"/>
                <a:ea typeface="Microsoft YaHei"/>
              </a:rPr>
              <a:t>下篇：同一条线怎么升级成「绿灯底座 + 缺项里补」，冲固定可核对的终点。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1A2A3A"/>
                </a:solidFill>
                <a:latin typeface="Microsoft YaHei"/>
                <a:ea typeface="Microsoft YaHei"/>
              </a:rPr>
              <a:t>主语是 Agent 工程能力；ML-KEM 是检验床，不是算法仓库路演。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4480560" cy="105156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4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03200" bIns="508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43252"/>
                </a:solidFill>
                <a:latin typeface="Microsoft YaHei"/>
                <a:ea typeface="Microsoft YaHei"/>
              </a:rPr>
              <a:t>上篇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1A2A3A"/>
                </a:solidFill>
                <a:latin typeface="Microsoft YaHei"/>
                <a:ea typeface="Microsoft YaHei"/>
              </a:rPr>
              <a:t>过去：四约束下管住 AI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49240" y="4480560"/>
            <a:ext cx="1051560" cy="411480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4069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同一条能力线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4160520"/>
            <a:ext cx="4846320" cy="105156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03200" bIns="508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E5A7A"/>
                </a:solidFill>
                <a:latin typeface="Microsoft YaHei"/>
                <a:ea typeface="Microsoft YaHei"/>
              </a:rPr>
              <a:t>下篇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1A2A3A"/>
                </a:solidFill>
                <a:latin typeface="Microsoft YaHei"/>
                <a:ea typeface="Microsoft YaHei"/>
              </a:rPr>
              <a:t>今天：底座 × 缺项冲固定终点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3D4F5F"/>
                </a:solidFill>
                <a:latin typeface="Microsoft YaHei"/>
                <a:ea typeface="Microsoft YaHe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3252"/>
                </a:solidFill>
                <a:latin typeface="Microsoft YaHei"/>
                <a:ea typeface="Microsoft YaHei"/>
              </a:rPr>
              <a:t>挑战令主题之一：基于存量旧型号 AI Core 构造高性能 PQC 关键算子实现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75488"/>
            <a:ext cx="777240" cy="36576"/>
          </a:xfrm>
          <a:prstGeom prst="rect">
            <a:avLst/>
          </a:prstGeom>
          <a:solidFill>
            <a:srgbClr val="1E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566928"/>
            <a:ext cx="1234440" cy="329184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要做什么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566928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1A2A3A"/>
                </a:solidFill>
                <a:latin typeface="Microsoft YaHei"/>
                <a:ea typeface="Microsoft YaHei"/>
              </a:rPr>
              <a:t>在目标芯片的 </a:t>
            </a:r>
            <a:r>
              <a:rPr sz="1400" b="1">
                <a:solidFill>
                  <a:srgbClr val="1E5A7A"/>
                </a:solidFill>
                <a:latin typeface="Microsoft YaHei"/>
                <a:ea typeface="Microsoft YaHei"/>
              </a:rPr>
              <a:t>AI Core</a:t>
            </a:r>
            <a:r>
              <a:rPr sz="1400" b="0">
                <a:solidFill>
                  <a:srgbClr val="1A2A3A"/>
                </a:solidFill>
                <a:latin typeface="Microsoft YaHei"/>
                <a:ea typeface="Microsoft YaHei"/>
              </a:rPr>
              <a:t> 上，把后量子密码密钥生成里约定好的 </a:t>
            </a:r>
            <a:r>
              <a:rPr sz="1400" b="1">
                <a:solidFill>
                  <a:srgbClr val="1E5A7A"/>
                </a:solidFill>
                <a:latin typeface="Microsoft YaHei"/>
                <a:ea typeface="Microsoft YaHei"/>
              </a:rPr>
              <a:t>NTT 计算</a:t>
            </a:r>
            <a:r>
              <a:rPr sz="1400" b="0">
                <a:solidFill>
                  <a:srgbClr val="1A2A3A"/>
                </a:solidFill>
                <a:latin typeface="Microsoft YaHei"/>
                <a:ea typeface="Microsoft YaHei"/>
              </a:rPr>
              <a:t> 做出来。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硬验收：</a:t>
            </a: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实机真能跑</a:t>
            </a:r>
            <a:r>
              <a:rPr sz="1400" b="0">
                <a:solidFill>
                  <a:srgbClr val="1A2A3A"/>
                </a:solidFill>
                <a:latin typeface="Microsoft YaHei"/>
                <a:ea typeface="Microsoft YaHei"/>
              </a:rPr>
              <a:t>；输出与参考程序 </a:t>
            </a: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逐项对上</a:t>
            </a:r>
            <a:r>
              <a:rPr sz="1400" b="0">
                <a:solidFill>
                  <a:srgbClr val="1A2A3A"/>
                </a:solidFill>
                <a:latin typeface="Microsoft YaHei"/>
                <a:ea typeface="Microsoft YaHei"/>
              </a:rPr>
              <a:t>。技术路线不规定。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D4F5F"/>
                </a:solidFill>
                <a:latin typeface="Microsoft YaHei"/>
                <a:ea typeface="Microsoft YaHei"/>
              </a:rPr>
              <a:t>推进节奏：C 语言基准代码 → 方案设计 → 探路（定主线）→ AI Core 实现（基准→批量→融合算子）→ 测试+交付。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1234440" cy="329184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为什么难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1572768"/>
            <a:ext cx="10012680" cy="438912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核心挑战：</a:t>
            </a: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路线不确定 × 平台不成熟 × 语言不常见 × 设备不直调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94560"/>
            <a:ext cx="5486400" cy="164592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 bIns="5080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3252"/>
                </a:solidFill>
                <a:latin typeface="Microsoft YaHei"/>
                <a:ea typeface="Microsoft YaHei"/>
              </a:rPr>
              <a:t>① 路线不确定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造成的困难：研究类项目失败尝试特别多。新旧代码叠放，主线未钉死时探索成本极高、状态难对齐。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AI 跑偏：很难识别有价值的路线，容易把死路当捷径，在错误方向原地打转。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94560"/>
            <a:ext cx="5486400" cy="164592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 bIns="5080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3252"/>
                </a:solidFill>
                <a:latin typeface="Microsoft YaHei"/>
                <a:ea typeface="Microsoft YaHei"/>
              </a:rPr>
              <a:t>② 平台不成熟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造成的困难：硬件小众，外网几乎无现成解法，只能靠本机实验把路走通。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AI 跑偏：没有全面的数据库，用通识 / 公网经验硬套，推断常错却很自信。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069080"/>
            <a:ext cx="5486400" cy="164592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 bIns="5080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3252"/>
                </a:solidFill>
                <a:latin typeface="Microsoft YaHei"/>
                <a:ea typeface="Microsoft YaHei"/>
              </a:rPr>
              <a:t>③ 语言不常见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造成的困难：昇腾专用编程，API 是黑盒（还有 bug）。调试链路长；仿真结果经常与真机不同。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AI 跑偏：模型缺乏可靠的编译先验知识。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069080"/>
            <a:ext cx="5486400" cy="164592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 bIns="5080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3252"/>
                </a:solidFill>
                <a:latin typeface="Microsoft YaHei"/>
                <a:ea typeface="Microsoft YaHei"/>
              </a:rPr>
              <a:t>④ 设备不直调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造成的困难：AI 够不着实机，终测须人上机；日志须人工脱敏，AI 无法远程代终审。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AI 跑偏：把仿真通过当成项目结项；基于错误前提推理。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6309360"/>
            <a:ext cx="11521440" cy="3657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64224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总结：任务有固定验收，但其余高度不确定；仅靠 AI 无法解决实际开发问题。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38251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3D4F5F"/>
                </a:solidFill>
                <a:latin typeface="Microsoft YaHei"/>
                <a:ea typeface="Microsoft YaHe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3252"/>
                </a:solidFill>
                <a:latin typeface="Microsoft YaHei"/>
                <a:ea typeface="Microsoft YaHei"/>
              </a:rPr>
              <a:t>主题：当时怎么接住——人掌舵，Agent 在边界内做工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75488"/>
            <a:ext cx="777240" cy="36576"/>
          </a:xfrm>
          <a:prstGeom prst="rect">
            <a:avLst/>
          </a:prstGeom>
          <a:solidFill>
            <a:srgbClr val="1E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F"/>
                </a:solidFill>
                <a:latin typeface="Microsoft YaHei"/>
                <a:ea typeface="Microsoft YaHei"/>
              </a:rPr>
              <a:t>摘自《全流程工程记述》§7.7 人机协作：偏研究型工程中的 Agent 经验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1A2A3A"/>
                </a:solidFill>
                <a:latin typeface="Microsoft YaHei"/>
                <a:ea typeface="Microsoft YaHei"/>
              </a:rPr>
              <a:t>在四约束叠加条件下用 Agent，若缺仓库状态锚点与可执行验收，极易出现：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「对话里已结项、仓库里仍 pending」</a:t>
            </a:r>
            <a:r>
              <a:rPr sz="1400" b="0">
                <a:solidFill>
                  <a:srgbClr val="1A2A3A"/>
                </a:solidFill>
                <a:latin typeface="Microsoft YaHei"/>
                <a:ea typeface="Microsoft YaHei"/>
              </a:rPr>
              <a:t>；</a:t>
            </a: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「声称实机通过却无 cmp 记录」</a:t>
            </a:r>
            <a:r>
              <a:rPr sz="1400" b="0">
                <a:solidFill>
                  <a:srgbClr val="1A2A3A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定调：</a:t>
            </a: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人掌舵、Agent 在边界内做工制品</a:t>
            </a:r>
            <a:r>
              <a:rPr sz="1400" b="0">
                <a:solidFill>
                  <a:srgbClr val="1A2A3A"/>
                </a:solidFill>
                <a:latin typeface="Microsoft YaHei"/>
                <a:ea typeface="Microsoft YaHei"/>
              </a:rPr>
              <a:t>——不是「Agent 承包项目」。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FDF0E6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77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人写入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2A3A"/>
                </a:solidFill>
                <a:latin typeface="Microsoft YaHei"/>
                <a:ea typeface="Microsoft YaHei"/>
              </a:rPr>
              <a:t>目标·范围·验收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26080" y="1920240"/>
            <a:ext cx="411480" cy="320040"/>
          </a:xfrm>
          <a:prstGeom prst="rightArrow">
            <a:avLst/>
          </a:prstGeom>
          <a:solidFill>
            <a:srgbClr val="1E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691640"/>
            <a:ext cx="2651760" cy="86868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77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E5A7A"/>
                </a:solidFill>
                <a:latin typeface="Microsoft YaHei"/>
                <a:ea typeface="Microsoft YaHei"/>
              </a:rPr>
              <a:t>Agent 做工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2A3A"/>
                </a:solidFill>
                <a:latin typeface="Microsoft YaHei"/>
                <a:ea typeface="Microsoft YaHei"/>
              </a:rPr>
              <a:t>契约内改制品+回传输出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72200" y="1920240"/>
            <a:ext cx="411480" cy="320040"/>
          </a:xfrm>
          <a:prstGeom prst="rightArrow">
            <a:avLst/>
          </a:prstGeom>
          <a:solidFill>
            <a:srgbClr val="1E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0" y="169164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FDF0E6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77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人终审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2A3A"/>
                </a:solidFill>
                <a:latin typeface="Microsoft YaHei"/>
                <a:ea typeface="Microsoft YaHei"/>
              </a:rPr>
              <a:t>独占环境验证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35440" y="1920240"/>
            <a:ext cx="411480" cy="320040"/>
          </a:xfrm>
          <a:prstGeom prst="rightArrow">
            <a:avLst/>
          </a:prstGeom>
          <a:solidFill>
            <a:srgbClr val="1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38360" y="1691640"/>
            <a:ext cx="2011680" cy="868680"/>
          </a:xfrm>
          <a:prstGeom prst="roundRect">
            <a:avLst>
              <a:gd name="adj" fmla="val 6000"/>
            </a:avLst>
          </a:prstGeom>
          <a:solidFill>
            <a:srgbClr val="E6F3EF"/>
          </a:solidFill>
          <a:ln w="15875">
            <a:solidFill>
              <a:srgbClr val="1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77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F6B5E"/>
                </a:solidFill>
                <a:latin typeface="Microsoft YaHei"/>
                <a:ea typeface="Microsoft YaHei"/>
              </a:rPr>
              <a:t>写回账本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2A3A"/>
                </a:solidFill>
                <a:latin typeface="Microsoft YaHei"/>
                <a:ea typeface="Microsoft YaHei"/>
              </a:rPr>
              <a:t>单一事实源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88920"/>
            <a:ext cx="5623560" cy="2331720"/>
          </a:xfrm>
          <a:prstGeom prst="roundRect">
            <a:avLst>
              <a:gd name="adj" fmla="val 6000"/>
            </a:avLst>
          </a:prstGeom>
          <a:solidFill>
            <a:srgbClr val="FDF0E6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人 · 主要负责（表38）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意义与边界：问题、验收口径、已关闭路线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取舍：路线采纳 / 终止决策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独占环境：专有编译器、目标机、物理设备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认定完成：凭可复验证据裁定；范围变更签字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88920"/>
            <a:ext cx="5623560" cy="233172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E5A7A"/>
                </a:solidFill>
                <a:latin typeface="Microsoft YaHei"/>
                <a:ea typeface="Microsoft YaHei"/>
              </a:rPr>
              <a:t>Agent · 主要负责（表38）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制品操作：检索、改代码/脚本/文档草稿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可代劳执行：授权范围内构建/测试并回传完整输出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不宜：对外承诺范围/工期；无 log 断言实机已过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不宜：擅自扩大范围；复活已关闭路线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309360"/>
            <a:ext cx="11521440" cy="3657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364224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总结：交付凭证据不靠叙述；换路权与终审权在人；Agent 干可核对中间层。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38251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3D4F5F"/>
                </a:solidFill>
                <a:latin typeface="Microsoft YaHei"/>
                <a:ea typeface="Microsoft YaHe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3252"/>
                </a:solidFill>
                <a:latin typeface="Microsoft YaHei"/>
                <a:ea typeface="Microsoft YaHei"/>
              </a:rPr>
              <a:t>主题：可带走什么——协作习惯，不是某一版源码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75488"/>
            <a:ext cx="777240" cy="36576"/>
          </a:xfrm>
          <a:prstGeom prst="rect">
            <a:avLst/>
          </a:prstGeom>
          <a:solidFill>
            <a:srgbClr val="1E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F"/>
                </a:solidFill>
                <a:latin typeface="Microsoft YaHei"/>
                <a:ea typeface="Microsoft YaHei"/>
              </a:rPr>
              <a:t>摘自《全流程工程记述》§7.8 可带到其他项目的协作习惯；关键转折见第二章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68680"/>
            <a:ext cx="11430000" cy="640080"/>
          </a:xfrm>
          <a:prstGeom prst="roundRect">
            <a:avLst>
              <a:gd name="adj" fmla="val 6000"/>
            </a:avLst>
          </a:prstGeom>
          <a:solidFill>
            <a:srgbClr val="FDF0E6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关键转折：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CCE 直连闭环慢、可验证性弱 → 人拍板改走「计算图 → 模型转换 → 实机」为主线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验证链定型：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主机 C 参考 → 上板前核对 → 实机验收（过关 = 输出全等）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3703320" cy="146304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28600" bIns="5080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3252"/>
                </a:solidFill>
                <a:latin typeface="Microsoft YaHei"/>
                <a:ea typeface="Microsoft YaHei"/>
              </a:rPr>
              <a:t>仓库写清范围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账本：结项/主线/已关闭表；禁止只用聊天改范围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737360"/>
            <a:ext cx="3703320" cy="146304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28600" bIns="5080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3252"/>
                </a:solidFill>
                <a:latin typeface="Microsoft YaHei"/>
                <a:ea typeface="Microsoft YaHei"/>
              </a:rPr>
              <a:t>做完能核对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完成 = 可执行检查（cmp / 退出码 / 完整 log）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3703320" cy="146304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28600" bIns="5080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3252"/>
                </a:solidFill>
                <a:latin typeface="Microsoft YaHei"/>
                <a:ea typeface="Microsoft YaHei"/>
              </a:rPr>
              <a:t>验证分层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主机 ≠ 硅前 ≠ 实机；子图过 ≠ 整图过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429000"/>
            <a:ext cx="3703320" cy="146304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28600" bIns="5080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3252"/>
                </a:solidFill>
                <a:latin typeface="Microsoft YaHei"/>
                <a:ea typeface="Microsoft YaHei"/>
              </a:rPr>
              <a:t>试制进交付须人批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AI 不宣布结项；人跑通 pipeline 后签字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429000"/>
            <a:ext cx="3703320" cy="146304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28600" bIns="5080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3252"/>
                </a:solidFill>
                <a:latin typeface="Microsoft YaHei"/>
                <a:ea typeface="Microsoft YaHei"/>
              </a:rPr>
              <a:t>中断写清接续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已完成(证据)·当前判断·下一步一条·勿重做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429000"/>
            <a:ext cx="3703320" cy="146304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28600" bIns="5080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3252"/>
                </a:solidFill>
                <a:latin typeface="Microsoft YaHei"/>
                <a:ea typeface="Microsoft YaHei"/>
              </a:rPr>
              <a:t>任务单写死边界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目标·必读·允许改·禁止·DoD·回报未做项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6309360"/>
            <a:ext cx="11521440" cy="3657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64224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总结：习惯写进仓库才能换会话接续；这四条种子直接长成下篇「底座 / 缺项 / 交叉」。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38251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3D4F5F"/>
                </a:solidFill>
                <a:latin typeface="Microsoft YaHei"/>
                <a:ea typeface="Microsoft YaHe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3252"/>
                </a:solidFill>
                <a:latin typeface="Microsoft YaHei"/>
                <a:ea typeface="Microsoft YaHei"/>
              </a:rPr>
              <a:t>主题：今天难在哪、主张什么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75488"/>
            <a:ext cx="777240" cy="36576"/>
          </a:xfrm>
          <a:prstGeom prst="rect">
            <a:avLst/>
          </a:prstGeom>
          <a:solidFill>
            <a:srgbClr val="1E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12064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F"/>
                </a:solidFill>
                <a:latin typeface="Microsoft YaHei"/>
                <a:ea typeface="Microsoft YaHei"/>
              </a:rPr>
              <a:t>摘自教材草案 §3.1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0467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引子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77724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correctness 有了，任务就算完成了吗？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 仓库底层能力大致齐了，提示很轻：让 Agent 自行读标准、把封装/解封装「做出来」。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结果能对上，像是做完了；摊开却是：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只保结果对、几乎不为架构设计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；搜索不设界、反复碰壁；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短时间耗尽约一个月配额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；还沉淀不正确的「经验」。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伪完成：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结果碰巧对，过程发散、形态不可用、钱与时间被烧掉。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65960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问题实质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38528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开放生成被当成了合法派生。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 菜单里有、局部测通、文本上看起来像解，就被当成「整体已经合法、可以交付」。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工程语境里的「幻觉」，多半是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无效派生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：把未获证节点当可引用能力，把接缝跳过去。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要盯住的不是「会不会写出对拍代码」，而是：</a:t>
            </a: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如何阻止把无界生成当作完成预研的合法途径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200400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方法实质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154680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把无界生成收成：</a:t>
            </a:r>
            <a:r>
              <a:rPr sz="1400" b="1">
                <a:solidFill>
                  <a:srgbClr val="1E5A7A"/>
                </a:solidFill>
                <a:latin typeface="Microsoft YaHei"/>
                <a:ea typeface="Microsoft YaHei"/>
              </a:rPr>
              <a:t>已认证闭包上的受控搜索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。别当自由写手，当证书闭包上的搜索器。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① 已验证能力：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现在还能引用谁；  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② 禁止项：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明确不能再当模板的路；  </a:t>
            </a:r>
            <a:r>
              <a:rPr sz="1300" b="1">
                <a:solidFill>
                  <a:srgbClr val="1E5A7A"/>
                </a:solidFill>
                <a:latin typeface="Microsoft YaHei"/>
                <a:ea typeface="Microsoft YaHei"/>
              </a:rPr>
              <a:t>③ 合法拼装：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缺的先补齐并验过，再往上引用。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D4F5F"/>
                </a:solidFill>
                <a:latin typeface="Microsoft YaHei"/>
                <a:ea typeface="Microsoft YaHei"/>
              </a:rPr>
              <a:t>「有限」指：相对当前能力集/禁止项/拼装规则，下一步可枚举、可检查；集合可随新能力获证长大。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572000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 w="1397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本场主张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5262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只冲答案事先钉死、可核对的固定终点。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 开放发现可与别人互补，但不是本场主语。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额度有限、多模型水平不一 → </a:t>
            </a: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换谁上场都要能干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；搜索边界必须可检查。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6309360"/>
            <a:ext cx="11521440" cy="3657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364224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总结：主张：把开放生成收成沿已验证能力的可检查受控搜索。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38251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3D4F5F"/>
                </a:solidFill>
                <a:latin typeface="Microsoft YaHei"/>
                <a:ea typeface="Microsoft YaHe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3252"/>
                </a:solidFill>
                <a:latin typeface="Microsoft YaHei"/>
                <a:ea typeface="Microsoft YaHei"/>
              </a:rPr>
              <a:t>主题：绿灯底座从哪来，缺项怎么补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75488"/>
            <a:ext cx="777240" cy="36576"/>
          </a:xfrm>
          <a:prstGeom prst="rect">
            <a:avLst/>
          </a:prstGeom>
          <a:solidFill>
            <a:srgbClr val="1E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12064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F"/>
                </a:solidFill>
                <a:latin typeface="Microsoft YaHei"/>
                <a:ea typeface="Microsoft YaHei"/>
              </a:rPr>
              <a:t>摘自教材草案：架构直觉 + 写码许可（先交闭包表，再写码）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04672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底座从哪来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777240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人先把能用的沉下来：</a:t>
            </a:r>
            <a:r>
              <a:rPr sz="1300" b="1">
                <a:solidFill>
                  <a:srgbClr val="1E5A7A"/>
                </a:solidFill>
                <a:latin typeface="Microsoft YaHei"/>
                <a:ea typeface="Microsoft YaHei"/>
              </a:rPr>
              <a:t>编程笔记、跑通的原型、带着 Agent 走过的长轨迹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（如 KeyGen）。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写进索引、验过的才算绿灯底座 Γ；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聊天里「好像会了」不算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。活跃菜单是线索，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不等于合法拼装说明书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6596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缺项怎么定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38528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做成目标 T，理论上要齐哪些能力，减去已经绿灯的，剩下就是缺项。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只许在缺项里补；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补出来的还要再验。两块都绿，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接缝照样单独过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（组合不免费）。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死路 / frozen / 已关闭路线 → 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禁止项，不许当模板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15468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三件对象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27248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① 已验证能力：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现在还能引用谁。  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② 禁止项：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明确不能再走的路。  </a:t>
            </a:r>
            <a:r>
              <a:rPr sz="1300" b="1">
                <a:solidFill>
                  <a:srgbClr val="1E5A7A"/>
                </a:solidFill>
                <a:latin typeface="Microsoft YaHei"/>
                <a:ea typeface="Microsoft YaHei"/>
              </a:rPr>
              <a:t>③ 合法拼装 / 出口交叉：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怎样衔接才算一步合法推进。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门禁一句话：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先交闭包表（目标、已获证、缺项、接缝、禁止相交），再写码。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D4F5F"/>
                </a:solidFill>
                <a:latin typeface="Microsoft YaHei"/>
                <a:ea typeface="Microsoft YaHei"/>
              </a:rPr>
              <a:t>customspec / STATUS 描述「怎么实现」；闭包表回答「凭什么现在允许开始实现」。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57200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 w="1397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与上篇关系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526280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上篇习惯直接长成这里：</a:t>
            </a: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账本→底座+禁止项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；</a:t>
            </a: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做完定义→出口可核对/交叉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；</a:t>
            </a: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换会话能接→索引可交接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；</a:t>
            </a: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任务单→写码边界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不是另起炉灶，是同一条能力线往上长。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6309360"/>
            <a:ext cx="11521440" cy="3657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364224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总结：搜索收到缺项里；禁止项挡死路；先表后码。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38251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3D4F5F"/>
                </a:solidFill>
                <a:latin typeface="Microsoft YaHei"/>
                <a:ea typeface="Microsoft YaHe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3252"/>
                </a:solidFill>
                <a:latin typeface="Microsoft YaHei"/>
                <a:ea typeface="Microsoft YaHei"/>
              </a:rPr>
              <a:t>主题：效果——对照 correctness，对照手调精修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75488"/>
            <a:ext cx="777240" cy="36576"/>
          </a:xfrm>
          <a:prstGeom prst="rect">
            <a:avLst/>
          </a:prstGeom>
          <a:solidFill>
            <a:srgbClr val="1E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F"/>
                </a:solidFill>
                <a:latin typeface="Microsoft YaHei"/>
                <a:ea typeface="Microsoft YaHei"/>
              </a:rPr>
              <a:t>检验床：Ascend ML-KEM（Decaps 试金石 + 768 体感）。棒图为体感示意，不作严格倍数账单。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7724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3252"/>
                </a:solidFill>
                <a:latin typeface="Microsoft YaHei"/>
                <a:ea typeface="Microsoft YaHei"/>
              </a:rPr>
              <a:t>A  无方法论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E5A7A"/>
                </a:solidFill>
                <a:latin typeface="Microsoft YaHei"/>
                <a:ea typeface="Microsoft YaHei"/>
              </a:rPr>
              <a:t>correctness 开放探索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2A3A"/>
                </a:solidFill>
                <a:latin typeface="Microsoft YaHei"/>
                <a:ea typeface="Microsoft YaHei"/>
              </a:rPr>
              <a:t>只求结果对 · 搜索不设界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2A3A"/>
                </a:solidFill>
                <a:latin typeface="Microsoft YaHei"/>
                <a:ea typeface="Microsoft YaHei"/>
              </a:rPr>
              <a:t>正确性：能对上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2A3A"/>
                </a:solidFill>
                <a:latin typeface="Microsoft YaHei"/>
                <a:ea typeface="Microsoft YaHei"/>
              </a:rPr>
              <a:t>性能/形态：常不可用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过程成本：很高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判决：更费（反面教材）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777240"/>
            <a:ext cx="3840480" cy="2331720"/>
          </a:xfrm>
          <a:prstGeom prst="roundRect">
            <a:avLst>
              <a:gd name="adj" fmla="val 6000"/>
            </a:avLst>
          </a:prstGeom>
          <a:solidFill>
            <a:srgbClr val="E6F3EF"/>
          </a:solidFill>
          <a:ln w="254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45C26"/>
                </a:solidFill>
                <a:latin typeface="Microsoft YaHei"/>
                <a:ea typeface="Microsoft YaHei"/>
              </a:rPr>
              <a:t>B  方法论  ★主叙事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F6B5E"/>
                </a:solidFill>
                <a:latin typeface="Microsoft YaHei"/>
                <a:ea typeface="Microsoft YaHei"/>
              </a:rPr>
              <a:t>底座 + 缺项 + 出口交叉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2A3A"/>
                </a:solidFill>
                <a:latin typeface="Microsoft YaHei"/>
                <a:ea typeface="Microsoft YaHei"/>
              </a:rPr>
              <a:t>先交表再写码 · 禁抄死路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2A3A"/>
                </a:solidFill>
                <a:latin typeface="Microsoft YaHei"/>
                <a:ea typeface="Microsoft YaHei"/>
              </a:rPr>
              <a:t>正确性：与 C 同阶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2A3A"/>
                </a:solidFill>
                <a:latin typeface="Microsoft YaHei"/>
                <a:ea typeface="Microsoft YaHei"/>
              </a:rPr>
              <a:t>性能：与 C 同量级（未宣称更快）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F6B5E"/>
                </a:solidFill>
                <a:latin typeface="Microsoft YaHei"/>
                <a:ea typeface="Microsoft YaHei"/>
              </a:rPr>
              <a:t>过程成本：明显收小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F6B5E"/>
                </a:solidFill>
                <a:latin typeface="Microsoft YaHei"/>
                <a:ea typeface="Microsoft YaHei"/>
              </a:rPr>
              <a:t>判决：相对 A 强成功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77724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E8F0F6"/>
          </a:solidFill>
          <a:ln w="15875">
            <a:solidFill>
              <a:srgbClr val="14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3252"/>
                </a:solidFill>
                <a:latin typeface="Microsoft YaHei"/>
                <a:ea typeface="Microsoft YaHei"/>
              </a:rPr>
              <a:t>C  手调精修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人工长期优化交付树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2A3A"/>
                </a:solidFill>
                <a:latin typeface="Microsoft YaHei"/>
                <a:ea typeface="Microsoft YaHei"/>
              </a:rPr>
              <a:t>基线 · 工程主线默认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2A3A"/>
                </a:solidFill>
                <a:latin typeface="Microsoft YaHei"/>
                <a:ea typeface="Microsoft YaHei"/>
              </a:rPr>
              <a:t>正确性：交付级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2A3A"/>
                </a:solidFill>
                <a:latin typeface="Microsoft YaHei"/>
                <a:ea typeface="Microsoft YaHei"/>
              </a:rPr>
              <a:t>性能：人工精修定标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2A3A"/>
                </a:solidFill>
                <a:latin typeface="Microsoft YaHei"/>
                <a:ea typeface="Microsoft YaHei"/>
              </a:rPr>
              <a:t>过程：人带着走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对照结论：B ≈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004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F"/>
                </a:solidFill>
                <a:latin typeface="Microsoft YaHei"/>
                <a:ea typeface="Microsoft YaHei"/>
              </a:rPr>
              <a:t>读图：相对 A → B 赢在过程与结构；相对 C → B 正确性/tick 同量级，不宣称性能胜出。方法论代替不了人工优化主线。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2044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过程负担体感（示意）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404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F"/>
                </a:solidFill>
                <a:latin typeface="Microsoft YaHei"/>
                <a:ea typeface="Microsoft YaHei"/>
              </a:rPr>
              <a:t>A 开放 correctness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840480"/>
            <a:ext cx="5303520" cy="292608"/>
          </a:xfrm>
          <a:prstGeom prst="roundRect">
            <a:avLst>
              <a:gd name="adj" fmla="val 10000"/>
            </a:avLst>
          </a:prstGeom>
          <a:solidFill>
            <a:srgbClr val="1E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3840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5A7A"/>
                </a:solidFill>
                <a:latin typeface="Microsoft YaHei"/>
                <a:ea typeface="Microsoft YaHei"/>
              </a:rPr>
              <a:t>很高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51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F"/>
                </a:solidFill>
                <a:latin typeface="Microsoft YaHei"/>
                <a:ea typeface="Microsoft YaHei"/>
              </a:rPr>
              <a:t>B 有门禁方法论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251960"/>
            <a:ext cx="1463040" cy="292608"/>
          </a:xfrm>
          <a:prstGeom prst="roundRect">
            <a:avLst>
              <a:gd name="adj" fmla="val 10000"/>
            </a:avLst>
          </a:prstGeom>
          <a:solidFill>
            <a:srgbClr val="1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4251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B5E"/>
                </a:solidFill>
                <a:latin typeface="Microsoft YaHei"/>
                <a:ea typeface="Microsoft YaHei"/>
              </a:rPr>
              <a:t>收小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663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F"/>
                </a:solidFill>
                <a:latin typeface="Microsoft YaHei"/>
                <a:ea typeface="Microsoft YaHei"/>
              </a:rPr>
              <a:t>C 手调精修（参照）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4663440"/>
            <a:ext cx="1828800" cy="292608"/>
          </a:xfrm>
          <a:prstGeom prst="roundRect">
            <a:avLst>
              <a:gd name="adj" fmla="val 10000"/>
            </a:avLst>
          </a:prstGeom>
          <a:solidFill>
            <a:srgbClr val="143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3252"/>
                </a:solidFill>
                <a:latin typeface="Microsoft YaHei"/>
                <a:ea typeface="Microsoft YaHei"/>
              </a:rPr>
              <a:t>人带着走（基线）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52044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FDF0E6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768 体感（不作倍数宣称）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A3A"/>
                </a:solidFill>
                <a:latin typeface="Microsoft YaHei"/>
                <a:ea typeface="Microsoft YaHei"/>
              </a:rPr>
              <a:t>以前 correctness 开放搜：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约 1 天墙钟 · 月配额大头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A3A"/>
                </a:solidFill>
                <a:latin typeface="Microsoft YaHei"/>
                <a:ea typeface="Microsoft YaHei"/>
              </a:rPr>
              <a:t>有门禁一夜：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B5E"/>
                </a:solidFill>
                <a:latin typeface="Microsoft YaHei"/>
                <a:ea typeface="Microsoft YaHei"/>
              </a:rPr>
              <a:t>配额 +~14pt · 墙钟 &lt;4h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D4F5F"/>
                </a:solidFill>
                <a:latin typeface="Microsoft YaHei"/>
                <a:ea typeface="Microsoft YaHei"/>
              </a:rPr>
              <a:t>省的是无效派生，非魔法提速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309360"/>
            <a:ext cx="11521440" cy="3657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364224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总结：B≈手调精修；相对 correctness 更省。主叙事是 B。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38251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3D4F5F"/>
                </a:solidFill>
                <a:latin typeface="Microsoft YaHei"/>
                <a:ea typeface="Microsoft YaHe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3252"/>
                </a:solidFill>
                <a:latin typeface="Microsoft YaHei"/>
                <a:ea typeface="Microsoft YaHei"/>
              </a:rPr>
              <a:t>主题：跟别人的材料怎么接得上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75488"/>
            <a:ext cx="777240" cy="36576"/>
          </a:xfrm>
          <a:prstGeom prst="rect">
            <a:avLst/>
          </a:prstGeom>
          <a:solidFill>
            <a:srgbClr val="1E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4008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合稿怕什么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621792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最怕各说各话。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 别人若在某场景把某一招打磨得比现成方案更强——那正好是我们要的「更好积木」。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我们</a:t>
            </a:r>
            <a:r>
              <a:rPr sz="1300" b="1">
                <a:solidFill>
                  <a:srgbClr val="3D4F5F"/>
                </a:solidFill>
                <a:latin typeface="Microsoft YaHei"/>
                <a:ea typeface="Microsoft YaHei"/>
              </a:rPr>
              <a:t>不做开放式搜灵感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。把拿到手的积木登记进绿灯底座，再按缺项清单组装到事先钉死的目标。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 w="1397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交接一句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1907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C45C26"/>
                </a:solidFill>
                <a:latin typeface="Microsoft YaHei"/>
                <a:ea typeface="Microsoft YaHei"/>
              </a:rPr>
              <a:t>他们输出更优能力点，我们装进底座并走到终点。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底座变好，终点实现跟着变好——与「DAG / 积木迭代创新」互补，</a:t>
            </a: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不抢开放发现主语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9748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分工怎么挂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670048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E5A7A"/>
                </a:solidFill>
                <a:latin typeface="Microsoft YaHei"/>
                <a:ea typeface="Microsoft YaHei"/>
              </a:rPr>
              <a:t>对方：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在场景里反复打磨，输出比现成方案更强的能力点 / 积木。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我方：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注入 Γ（登记、获证）→ 按缺项组装到固定可核对终点 T。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前提：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上篇那套习惯（账本、做完定义、可交接、任务边界）——否则接不住别人的积木，只会重新发散。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20624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领导带走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16052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合稿不是两套故事硬贴，而是一条接口：</a:t>
            </a: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更优积木 → 绿灯底座 → 固定终点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我们负责把不确定性收到可检查边界里，并把别人的增量装进能交付的底座。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6309360"/>
            <a:ext cx="11521440" cy="3657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64224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总结：挂钩：更优积木 → 绿灯底座 → 固定终点。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38251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3D4F5F"/>
                </a:solidFill>
                <a:latin typeface="Microsoft YaHei"/>
                <a:ea typeface="Microsoft YaHe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3252"/>
                </a:solidFill>
                <a:latin typeface="Microsoft YaHei"/>
                <a:ea typeface="Microsoft YaHei"/>
              </a:rPr>
              <a:t>主题：过去项目怎么推——四阶段与验证链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75488"/>
            <a:ext cx="777240" cy="36576"/>
          </a:xfrm>
          <a:prstGeom prst="rect">
            <a:avLst/>
          </a:prstGeom>
          <a:solidFill>
            <a:srgbClr val="1E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12064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F"/>
                </a:solidFill>
                <a:latin typeface="Microsoft YaHei"/>
                <a:ea typeface="Microsoft YaHei"/>
              </a:rPr>
              <a:t>摘自《全流程工程记述》§1.2 / §1.3.1 / 第二章关键转折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04672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四阶段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77724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① 准备：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澄清交付边界与验收口径；主机侧建立与语义一致的参考实现及可对拍数据。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② 探路：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试跑「参考→实机」多条路径，比可验证性与迭代效率，选定交付主线。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③ 实施：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在主路径上完成开发、分层验证与实机对拍（基准→批量→合成）。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④ 收口：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与客户确认部署范围；整理可复现材料与索引快照。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7744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 w="1397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关键转折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31720"/>
            <a:ext cx="10058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CCE 直连试跑：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闭环慢、可验证性弱、难维持每日核对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 → 保留为对照，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不再作正式交付主线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人拍板改走：</a:t>
            </a:r>
            <a:r>
              <a:rPr sz="1300" b="1">
                <a:solidFill>
                  <a:srgbClr val="1E5A7A"/>
                </a:solidFill>
                <a:latin typeface="Microsoft YaHei"/>
                <a:ea typeface="Microsoft YaHei"/>
              </a:rPr>
              <a:t>计算图 → 模型转换 → 实机 AI Core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。硅前可一日多次迭代，问题可分层定位。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换路权在人，不在 Agent。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验证链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611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① 参考基准：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主机 C 与标准输入输出。  </a:t>
            </a: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② 上板前核对：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同输入跑待交付件，与参考比。  </a:t>
            </a: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③ 实机验收：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AI Core 输出须与参考/上板前一致。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过关口径：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输出全等 / max_abs_diff=0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——不是「代码读起来合理」，不是「对话里说通过了」。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D4F5F"/>
                </a:solidFill>
                <a:latin typeface="Microsoft YaHei"/>
                <a:ea typeface="Microsoft YaHei"/>
              </a:rPr>
              <a:t>须写清测到哪一层：硅前通过 ≠ 实机已验收；子图通过 ≠ 整图通过。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309360"/>
            <a:ext cx="11521440" cy="3657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64224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总结：四阶段推进；CCE 推不动由人换路；验收分层、凭证据。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38251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3D4F5F"/>
                </a:solidFill>
                <a:latin typeface="Microsoft YaHei"/>
                <a:ea typeface="Microsoft YaHe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3252"/>
                </a:solidFill>
                <a:latin typeface="Microsoft YaHei"/>
                <a:ea typeface="Microsoft YaHei"/>
              </a:rPr>
              <a:t>主题：今天带回去哪几句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75488"/>
            <a:ext cx="777240" cy="36576"/>
          </a:xfrm>
          <a:prstGeom prst="rect">
            <a:avLst/>
          </a:prstGeom>
          <a:solidFill>
            <a:srgbClr val="1E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914400" cy="310896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658368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C45C26"/>
                </a:solidFill>
                <a:latin typeface="Microsoft YaHei"/>
                <a:ea typeface="Microsoft YaHei"/>
              </a:rPr>
              <a:t>四约束下可以把 AI 管住</a:t>
            </a:r>
            <a:r>
              <a:rPr sz="1400" b="0">
                <a:solidFill>
                  <a:srgbClr val="1A2A3A"/>
                </a:solidFill>
                <a:latin typeface="Microsoft YaHei"/>
                <a:ea typeface="Microsoft YaHei"/>
              </a:rPr>
              <a:t>——人掌舵、证据落盘、做完能核对、换会话能接。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D4F5F"/>
                </a:solidFill>
                <a:latin typeface="Microsoft YaHei"/>
                <a:ea typeface="Microsoft YaHei"/>
              </a:rPr>
              <a:t>资产是规矩与习惯，不是某一版源码。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914400" cy="310896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7276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1A2A3A"/>
                </a:solidFill>
                <a:latin typeface="Microsoft YaHei"/>
                <a:ea typeface="Microsoft YaHei"/>
              </a:rPr>
              <a:t>同一条能力线升级为：</a:t>
            </a:r>
            <a:r>
              <a:rPr sz="1500" b="1">
                <a:solidFill>
                  <a:srgbClr val="C45C26"/>
                </a:solidFill>
                <a:latin typeface="Microsoft YaHei"/>
                <a:ea typeface="Microsoft YaHei"/>
              </a:rPr>
              <a:t>绿灯底座 × 缺项里补</a:t>
            </a:r>
            <a:r>
              <a:rPr sz="1400" b="0">
                <a:solidFill>
                  <a:srgbClr val="1A2A3A"/>
                </a:solidFill>
                <a:latin typeface="Microsoft YaHei"/>
                <a:ea typeface="Microsoft YaHei"/>
              </a:rPr>
              <a:t>，只冲固定可核对终点。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D4F5F"/>
                </a:solidFill>
                <a:latin typeface="Microsoft YaHei"/>
                <a:ea typeface="Microsoft YaHei"/>
              </a:rPr>
              <a:t>把开放生成收成可检查的受控搜索；先表后码。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06040"/>
            <a:ext cx="914400" cy="310896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 w="13970">
            <a:solidFill>
              <a:srgbClr val="1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3252"/>
                </a:solidFill>
                <a:latin typeface="Microsoft YaHei"/>
                <a:ea typeface="Microsoft YaHei"/>
              </a:rPr>
              <a:t>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57860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1A2A3A"/>
                </a:solidFill>
                <a:latin typeface="Microsoft YaHei"/>
                <a:ea typeface="Microsoft YaHei"/>
              </a:rPr>
              <a:t>合稿点：</a:t>
            </a:r>
            <a:r>
              <a:rPr sz="1500" b="1">
                <a:solidFill>
                  <a:srgbClr val="C45C26"/>
                </a:solidFill>
                <a:latin typeface="Microsoft YaHei"/>
                <a:ea typeface="Microsoft YaHei"/>
              </a:rPr>
              <a:t>对方更优积木 → 我方写入底座 → 组装到终点</a:t>
            </a:r>
            <a:r>
              <a:rPr sz="1400" b="0">
                <a:solidFill>
                  <a:srgbClr val="1A2A3A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D4F5F"/>
                </a:solidFill>
                <a:latin typeface="Microsoft YaHei"/>
                <a:ea typeface="Microsoft YaHei"/>
              </a:rPr>
              <a:t>底座变好，终点跟着变好；不抢开放发现主语。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65760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 w="1397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口径提醒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611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材料不写速度数字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；口头可保守说：方法成型后，更短时间、更少额度做更大规模。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检验床是 Ascend 上的 ML-KEM；</a:t>
            </a:r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方法论服务一般预研，不绑定某一算法仓库名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43252"/>
                </a:solidFill>
                <a:latin typeface="Microsoft YaHei"/>
                <a:ea typeface="Microsoft YaHei"/>
              </a:rPr>
              <a:t>效果口径：</a:t>
            </a:r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接近手调，相对更省</a:t>
            </a:r>
            <a:r>
              <a:rPr sz="1300" b="0">
                <a:solidFill>
                  <a:srgbClr val="1A2A3A"/>
                </a:solidFill>
                <a:latin typeface="Microsoft YaHei"/>
                <a:ea typeface="Microsoft YaHei"/>
              </a:rPr>
              <a:t>——不作未对账的倍数宣称。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6309360"/>
            <a:ext cx="11521440" cy="3657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64224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252"/>
                </a:solidFill>
                <a:latin typeface="Microsoft YaHei"/>
                <a:ea typeface="Microsoft YaHei"/>
              </a:rPr>
              <a:t>总结：一条能力线，两段故事：先管住 AI，再有界往前推。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38251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3D4F5F"/>
                </a:solidFill>
                <a:latin typeface="Microsoft YaHei"/>
                <a:ea typeface="Microsoft YaHe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